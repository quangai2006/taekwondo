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rts/chart1.xml" ContentType="application/vnd.openxmlformats-officedocument.drawingml.chart+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rts/chart2.xml" ContentType="application/vnd.openxmlformats-officedocument.drawingml.chart+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rts/chart3.xml" ContentType="application/vnd.openxmlformats-officedocument.drawingml.chart+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p:scale>
          <a:sx n="100" d="100"/>
          <a:sy n="100" d="100"/>
        </p:scale>
        <p:origin x="946" y="21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1E2533"/>
                </a:solidFill>
                <a:latin typeface="Calibri"/>
              </a:defRPr>
            </a:pPr>
            <a:r>
              <a:rPr lang="en-US" sz="1200" b="0" i="0" u="none" strike="noStrike">
                <a:solidFill>
                  <a:srgbClr val="1E2533"/>
                </a:solidFill>
                <a:latin typeface="Calibri"/>
              </a:rPr>
              <a:t>Độ chính xác nhận dạng (%)</a:t>
            </a:r>
          </a:p>
        </c:rich>
      </c:tx>
      <c:overlay val="0"/>
    </c:title>
    <c:autoTitleDeleted val="0"/>
    <c:plotArea>
      <c:layout/>
      <c:barChart>
        <c:barDir val="bar"/>
        <c:grouping val="clustered"/>
        <c:varyColors val="0"/>
        <c:ser>
          <c:idx val="0"/>
          <c:order val="0"/>
          <c:tx>
            <c:strRef>
              <c:f>Sheet1!$B$1</c:f>
              <c:strCache>
                <c:ptCount val="1"/>
                <c:pt idx="0">
                  <c:v>Độ chính xác</c:v>
                </c:pt>
              </c:strCache>
            </c:strRef>
          </c:tx>
          <c:spPr>
            <a:solidFill>
              <a:srgbClr val="15203B"/>
            </a:solidFill>
            <a:effectLst/>
          </c:spPr>
          <c:invertIfNegative val="0"/>
          <c:dLbls>
            <c:numFmt formatCode="0.0" sourceLinked="0"/>
            <c:spPr>
              <a:noFill/>
              <a:ln>
                <a:noFill/>
              </a:ln>
              <a:effectLst/>
            </c:spPr>
            <c:txPr>
              <a:bodyPr/>
              <a:lstStyle/>
              <a:p>
                <a:pPr>
                  <a:defRPr sz="1000" b="0" i="0" u="none" strike="noStrike">
                    <a:solidFill>
                      <a:srgbClr val="1E2533"/>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GCN</c:v>
                </c:pt>
                <c:pt idx="1">
                  <c:v>Transformer</c:v>
                </c:pt>
                <c:pt idx="2">
                  <c:v>LSTM (phase)</c:v>
                </c:pt>
                <c:pt idx="3">
                  <c:v>LSTM (uniform) ✓</c:v>
                </c:pt>
              </c:strCache>
            </c:strRef>
          </c:cat>
          <c:val>
            <c:numRef>
              <c:f>Sheet1!$B$2:$B$5</c:f>
              <c:numCache>
                <c:formatCode>General</c:formatCode>
                <c:ptCount val="4"/>
                <c:pt idx="0">
                  <c:v>51</c:v>
                </c:pt>
                <c:pt idx="1">
                  <c:v>67.3</c:v>
                </c:pt>
                <c:pt idx="2">
                  <c:v>71.2</c:v>
                </c:pt>
                <c:pt idx="3">
                  <c:v>75.3</c:v>
                </c:pt>
              </c:numCache>
            </c:numRef>
          </c:val>
          <c:extLst>
            <c:ext xmlns:c16="http://schemas.microsoft.com/office/drawing/2014/chart" uri="{C3380CC4-5D6E-409C-BE32-E72D297353CC}">
              <c16:uniqueId val="{00000000-38D7-4087-BC0F-0120E23E6F96}"/>
            </c:ext>
          </c:extLst>
        </c:ser>
        <c:dLbls>
          <c:showLegendKey val="0"/>
          <c:showVal val="1"/>
          <c:showCatName val="0"/>
          <c:showSerName val="0"/>
          <c:showPercent val="0"/>
          <c:showBubbleSize val="0"/>
        </c:dLbls>
        <c:gapWidth val="6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5B6475"/>
                </a:solidFill>
                <a:latin typeface="Arial"/>
              </a:defRPr>
            </a:pPr>
            <a:endParaRPr lang="en-US"/>
          </a:p>
        </c:txPr>
        <c:crossAx val="2094734552"/>
        <c:crosses val="autoZero"/>
        <c:auto val="1"/>
        <c:lblAlgn val="ctr"/>
        <c:lblOffset val="100"/>
        <c:noMultiLvlLbl val="1"/>
      </c:catAx>
      <c:valAx>
        <c:axId val="2094734552"/>
        <c:scaling>
          <c:orientation val="minMax"/>
          <c:max val="100"/>
          <c:min val="0"/>
        </c:scaling>
        <c:delete val="0"/>
        <c:axPos val="b"/>
        <c:majorGridlines>
          <c:spPr>
            <a:ln w="6350" cap="flat">
              <a:solidFill>
                <a:srgbClr val="E3E7EE"/>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900" b="0" i="0" u="none" strike="noStrike">
                <a:solidFill>
                  <a:srgbClr val="5B6475"/>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1E2533"/>
                </a:solidFill>
                <a:latin typeface="Calibri"/>
              </a:defRPr>
            </a:pPr>
            <a:r>
              <a:rPr lang="en-US" sz="1200" b="0" i="0" u="none" strike="noStrike">
                <a:solidFill>
                  <a:srgbClr val="1E2533"/>
                </a:solidFill>
                <a:latin typeface="Calibri"/>
              </a:rPr>
              <a:t>Clip 17 — đấm móc phải (theo frame)</a:t>
            </a:r>
          </a:p>
        </c:rich>
      </c:tx>
      <c:overlay val="0"/>
    </c:title>
    <c:autoTitleDeleted val="0"/>
    <c:plotArea>
      <c:layout/>
      <c:lineChart>
        <c:grouping val="standard"/>
        <c:varyColors val="0"/>
        <c:ser>
          <c:idx val="0"/>
          <c:order val="0"/>
          <c:tx>
            <c:strRef>
              <c:f>Sheet1!$B$1</c:f>
              <c:strCache>
                <c:ptCount val="1"/>
                <c:pt idx="0">
                  <c:v>Độ nâng khuỷu (°)</c:v>
                </c:pt>
              </c:strCache>
            </c:strRef>
          </c:tx>
          <c:spPr>
            <a:ln w="25400" cap="flat">
              <a:solidFill>
                <a:srgbClr val="C8102E"/>
              </a:solidFill>
              <a:prstDash val="solid"/>
              <a:round/>
            </a:ln>
            <a:effectLst/>
          </c:spPr>
          <c:marker>
            <c:symbol val="none"/>
          </c:marker>
          <c:cat>
            <c:strRef>
              <c:f>Sheet1!$A$2:$A$49</c:f>
              <c:strCache>
                <c:ptCount val="48"/>
                <c:pt idx="0">
                  <c:v>0</c:v>
                </c:pt>
                <c:pt idx="5">
                  <c:v>5</c:v>
                </c:pt>
                <c:pt idx="10">
                  <c:v>10</c:v>
                </c:pt>
                <c:pt idx="15">
                  <c:v>15</c:v>
                </c:pt>
                <c:pt idx="20">
                  <c:v>20</c:v>
                </c:pt>
                <c:pt idx="25">
                  <c:v>25</c:v>
                </c:pt>
                <c:pt idx="30">
                  <c:v>30</c:v>
                </c:pt>
                <c:pt idx="35">
                  <c:v>35</c:v>
                </c:pt>
                <c:pt idx="40">
                  <c:v>40</c:v>
                </c:pt>
                <c:pt idx="45">
                  <c:v>45</c:v>
                </c:pt>
              </c:strCache>
            </c:strRef>
          </c:cat>
          <c:val>
            <c:numRef>
              <c:f>Sheet1!$B$2:$B$49</c:f>
              <c:numCache>
                <c:formatCode>General</c:formatCode>
                <c:ptCount val="48"/>
                <c:pt idx="0">
                  <c:v>53.4</c:v>
                </c:pt>
                <c:pt idx="1">
                  <c:v>54.9</c:v>
                </c:pt>
                <c:pt idx="2">
                  <c:v>51</c:v>
                </c:pt>
                <c:pt idx="3">
                  <c:v>43.7</c:v>
                </c:pt>
                <c:pt idx="4">
                  <c:v>37.6</c:v>
                </c:pt>
                <c:pt idx="5">
                  <c:v>27.6</c:v>
                </c:pt>
                <c:pt idx="6">
                  <c:v>18.899999999999999</c:v>
                </c:pt>
                <c:pt idx="7">
                  <c:v>14.8</c:v>
                </c:pt>
                <c:pt idx="8">
                  <c:v>16.3</c:v>
                </c:pt>
                <c:pt idx="9">
                  <c:v>17.7</c:v>
                </c:pt>
                <c:pt idx="10">
                  <c:v>24.8</c:v>
                </c:pt>
                <c:pt idx="11">
                  <c:v>36.299999999999997</c:v>
                </c:pt>
                <c:pt idx="12">
                  <c:v>51.8</c:v>
                </c:pt>
                <c:pt idx="13">
                  <c:v>69</c:v>
                </c:pt>
                <c:pt idx="14">
                  <c:v>90.3</c:v>
                </c:pt>
                <c:pt idx="15">
                  <c:v>105.2</c:v>
                </c:pt>
                <c:pt idx="16">
                  <c:v>105.2</c:v>
                </c:pt>
                <c:pt idx="17">
                  <c:v>104.5</c:v>
                </c:pt>
                <c:pt idx="18">
                  <c:v>98.2</c:v>
                </c:pt>
                <c:pt idx="19">
                  <c:v>91.4</c:v>
                </c:pt>
                <c:pt idx="20">
                  <c:v>83.4</c:v>
                </c:pt>
                <c:pt idx="21">
                  <c:v>78.3</c:v>
                </c:pt>
                <c:pt idx="22">
                  <c:v>73.2</c:v>
                </c:pt>
                <c:pt idx="23">
                  <c:v>72.099999999999994</c:v>
                </c:pt>
                <c:pt idx="24">
                  <c:v>71.599999999999994</c:v>
                </c:pt>
                <c:pt idx="25">
                  <c:v>71.2</c:v>
                </c:pt>
                <c:pt idx="26">
                  <c:v>72.400000000000006</c:v>
                </c:pt>
                <c:pt idx="27">
                  <c:v>73.3</c:v>
                </c:pt>
                <c:pt idx="28">
                  <c:v>73.5</c:v>
                </c:pt>
                <c:pt idx="29">
                  <c:v>73.8</c:v>
                </c:pt>
                <c:pt idx="30">
                  <c:v>73.900000000000006</c:v>
                </c:pt>
                <c:pt idx="31">
                  <c:v>72.5</c:v>
                </c:pt>
                <c:pt idx="32">
                  <c:v>71.099999999999994</c:v>
                </c:pt>
                <c:pt idx="33">
                  <c:v>69.5</c:v>
                </c:pt>
                <c:pt idx="34">
                  <c:v>68.8</c:v>
                </c:pt>
                <c:pt idx="35">
                  <c:v>67.099999999999994</c:v>
                </c:pt>
                <c:pt idx="36">
                  <c:v>66.5</c:v>
                </c:pt>
                <c:pt idx="37">
                  <c:v>64.599999999999994</c:v>
                </c:pt>
                <c:pt idx="38">
                  <c:v>62.9</c:v>
                </c:pt>
                <c:pt idx="39">
                  <c:v>58.6</c:v>
                </c:pt>
                <c:pt idx="40">
                  <c:v>53.2</c:v>
                </c:pt>
                <c:pt idx="41">
                  <c:v>48.4</c:v>
                </c:pt>
                <c:pt idx="42">
                  <c:v>40.4</c:v>
                </c:pt>
                <c:pt idx="43">
                  <c:v>32.799999999999997</c:v>
                </c:pt>
                <c:pt idx="44">
                  <c:v>33.9</c:v>
                </c:pt>
                <c:pt idx="45">
                  <c:v>35.5</c:v>
                </c:pt>
                <c:pt idx="46">
                  <c:v>36.6</c:v>
                </c:pt>
                <c:pt idx="47">
                  <c:v>42.3</c:v>
                </c:pt>
              </c:numCache>
            </c:numRef>
          </c:val>
          <c:smooth val="0"/>
          <c:extLst>
            <c:ext xmlns:c16="http://schemas.microsoft.com/office/drawing/2014/chart" uri="{C3380CC4-5D6E-409C-BE32-E72D297353CC}">
              <c16:uniqueId val="{00000000-581E-4CF5-AB26-4C76811BA051}"/>
            </c:ext>
          </c:extLst>
        </c:ser>
        <c:ser>
          <c:idx val="1"/>
          <c:order val="1"/>
          <c:tx>
            <c:strRef>
              <c:f>Sheet1!$C$1</c:f>
              <c:strCache>
                <c:ptCount val="1"/>
                <c:pt idx="0">
                  <c:v>Tốc độ cổ tay × 10 (thân/s)</c:v>
                </c:pt>
              </c:strCache>
            </c:strRef>
          </c:tx>
          <c:spPr>
            <a:ln w="25400" cap="flat">
              <a:solidFill>
                <a:srgbClr val="1F4E9A"/>
              </a:solidFill>
              <a:prstDash val="solid"/>
              <a:round/>
            </a:ln>
            <a:effectLst/>
          </c:spPr>
          <c:marker>
            <c:symbol val="none"/>
          </c:marker>
          <c:cat>
            <c:strRef>
              <c:f>Sheet1!$A$2:$A$49</c:f>
              <c:strCache>
                <c:ptCount val="48"/>
                <c:pt idx="0">
                  <c:v>0</c:v>
                </c:pt>
                <c:pt idx="5">
                  <c:v>5</c:v>
                </c:pt>
                <c:pt idx="10">
                  <c:v>10</c:v>
                </c:pt>
                <c:pt idx="15">
                  <c:v>15</c:v>
                </c:pt>
                <c:pt idx="20">
                  <c:v>20</c:v>
                </c:pt>
                <c:pt idx="25">
                  <c:v>25</c:v>
                </c:pt>
                <c:pt idx="30">
                  <c:v>30</c:v>
                </c:pt>
                <c:pt idx="35">
                  <c:v>35</c:v>
                </c:pt>
                <c:pt idx="40">
                  <c:v>40</c:v>
                </c:pt>
                <c:pt idx="45">
                  <c:v>45</c:v>
                </c:pt>
              </c:strCache>
            </c:strRef>
          </c:cat>
          <c:val>
            <c:numRef>
              <c:f>Sheet1!$C$2:$C$49</c:f>
              <c:numCache>
                <c:formatCode>General</c:formatCode>
                <c:ptCount val="48"/>
                <c:pt idx="0">
                  <c:v>15.5</c:v>
                </c:pt>
                <c:pt idx="1">
                  <c:v>15.5</c:v>
                </c:pt>
                <c:pt idx="2">
                  <c:v>28.9</c:v>
                </c:pt>
                <c:pt idx="3">
                  <c:v>39.5</c:v>
                </c:pt>
                <c:pt idx="4">
                  <c:v>36.799999999999997</c:v>
                </c:pt>
                <c:pt idx="5">
                  <c:v>45.7</c:v>
                </c:pt>
                <c:pt idx="6">
                  <c:v>40.799999999999997</c:v>
                </c:pt>
                <c:pt idx="7">
                  <c:v>26.2</c:v>
                </c:pt>
                <c:pt idx="8">
                  <c:v>10.1</c:v>
                </c:pt>
                <c:pt idx="9">
                  <c:v>9.3000000000000007</c:v>
                </c:pt>
                <c:pt idx="10">
                  <c:v>56.1</c:v>
                </c:pt>
                <c:pt idx="11">
                  <c:v>63.3</c:v>
                </c:pt>
                <c:pt idx="12">
                  <c:v>63.8</c:v>
                </c:pt>
                <c:pt idx="13">
                  <c:v>57</c:v>
                </c:pt>
                <c:pt idx="14">
                  <c:v>57.4</c:v>
                </c:pt>
                <c:pt idx="15">
                  <c:v>39.200000000000003</c:v>
                </c:pt>
                <c:pt idx="16">
                  <c:v>10.3</c:v>
                </c:pt>
                <c:pt idx="17">
                  <c:v>13.8</c:v>
                </c:pt>
                <c:pt idx="18">
                  <c:v>16.3</c:v>
                </c:pt>
                <c:pt idx="19">
                  <c:v>16.100000000000001</c:v>
                </c:pt>
                <c:pt idx="20">
                  <c:v>15.8</c:v>
                </c:pt>
                <c:pt idx="21">
                  <c:v>9.1</c:v>
                </c:pt>
                <c:pt idx="22">
                  <c:v>10.5</c:v>
                </c:pt>
                <c:pt idx="23">
                  <c:v>8</c:v>
                </c:pt>
                <c:pt idx="24">
                  <c:v>2.5</c:v>
                </c:pt>
                <c:pt idx="25">
                  <c:v>3.1</c:v>
                </c:pt>
                <c:pt idx="26">
                  <c:v>6.1</c:v>
                </c:pt>
                <c:pt idx="27">
                  <c:v>8.5</c:v>
                </c:pt>
                <c:pt idx="28">
                  <c:v>7.5</c:v>
                </c:pt>
                <c:pt idx="29">
                  <c:v>4.5</c:v>
                </c:pt>
                <c:pt idx="30">
                  <c:v>5</c:v>
                </c:pt>
                <c:pt idx="31">
                  <c:v>7.1</c:v>
                </c:pt>
                <c:pt idx="32">
                  <c:v>7.7</c:v>
                </c:pt>
                <c:pt idx="33">
                  <c:v>7.8</c:v>
                </c:pt>
                <c:pt idx="34">
                  <c:v>15.3</c:v>
                </c:pt>
                <c:pt idx="35">
                  <c:v>12.6</c:v>
                </c:pt>
                <c:pt idx="36">
                  <c:v>9.6</c:v>
                </c:pt>
                <c:pt idx="37">
                  <c:v>10.3</c:v>
                </c:pt>
                <c:pt idx="38">
                  <c:v>10.199999999999999</c:v>
                </c:pt>
                <c:pt idx="39">
                  <c:v>16.100000000000001</c:v>
                </c:pt>
                <c:pt idx="40">
                  <c:v>29.7</c:v>
                </c:pt>
                <c:pt idx="41">
                  <c:v>26.1</c:v>
                </c:pt>
                <c:pt idx="42">
                  <c:v>50.6</c:v>
                </c:pt>
                <c:pt idx="43">
                  <c:v>53.1</c:v>
                </c:pt>
                <c:pt idx="44">
                  <c:v>5.2</c:v>
                </c:pt>
                <c:pt idx="45">
                  <c:v>20.2</c:v>
                </c:pt>
                <c:pt idx="46">
                  <c:v>18.5</c:v>
                </c:pt>
                <c:pt idx="47">
                  <c:v>42.8</c:v>
                </c:pt>
              </c:numCache>
            </c:numRef>
          </c:val>
          <c:smooth val="0"/>
          <c:extLst>
            <c:ext xmlns:c16="http://schemas.microsoft.com/office/drawing/2014/chart" uri="{C3380CC4-5D6E-409C-BE32-E72D297353CC}">
              <c16:uniqueId val="{00000001-581E-4CF5-AB26-4C76811BA051}"/>
            </c:ext>
          </c:extLst>
        </c:ser>
        <c:dLbls>
          <c:showLegendKey val="0"/>
          <c:showVal val="0"/>
          <c:showCatName val="0"/>
          <c:showSerName val="0"/>
          <c:showPercent val="0"/>
          <c:showBubbleSize val="0"/>
        </c:dLbls>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5B6475"/>
                </a:solidFill>
                <a:latin typeface="Arial"/>
              </a:defRPr>
            </a:pPr>
            <a:endParaRPr lang="en-US"/>
          </a:p>
        </c:txPr>
        <c:crossAx val="2094734552"/>
        <c:crosses val="autoZero"/>
        <c:auto val="1"/>
        <c:lblAlgn val="ctr"/>
        <c:lblOffset val="100"/>
        <c:noMultiLvlLbl val="1"/>
      </c:catAx>
      <c:valAx>
        <c:axId val="2094734552"/>
        <c:scaling>
          <c:orientation val="minMax"/>
          <c:max val="120"/>
          <c:min val="0"/>
        </c:scaling>
        <c:delete val="0"/>
        <c:axPos val="l"/>
        <c:majorGridlines>
          <c:spPr>
            <a:ln w="6350" cap="flat">
              <a:solidFill>
                <a:srgbClr val="E3E7E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5B6475"/>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00">
              <a:solidFill>
                <a:srgbClr val="1E2533"/>
              </a:solidFill>
            </a:defRPr>
          </a:pPr>
          <a:endParaRPr lang="en-US"/>
        </a:p>
      </c:txPr>
    </c:legend>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1E2533"/>
                </a:solidFill>
                <a:latin typeface="Calibri"/>
              </a:defRPr>
            </a:pPr>
            <a:r>
              <a:rPr lang="en-US" sz="1200" b="0" i="0" u="none" strike="noStrike">
                <a:solidFill>
                  <a:srgbClr val="1E2533"/>
                </a:solidFill>
                <a:latin typeface="Calibri"/>
              </a:rPr>
              <a:t>Điểm đấm móc của 24 clip (võ sinh đai đen)</a:t>
            </a:r>
          </a:p>
        </c:rich>
      </c:tx>
      <c:overlay val="0"/>
    </c:title>
    <c:autoTitleDeleted val="0"/>
    <c:plotArea>
      <c:layout/>
      <c:barChart>
        <c:barDir val="col"/>
        <c:grouping val="clustered"/>
        <c:varyColors val="0"/>
        <c:ser>
          <c:idx val="0"/>
          <c:order val="0"/>
          <c:tx>
            <c:strRef>
              <c:f>Sheet1!$B$1</c:f>
              <c:strCache>
                <c:ptCount val="1"/>
                <c:pt idx="0">
                  <c:v>Số clip</c:v>
                </c:pt>
              </c:strCache>
            </c:strRef>
          </c:tx>
          <c:spPr>
            <a:solidFill>
              <a:srgbClr val="C8102E"/>
            </a:solidFill>
            <a:effectLst/>
          </c:spPr>
          <c:invertIfNegative val="0"/>
          <c:dLbls>
            <c:numFmt formatCode="#,##0" sourceLinked="0"/>
            <c:spPr>
              <a:noFill/>
              <a:ln>
                <a:noFill/>
              </a:ln>
              <a:effectLst/>
            </c:spPr>
            <c:txPr>
              <a:bodyPr/>
              <a:lstStyle/>
              <a:p>
                <a:pPr>
                  <a:defRPr sz="1100" b="0" i="0" u="none" strike="noStrike">
                    <a:solidFill>
                      <a:srgbClr val="1E2533"/>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5–6</c:v>
                </c:pt>
                <c:pt idx="1">
                  <c:v>6–7</c:v>
                </c:pt>
                <c:pt idx="2">
                  <c:v>7–8</c:v>
                </c:pt>
                <c:pt idx="3">
                  <c:v>8–9</c:v>
                </c:pt>
                <c:pt idx="4">
                  <c:v>9–10</c:v>
                </c:pt>
              </c:strCache>
            </c:strRef>
          </c:cat>
          <c:val>
            <c:numRef>
              <c:f>Sheet1!$B$2:$B$6</c:f>
              <c:numCache>
                <c:formatCode>General</c:formatCode>
                <c:ptCount val="5"/>
                <c:pt idx="0">
                  <c:v>1</c:v>
                </c:pt>
                <c:pt idx="1">
                  <c:v>1</c:v>
                </c:pt>
                <c:pt idx="2">
                  <c:v>2</c:v>
                </c:pt>
                <c:pt idx="3">
                  <c:v>14</c:v>
                </c:pt>
                <c:pt idx="4">
                  <c:v>6</c:v>
                </c:pt>
              </c:numCache>
            </c:numRef>
          </c:val>
          <c:extLst>
            <c:ext xmlns:c16="http://schemas.microsoft.com/office/drawing/2014/chart" uri="{C3380CC4-5D6E-409C-BE32-E72D297353CC}">
              <c16:uniqueId val="{00000000-EA57-44FD-9A38-ADC9A5F3ACBF}"/>
            </c:ext>
          </c:extLst>
        </c:ser>
        <c:dLbls>
          <c:showLegendKey val="0"/>
          <c:showVal val="1"/>
          <c:showCatName val="0"/>
          <c:showSerName val="0"/>
          <c:showPercent val="0"/>
          <c:showBubbleSize val="0"/>
        </c:dLbls>
        <c:gapWidth val="50"/>
        <c:axId val="2094734554"/>
        <c:axId val="2094734552"/>
      </c:barChart>
      <c:catAx>
        <c:axId val="2094734554"/>
        <c:scaling>
          <c:orientation val="minMax"/>
        </c:scaling>
        <c:delete val="0"/>
        <c:axPos val="b"/>
        <c:title>
          <c:tx>
            <c:rich>
              <a:bodyPr/>
              <a:lstStyle/>
              <a:p>
                <a:pPr>
                  <a:defRPr sz="1000" b="0" i="0" u="none" strike="noStrike">
                    <a:solidFill>
                      <a:srgbClr val="5B6475"/>
                    </a:solidFill>
                    <a:latin typeface="Arial"/>
                  </a:defRPr>
                </a:pPr>
                <a:r>
                  <a:rPr lang="en-US" sz="1000" b="0" i="0" u="none" strike="noStrike">
                    <a:solidFill>
                      <a:srgbClr val="5B6475"/>
                    </a:solidFill>
                    <a:latin typeface="Arial"/>
                  </a:rPr>
                  <a:t>Khoảng điểm (/10)</a:t>
                </a:r>
              </a:p>
            </c:rich>
          </c:tx>
          <c:overlay val="0"/>
        </c:title>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B6475"/>
                </a:solidFill>
                <a:latin typeface="Arial"/>
              </a:defRPr>
            </a:pPr>
            <a:endParaRPr lang="en-US"/>
          </a:p>
        </c:txPr>
        <c:crossAx val="2094734552"/>
        <c:crosses val="autoZero"/>
        <c:auto val="1"/>
        <c:lblAlgn val="ctr"/>
        <c:lblOffset val="100"/>
        <c:noMultiLvlLbl val="1"/>
      </c:catAx>
      <c:valAx>
        <c:axId val="2094734552"/>
        <c:scaling>
          <c:orientation val="minMax"/>
          <c:max val="16"/>
        </c:scaling>
        <c:delete val="0"/>
        <c:axPos val="l"/>
        <c:majorGridlines>
          <c:spPr>
            <a:ln w="6350" cap="flat">
              <a:solidFill>
                <a:srgbClr val="E3E7E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5B6475"/>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43036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Báo cáo tổng hợp công nghệ, thuật toán và dạng input/output của hệ thống chấm điểm động tác Taekwondo từ video.</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Bước 4 (nhận dạng bằng LSTM) chỉ dùng cho đòn đá để chọn đúng bộ luật. Với đấm, người dùng chỉ định loại đấm bằng --punch.</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9.png"/><Relationship Id="rId7"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10.png"/><Relationship Id="rId10" Type="http://schemas.openxmlformats.org/officeDocument/2006/relationships/image" Target="../media/image14.png"/><Relationship Id="rId4" Type="http://schemas.openxmlformats.org/officeDocument/2006/relationships/image" Target="../media/image4.png"/><Relationship Id="rId9" Type="http://schemas.openxmlformats.org/officeDocument/2006/relationships/image" Target="../media/image13.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2.png"/></Relationships>
</file>

<file path=ppt/slides/_rels/slide1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5203B"/>
        </a:solidFill>
        <a:effectLst/>
      </p:bgPr>
    </p:bg>
    <p:spTree>
      <p:nvGrpSpPr>
        <p:cNvPr id="1" name=""/>
        <p:cNvGrpSpPr/>
        <p:nvPr/>
      </p:nvGrpSpPr>
      <p:grpSpPr>
        <a:xfrm>
          <a:off x="0" y="0"/>
          <a:ext cx="0" cy="0"/>
          <a:chOff x="0" y="0"/>
          <a:chExt cx="0" cy="0"/>
        </a:xfrm>
      </p:grpSpPr>
      <p:sp>
        <p:nvSpPr>
          <p:cNvPr id="2" name="Text 0"/>
          <p:cNvSpPr txBox="1"/>
          <p:nvPr/>
        </p:nvSpPr>
        <p:spPr>
          <a:xfrm>
            <a:off x="548640" y="960120"/>
            <a:ext cx="5120640" cy="274320"/>
          </a:xfrm>
          <a:prstGeom prst="rect">
            <a:avLst/>
          </a:prstGeom>
          <a:noFill/>
          <a:ln/>
        </p:spPr>
        <p:txBody>
          <a:bodyPr wrap="square" lIns="0" tIns="0" rIns="0" bIns="0" rtlCol="0" anchor="t"/>
          <a:lstStyle/>
          <a:p>
            <a:pPr marL="0" indent="0">
              <a:buNone/>
            </a:pPr>
            <a:r>
              <a:rPr lang="en-US" sz="1200" b="1" kern="0" spc="300" dirty="0">
                <a:solidFill>
                  <a:srgbClr val="AFC3E6"/>
                </a:solidFill>
                <a:latin typeface="Calibri" pitchFamily="34" charset="0"/>
                <a:ea typeface="Calibri" pitchFamily="34" charset="-122"/>
                <a:cs typeface="Calibri" pitchFamily="34" charset="-120"/>
              </a:rPr>
              <a:t>BÁO CÁO KỸ THUẬT</a:t>
            </a:r>
            <a:endParaRPr lang="en-US" sz="1200" dirty="0"/>
          </a:p>
        </p:txBody>
      </p:sp>
      <p:sp>
        <p:nvSpPr>
          <p:cNvPr id="3" name="Text 1"/>
          <p:cNvSpPr txBox="1"/>
          <p:nvPr/>
        </p:nvSpPr>
        <p:spPr>
          <a:xfrm>
            <a:off x="548640" y="1325880"/>
            <a:ext cx="5212080" cy="1554480"/>
          </a:xfrm>
          <a:prstGeom prst="rect">
            <a:avLst/>
          </a:prstGeom>
          <a:noFill/>
          <a:ln/>
        </p:spPr>
        <p:txBody>
          <a:bodyPr wrap="square" lIns="0" tIns="0" rIns="0" bIns="0" rtlCol="0" anchor="ctr"/>
          <a:lstStyle/>
          <a:p>
            <a:pPr marL="0" indent="0">
              <a:buNone/>
            </a:pPr>
            <a:r>
              <a:rPr lang="en-US" sz="3600" b="1" dirty="0">
                <a:solidFill>
                  <a:srgbClr val="FFFFFF"/>
                </a:solidFill>
                <a:latin typeface="Cambria" pitchFamily="34" charset="0"/>
                <a:ea typeface="Cambria" pitchFamily="34" charset="-122"/>
                <a:cs typeface="Cambria" pitchFamily="34" charset="-120"/>
              </a:rPr>
              <a:t>Hệ thống chấm điểm kỹ thuật Taekwondo từ video</a:t>
            </a:r>
            <a:endParaRPr lang="en-US" sz="3600" dirty="0"/>
          </a:p>
        </p:txBody>
      </p:sp>
      <p:sp>
        <p:nvSpPr>
          <p:cNvPr id="4" name="Text 2"/>
          <p:cNvSpPr txBox="1"/>
          <p:nvPr/>
        </p:nvSpPr>
        <p:spPr>
          <a:xfrm>
            <a:off x="548640" y="3017520"/>
            <a:ext cx="5212080" cy="411480"/>
          </a:xfrm>
          <a:prstGeom prst="rect">
            <a:avLst/>
          </a:prstGeom>
          <a:noFill/>
          <a:ln/>
        </p:spPr>
        <p:txBody>
          <a:bodyPr wrap="square" lIns="0" tIns="0" rIns="0" bIns="0" rtlCol="0" anchor="t"/>
          <a:lstStyle/>
          <a:p>
            <a:pPr marL="0" indent="0">
              <a:buNone/>
            </a:pPr>
            <a:r>
              <a:rPr lang="en-US" sz="1800" dirty="0">
                <a:solidFill>
                  <a:srgbClr val="AFC3E6"/>
                </a:solidFill>
                <a:latin typeface="Calibri" pitchFamily="34" charset="0"/>
                <a:ea typeface="Calibri" pitchFamily="34" charset="-122"/>
                <a:cs typeface="Calibri" pitchFamily="34" charset="-120"/>
              </a:rPr>
              <a:t>Công nghệ · Thuật toán · Input &amp; Output</a:t>
            </a:r>
            <a:endParaRPr lang="en-US" sz="1800" dirty="0"/>
          </a:p>
        </p:txBody>
      </p:sp>
      <p:sp>
        <p:nvSpPr>
          <p:cNvPr id="5" name="Text 3"/>
          <p:cNvSpPr txBox="1"/>
          <p:nvPr/>
        </p:nvSpPr>
        <p:spPr>
          <a:xfrm>
            <a:off x="548640" y="4160520"/>
            <a:ext cx="5394960" cy="457200"/>
          </a:xfrm>
          <a:prstGeom prst="rect">
            <a:avLst/>
          </a:prstGeom>
          <a:noFill/>
          <a:ln/>
        </p:spPr>
        <p:txBody>
          <a:bodyPr wrap="square" lIns="0" tIns="0" rIns="0" bIns="0" rtlCol="0" anchor="t"/>
          <a:lstStyle/>
          <a:p>
            <a:pPr marL="0" indent="0">
              <a:buNone/>
            </a:pPr>
            <a:endParaRPr lang="en-US" sz="1100" dirty="0"/>
          </a:p>
        </p:txBody>
      </p:sp>
      <p:sp>
        <p:nvSpPr>
          <p:cNvPr id="6" name="Shape 4"/>
          <p:cNvSpPr/>
          <p:nvPr/>
        </p:nvSpPr>
        <p:spPr>
          <a:xfrm>
            <a:off x="6172200" y="1143000"/>
            <a:ext cx="2468880" cy="2468880"/>
          </a:xfrm>
          <a:prstGeom prst="ellipse">
            <a:avLst/>
          </a:prstGeom>
          <a:solidFill>
            <a:srgbClr val="C8102E"/>
          </a:solidFill>
          <a:ln w="12700">
            <a:solidFill>
              <a:srgbClr val="C8102E"/>
            </a:solidFill>
            <a:prstDash val="solid"/>
          </a:ln>
        </p:spPr>
        <p:txBody>
          <a:bodyPr/>
          <a:lstStyle/>
          <a:p>
            <a:endParaRPr lang="en-US"/>
          </a:p>
        </p:txBody>
      </p:sp>
      <p:pic>
        <p:nvPicPr>
          <p:cNvPr id="7" name="Image 0" descr="preencoded.png"/>
          <p:cNvPicPr>
            <a:picLocks noChangeAspect="1"/>
          </p:cNvPicPr>
          <p:nvPr/>
        </p:nvPicPr>
        <p:blipFill>
          <a:blip r:embed="rId3"/>
          <a:stretch>
            <a:fillRect/>
          </a:stretch>
        </p:blipFill>
        <p:spPr>
          <a:xfrm>
            <a:off x="6715354" y="1686154"/>
            <a:ext cx="1382573" cy="1382573"/>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56032"/>
            <a:ext cx="8229600" cy="237744"/>
          </a:xfrm>
          <a:prstGeom prst="rect">
            <a:avLst/>
          </a:prstGeom>
          <a:noFill/>
          <a:ln/>
        </p:spPr>
        <p:txBody>
          <a:bodyPr wrap="square" lIns="0" tIns="0" rIns="0" bIns="0" rtlCol="0" anchor="t"/>
          <a:lstStyle/>
          <a:p>
            <a:pPr marL="0" indent="0">
              <a:buNone/>
            </a:pPr>
            <a:r>
              <a:rPr lang="en-US" sz="1100" b="1" kern="0" spc="200" dirty="0">
                <a:solidFill>
                  <a:srgbClr val="C8102E"/>
                </a:solidFill>
                <a:latin typeface="Calibri" pitchFamily="34" charset="0"/>
                <a:ea typeface="Calibri" pitchFamily="34" charset="-122"/>
                <a:cs typeface="Calibri" pitchFamily="34" charset="-120"/>
              </a:rPr>
              <a:t>TỔNG QUAN</a:t>
            </a:r>
            <a:endParaRPr lang="en-US" sz="1100" dirty="0"/>
          </a:p>
        </p:txBody>
      </p:sp>
      <p:sp>
        <p:nvSpPr>
          <p:cNvPr id="3" name="Text 1"/>
          <p:cNvSpPr txBox="1"/>
          <p:nvPr/>
        </p:nvSpPr>
        <p:spPr>
          <a:xfrm>
            <a:off x="457200" y="502920"/>
            <a:ext cx="8229600" cy="548640"/>
          </a:xfrm>
          <a:prstGeom prst="rect">
            <a:avLst/>
          </a:prstGeom>
          <a:noFill/>
          <a:ln/>
        </p:spPr>
        <p:txBody>
          <a:bodyPr wrap="square" lIns="0" tIns="0" rIns="0" bIns="0" rtlCol="0" anchor="ctr"/>
          <a:lstStyle/>
          <a:p>
            <a:pPr marL="0" indent="0">
              <a:buNone/>
            </a:pPr>
            <a:r>
              <a:rPr lang="en-US" sz="2800" b="1" dirty="0">
                <a:solidFill>
                  <a:srgbClr val="15203B"/>
                </a:solidFill>
                <a:latin typeface="Cambria" pitchFamily="34" charset="0"/>
                <a:ea typeface="Cambria" pitchFamily="34" charset="-122"/>
                <a:cs typeface="Cambria" pitchFamily="34" charset="-120"/>
              </a:rPr>
              <a:t>Hệ thống làm gì?</a:t>
            </a:r>
            <a:endParaRPr lang="en-US" sz="2800" dirty="0"/>
          </a:p>
        </p:txBody>
      </p:sp>
      <p:sp>
        <p:nvSpPr>
          <p:cNvPr id="4" name="Text 2"/>
          <p:cNvSpPr txBox="1"/>
          <p:nvPr/>
        </p:nvSpPr>
        <p:spPr>
          <a:xfrm>
            <a:off x="8229600" y="4800600"/>
            <a:ext cx="457200" cy="201168"/>
          </a:xfrm>
          <a:prstGeom prst="rect">
            <a:avLst/>
          </a:prstGeom>
          <a:noFill/>
          <a:ln/>
        </p:spPr>
        <p:txBody>
          <a:bodyPr wrap="square" lIns="0" tIns="0" rIns="0" bIns="0" rtlCol="0" anchor="t"/>
          <a:lstStyle/>
          <a:p>
            <a:pPr marL="0" indent="0" algn="r">
              <a:buNone/>
            </a:pPr>
            <a:r>
              <a:rPr lang="en-US" sz="900" dirty="0">
                <a:solidFill>
                  <a:srgbClr val="5B6475"/>
                </a:solidFill>
                <a:latin typeface="Calibri" pitchFamily="34" charset="0"/>
                <a:ea typeface="Calibri" pitchFamily="34" charset="-122"/>
                <a:cs typeface="Calibri" pitchFamily="34" charset="-120"/>
              </a:rPr>
              <a:t>2</a:t>
            </a:r>
            <a:endParaRPr lang="en-US" sz="900" dirty="0"/>
          </a:p>
        </p:txBody>
      </p:sp>
      <p:sp>
        <p:nvSpPr>
          <p:cNvPr id="5" name="Text 3"/>
          <p:cNvSpPr txBox="1"/>
          <p:nvPr/>
        </p:nvSpPr>
        <p:spPr>
          <a:xfrm>
            <a:off x="457200" y="1188720"/>
            <a:ext cx="8229600" cy="731520"/>
          </a:xfrm>
          <a:prstGeom prst="rect">
            <a:avLst/>
          </a:prstGeom>
          <a:noFill/>
          <a:ln/>
        </p:spPr>
        <p:txBody>
          <a:bodyPr wrap="square" lIns="0" tIns="0" rIns="0" bIns="0" rtlCol="0" anchor="t"/>
          <a:lstStyle/>
          <a:p>
            <a:pPr marL="0" indent="0">
              <a:buNone/>
            </a:pPr>
            <a:r>
              <a:rPr lang="en-US" sz="1500" dirty="0">
                <a:solidFill>
                  <a:srgbClr val="1E2533"/>
                </a:solidFill>
                <a:latin typeface="Calibri" pitchFamily="34" charset="0"/>
                <a:ea typeface="Calibri" pitchFamily="34" charset="-122"/>
                <a:cs typeface="Calibri" pitchFamily="34" charset="-120"/>
              </a:rPr>
              <a:t>Người dùng đưa vào một video quay động tác. Hệ thống trích khung xương từng khung hình, nhận dạng loại đòn đá, tìm các pha của động tác rồi chấm điểm theo luật có giải thích: điểm từng hạng mục, lỗi chính và gợi ý sửa.</a:t>
            </a:r>
            <a:endParaRPr lang="en-US" sz="1500" dirty="0"/>
          </a:p>
        </p:txBody>
      </p:sp>
      <p:sp>
        <p:nvSpPr>
          <p:cNvPr id="6" name="Shape 4"/>
          <p:cNvSpPr/>
          <p:nvPr/>
        </p:nvSpPr>
        <p:spPr>
          <a:xfrm>
            <a:off x="457200" y="2103120"/>
            <a:ext cx="2560320" cy="1828800"/>
          </a:xfrm>
          <a:prstGeom prst="roundRect">
            <a:avLst>
              <a:gd name="adj" fmla="val 4000"/>
            </a:avLst>
          </a:prstGeom>
          <a:solidFill>
            <a:srgbClr val="EEF2F8"/>
          </a:solidFill>
          <a:ln w="12700">
            <a:solidFill>
              <a:srgbClr val="EEF2F8"/>
            </a:solidFill>
            <a:prstDash val="solid"/>
          </a:ln>
        </p:spPr>
        <p:txBody>
          <a:bodyPr/>
          <a:lstStyle/>
          <a:p>
            <a:endParaRPr lang="en-US"/>
          </a:p>
        </p:txBody>
      </p:sp>
      <p:sp>
        <p:nvSpPr>
          <p:cNvPr id="7" name="Text 5"/>
          <p:cNvSpPr txBox="1"/>
          <p:nvPr/>
        </p:nvSpPr>
        <p:spPr>
          <a:xfrm>
            <a:off x="685800" y="2240280"/>
            <a:ext cx="2103120" cy="822960"/>
          </a:xfrm>
          <a:prstGeom prst="rect">
            <a:avLst/>
          </a:prstGeom>
          <a:noFill/>
          <a:ln/>
        </p:spPr>
        <p:txBody>
          <a:bodyPr wrap="square" lIns="0" tIns="0" rIns="0" bIns="0" rtlCol="0" anchor="ctr"/>
          <a:lstStyle/>
          <a:p>
            <a:pPr marL="0" indent="0">
              <a:buNone/>
            </a:pPr>
            <a:r>
              <a:rPr lang="en-US" sz="4400" b="1" dirty="0">
                <a:solidFill>
                  <a:srgbClr val="15203B"/>
                </a:solidFill>
                <a:latin typeface="Cambria" pitchFamily="34" charset="0"/>
                <a:ea typeface="Cambria" pitchFamily="34" charset="-122"/>
                <a:cs typeface="Cambria" pitchFamily="34" charset="-120"/>
              </a:rPr>
              <a:t>13</a:t>
            </a:r>
            <a:endParaRPr lang="en-US" sz="4400" dirty="0"/>
          </a:p>
        </p:txBody>
      </p:sp>
      <p:sp>
        <p:nvSpPr>
          <p:cNvPr id="8" name="Text 6"/>
          <p:cNvSpPr txBox="1"/>
          <p:nvPr/>
        </p:nvSpPr>
        <p:spPr>
          <a:xfrm>
            <a:off x="685800" y="3108960"/>
            <a:ext cx="2148840" cy="731520"/>
          </a:xfrm>
          <a:prstGeom prst="rect">
            <a:avLst/>
          </a:prstGeom>
          <a:noFill/>
          <a:ln/>
        </p:spPr>
        <p:txBody>
          <a:bodyPr wrap="square" lIns="0" tIns="0" rIns="0" bIns="0" rtlCol="0" anchor="t"/>
          <a:lstStyle/>
          <a:p>
            <a:pPr marL="0" indent="0">
              <a:buNone/>
            </a:pPr>
            <a:r>
              <a:rPr lang="en-US" sz="1300" dirty="0">
                <a:solidFill>
                  <a:srgbClr val="1E2533"/>
                </a:solidFill>
                <a:latin typeface="Calibri" pitchFamily="34" charset="0"/>
                <a:ea typeface="Calibri" pitchFamily="34" charset="-122"/>
                <a:cs typeface="Calibri" pitchFamily="34" charset="-120"/>
              </a:rPr>
              <a:t>khớp xương được theo dõi mỗi khung hình (2D + 3D)</a:t>
            </a:r>
            <a:endParaRPr lang="en-US" sz="1300" dirty="0"/>
          </a:p>
        </p:txBody>
      </p:sp>
      <p:sp>
        <p:nvSpPr>
          <p:cNvPr id="9" name="Shape 7"/>
          <p:cNvSpPr/>
          <p:nvPr/>
        </p:nvSpPr>
        <p:spPr>
          <a:xfrm>
            <a:off x="3291840" y="2103120"/>
            <a:ext cx="2560320" cy="1828800"/>
          </a:xfrm>
          <a:prstGeom prst="roundRect">
            <a:avLst>
              <a:gd name="adj" fmla="val 4000"/>
            </a:avLst>
          </a:prstGeom>
          <a:solidFill>
            <a:srgbClr val="EEF2F8"/>
          </a:solidFill>
          <a:ln w="12700">
            <a:solidFill>
              <a:srgbClr val="EEF2F8"/>
            </a:solidFill>
            <a:prstDash val="solid"/>
          </a:ln>
        </p:spPr>
        <p:txBody>
          <a:bodyPr/>
          <a:lstStyle/>
          <a:p>
            <a:endParaRPr lang="en-US"/>
          </a:p>
        </p:txBody>
      </p:sp>
      <p:sp>
        <p:nvSpPr>
          <p:cNvPr id="10" name="Text 8"/>
          <p:cNvSpPr txBox="1"/>
          <p:nvPr/>
        </p:nvSpPr>
        <p:spPr>
          <a:xfrm>
            <a:off x="3520440" y="2240280"/>
            <a:ext cx="2103120" cy="822960"/>
          </a:xfrm>
          <a:prstGeom prst="rect">
            <a:avLst/>
          </a:prstGeom>
          <a:noFill/>
          <a:ln/>
        </p:spPr>
        <p:txBody>
          <a:bodyPr wrap="square" lIns="0" tIns="0" rIns="0" bIns="0" rtlCol="0" anchor="ctr"/>
          <a:lstStyle/>
          <a:p>
            <a:pPr marL="0" indent="0">
              <a:buNone/>
            </a:pPr>
            <a:r>
              <a:rPr lang="en-US" sz="4400" b="1" dirty="0">
                <a:solidFill>
                  <a:srgbClr val="C8102E"/>
                </a:solidFill>
                <a:latin typeface="Cambria" pitchFamily="34" charset="0"/>
                <a:ea typeface="Cambria" pitchFamily="34" charset="-122"/>
                <a:cs typeface="Cambria" pitchFamily="34" charset="-120"/>
              </a:rPr>
              <a:t>75,3%</a:t>
            </a:r>
            <a:endParaRPr lang="en-US" sz="4400" dirty="0"/>
          </a:p>
        </p:txBody>
      </p:sp>
      <p:sp>
        <p:nvSpPr>
          <p:cNvPr id="11" name="Text 9"/>
          <p:cNvSpPr txBox="1"/>
          <p:nvPr/>
        </p:nvSpPr>
        <p:spPr>
          <a:xfrm>
            <a:off x="3520440" y="3108960"/>
            <a:ext cx="2148840" cy="731520"/>
          </a:xfrm>
          <a:prstGeom prst="rect">
            <a:avLst/>
          </a:prstGeom>
          <a:noFill/>
          <a:ln/>
        </p:spPr>
        <p:txBody>
          <a:bodyPr wrap="square" lIns="0" tIns="0" rIns="0" bIns="0" rtlCol="0" anchor="t"/>
          <a:lstStyle/>
          <a:p>
            <a:pPr marL="0" indent="0">
              <a:buNone/>
            </a:pPr>
            <a:r>
              <a:rPr lang="en-US" sz="1300" dirty="0">
                <a:solidFill>
                  <a:srgbClr val="1E2533"/>
                </a:solidFill>
                <a:latin typeface="Calibri" pitchFamily="34" charset="0"/>
                <a:ea typeface="Calibri" pitchFamily="34" charset="-122"/>
                <a:cs typeface="Calibri" pitchFamily="34" charset="-120"/>
              </a:rPr>
              <a:t>độ chính xác nhận dạng 3 đòn đá của model LSTM</a:t>
            </a:r>
            <a:endParaRPr lang="en-US" sz="1300" dirty="0"/>
          </a:p>
        </p:txBody>
      </p:sp>
      <p:sp>
        <p:nvSpPr>
          <p:cNvPr id="12" name="Shape 10"/>
          <p:cNvSpPr/>
          <p:nvPr/>
        </p:nvSpPr>
        <p:spPr>
          <a:xfrm>
            <a:off x="6126480" y="2103120"/>
            <a:ext cx="2560320" cy="1828800"/>
          </a:xfrm>
          <a:prstGeom prst="roundRect">
            <a:avLst>
              <a:gd name="adj" fmla="val 4000"/>
            </a:avLst>
          </a:prstGeom>
          <a:solidFill>
            <a:srgbClr val="EEF2F8"/>
          </a:solidFill>
          <a:ln w="12700">
            <a:solidFill>
              <a:srgbClr val="EEF2F8"/>
            </a:solidFill>
            <a:prstDash val="solid"/>
          </a:ln>
        </p:spPr>
        <p:txBody>
          <a:bodyPr/>
          <a:lstStyle/>
          <a:p>
            <a:endParaRPr lang="en-US"/>
          </a:p>
        </p:txBody>
      </p:sp>
      <p:sp>
        <p:nvSpPr>
          <p:cNvPr id="13" name="Text 11"/>
          <p:cNvSpPr txBox="1"/>
          <p:nvPr/>
        </p:nvSpPr>
        <p:spPr>
          <a:xfrm>
            <a:off x="6355080" y="2240280"/>
            <a:ext cx="2103120" cy="822960"/>
          </a:xfrm>
          <a:prstGeom prst="rect">
            <a:avLst/>
          </a:prstGeom>
          <a:noFill/>
          <a:ln/>
        </p:spPr>
        <p:txBody>
          <a:bodyPr wrap="square" lIns="0" tIns="0" rIns="0" bIns="0" rtlCol="0" anchor="ctr"/>
          <a:lstStyle/>
          <a:p>
            <a:pPr marL="0" indent="0">
              <a:buNone/>
            </a:pPr>
            <a:r>
              <a:rPr lang="en-US" sz="4400" b="1" dirty="0">
                <a:solidFill>
                  <a:srgbClr val="15203B"/>
                </a:solidFill>
                <a:latin typeface="Cambria" pitchFamily="34" charset="0"/>
                <a:ea typeface="Cambria" pitchFamily="34" charset="-122"/>
                <a:cs typeface="Cambria" pitchFamily="34" charset="-120"/>
              </a:rPr>
              <a:t>4 + 6</a:t>
            </a:r>
            <a:endParaRPr lang="en-US" sz="4400" dirty="0"/>
          </a:p>
        </p:txBody>
      </p:sp>
      <p:sp>
        <p:nvSpPr>
          <p:cNvPr id="14" name="Text 12"/>
          <p:cNvSpPr txBox="1"/>
          <p:nvPr/>
        </p:nvSpPr>
        <p:spPr>
          <a:xfrm>
            <a:off x="6355080" y="3108960"/>
            <a:ext cx="2148840" cy="731520"/>
          </a:xfrm>
          <a:prstGeom prst="rect">
            <a:avLst/>
          </a:prstGeom>
          <a:noFill/>
          <a:ln/>
        </p:spPr>
        <p:txBody>
          <a:bodyPr wrap="square" lIns="0" tIns="0" rIns="0" bIns="0" rtlCol="0" anchor="t"/>
          <a:lstStyle/>
          <a:p>
            <a:pPr marL="0" indent="0">
              <a:buNone/>
            </a:pPr>
            <a:r>
              <a:rPr lang="en-US" sz="1300" dirty="0">
                <a:solidFill>
                  <a:srgbClr val="1E2533"/>
                </a:solidFill>
                <a:latin typeface="Calibri" pitchFamily="34" charset="0"/>
                <a:ea typeface="Calibri" pitchFamily="34" charset="-122"/>
                <a:cs typeface="Calibri" pitchFamily="34" charset="-120"/>
              </a:rPr>
              <a:t>= 10 điểm: Chính xác 4 + Biểu hiện 6, mượn khung chấm Poomsae</a:t>
            </a:r>
            <a:endParaRPr lang="en-US" sz="1300" dirty="0"/>
          </a:p>
        </p:txBody>
      </p:sp>
      <p:sp>
        <p:nvSpPr>
          <p:cNvPr id="15" name="Shape 13"/>
          <p:cNvSpPr/>
          <p:nvPr/>
        </p:nvSpPr>
        <p:spPr>
          <a:xfrm>
            <a:off x="457200" y="4160520"/>
            <a:ext cx="457200" cy="457200"/>
          </a:xfrm>
          <a:prstGeom prst="ellipse">
            <a:avLst/>
          </a:prstGeom>
          <a:solidFill>
            <a:srgbClr val="15203B"/>
          </a:solidFill>
          <a:ln w="12700">
            <a:solidFill>
              <a:srgbClr val="15203B"/>
            </a:solidFill>
            <a:prstDash val="solid"/>
          </a:ln>
        </p:spPr>
        <p:txBody>
          <a:bodyPr/>
          <a:lstStyle/>
          <a:p>
            <a:endParaRPr lang="en-US"/>
          </a:p>
        </p:txBody>
      </p:sp>
      <p:pic>
        <p:nvPicPr>
          <p:cNvPr id="16" name="Image 0" descr="preencoded.png"/>
          <p:cNvPicPr>
            <a:picLocks noChangeAspect="1"/>
          </p:cNvPicPr>
          <p:nvPr/>
        </p:nvPicPr>
        <p:blipFill>
          <a:blip r:embed="rId3"/>
          <a:stretch>
            <a:fillRect/>
          </a:stretch>
        </p:blipFill>
        <p:spPr>
          <a:xfrm>
            <a:off x="557784" y="4261104"/>
            <a:ext cx="256032" cy="256032"/>
          </a:xfrm>
          <a:prstGeom prst="rect">
            <a:avLst/>
          </a:prstGeom>
        </p:spPr>
      </p:pic>
      <p:sp>
        <p:nvSpPr>
          <p:cNvPr id="17" name="Text 14"/>
          <p:cNvSpPr txBox="1"/>
          <p:nvPr/>
        </p:nvSpPr>
        <p:spPr>
          <a:xfrm>
            <a:off x="1005840" y="4160520"/>
            <a:ext cx="3291840" cy="457200"/>
          </a:xfrm>
          <a:prstGeom prst="rect">
            <a:avLst/>
          </a:prstGeom>
          <a:noFill/>
          <a:ln/>
        </p:spPr>
        <p:txBody>
          <a:bodyPr wrap="square" lIns="0" tIns="0" rIns="0" bIns="0" rtlCol="0" anchor="ctr"/>
          <a:lstStyle/>
          <a:p>
            <a:pPr marL="0" indent="0">
              <a:buNone/>
            </a:pPr>
            <a:r>
              <a:rPr lang="en-US" sz="1300" b="1" dirty="0">
                <a:solidFill>
                  <a:srgbClr val="1E2533"/>
                </a:solidFill>
                <a:latin typeface="Calibri" pitchFamily="34" charset="0"/>
                <a:ea typeface="Calibri" pitchFamily="34" charset="-122"/>
                <a:cs typeface="Calibri" pitchFamily="34" charset="-120"/>
              </a:rPr>
              <a:t>Đá: </a:t>
            </a:r>
            <a:r>
              <a:rPr lang="en-US" sz="1300" dirty="0">
                <a:solidFill>
                  <a:srgbClr val="1E2533"/>
                </a:solidFill>
                <a:latin typeface="Calibri" pitchFamily="34" charset="0"/>
                <a:ea typeface="Calibri" pitchFamily="34" charset="-122"/>
                <a:cs typeface="Calibri" pitchFamily="34" charset="-120"/>
              </a:rPr>
              <a:t>ap chagi · dollyo chagi · naeryo chagi</a:t>
            </a:r>
            <a:endParaRPr lang="en-US" sz="1300" dirty="0"/>
          </a:p>
        </p:txBody>
      </p:sp>
      <p:sp>
        <p:nvSpPr>
          <p:cNvPr id="18" name="Shape 15"/>
          <p:cNvSpPr/>
          <p:nvPr/>
        </p:nvSpPr>
        <p:spPr>
          <a:xfrm>
            <a:off x="4572000" y="4160520"/>
            <a:ext cx="457200" cy="457200"/>
          </a:xfrm>
          <a:prstGeom prst="ellipse">
            <a:avLst/>
          </a:prstGeom>
          <a:solidFill>
            <a:srgbClr val="C8102E"/>
          </a:solidFill>
          <a:ln w="12700">
            <a:solidFill>
              <a:srgbClr val="C8102E"/>
            </a:solidFill>
            <a:prstDash val="solid"/>
          </a:ln>
        </p:spPr>
        <p:txBody>
          <a:bodyPr/>
          <a:lstStyle/>
          <a:p>
            <a:endParaRPr lang="en-US"/>
          </a:p>
        </p:txBody>
      </p:sp>
      <p:pic>
        <p:nvPicPr>
          <p:cNvPr id="19" name="Image 1" descr="preencoded.png"/>
          <p:cNvPicPr>
            <a:picLocks noChangeAspect="1"/>
          </p:cNvPicPr>
          <p:nvPr/>
        </p:nvPicPr>
        <p:blipFill>
          <a:blip r:embed="rId4"/>
          <a:stretch>
            <a:fillRect/>
          </a:stretch>
        </p:blipFill>
        <p:spPr>
          <a:xfrm>
            <a:off x="4672584" y="4261104"/>
            <a:ext cx="256032" cy="256032"/>
          </a:xfrm>
          <a:prstGeom prst="rect">
            <a:avLst/>
          </a:prstGeom>
        </p:spPr>
      </p:pic>
      <p:sp>
        <p:nvSpPr>
          <p:cNvPr id="20" name="Text 16"/>
          <p:cNvSpPr txBox="1"/>
          <p:nvPr/>
        </p:nvSpPr>
        <p:spPr>
          <a:xfrm>
            <a:off x="5120640" y="4160520"/>
            <a:ext cx="3566160" cy="457200"/>
          </a:xfrm>
          <a:prstGeom prst="rect">
            <a:avLst/>
          </a:prstGeom>
          <a:noFill/>
          <a:ln/>
        </p:spPr>
        <p:txBody>
          <a:bodyPr wrap="square" lIns="0" tIns="0" rIns="0" bIns="0" rtlCol="0" anchor="ctr"/>
          <a:lstStyle/>
          <a:p>
            <a:pPr marL="0" indent="0">
              <a:buNone/>
            </a:pPr>
            <a:r>
              <a:rPr lang="en-US" sz="1300" b="1" dirty="0">
                <a:solidFill>
                  <a:srgbClr val="1E2533"/>
                </a:solidFill>
                <a:latin typeface="Calibri" pitchFamily="34" charset="0"/>
                <a:ea typeface="Calibri" pitchFamily="34" charset="-122"/>
                <a:cs typeface="Calibri" pitchFamily="34" charset="-120"/>
              </a:rPr>
              <a:t>Đấm: </a:t>
            </a:r>
            <a:r>
              <a:rPr lang="en-US" sz="1300" dirty="0">
                <a:solidFill>
                  <a:srgbClr val="1E2533"/>
                </a:solidFill>
                <a:latin typeface="Calibri" pitchFamily="34" charset="0"/>
                <a:ea typeface="Calibri" pitchFamily="34" charset="-122"/>
                <a:cs typeface="Calibri" pitchFamily="34" charset="-120"/>
              </a:rPr>
              <a:t>đấm móc · đấm thẳng</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56032"/>
            <a:ext cx="8229600" cy="237744"/>
          </a:xfrm>
          <a:prstGeom prst="rect">
            <a:avLst/>
          </a:prstGeom>
          <a:noFill/>
          <a:ln/>
        </p:spPr>
        <p:txBody>
          <a:bodyPr wrap="square" lIns="0" tIns="0" rIns="0" bIns="0" rtlCol="0" anchor="t"/>
          <a:lstStyle/>
          <a:p>
            <a:pPr marL="0" indent="0">
              <a:buNone/>
            </a:pPr>
            <a:r>
              <a:rPr lang="en-US" sz="1100" b="1" kern="0" spc="200" dirty="0">
                <a:solidFill>
                  <a:srgbClr val="C8102E"/>
                </a:solidFill>
                <a:latin typeface="Calibri" pitchFamily="34" charset="0"/>
                <a:ea typeface="Calibri" pitchFamily="34" charset="-122"/>
                <a:cs typeface="Calibri" pitchFamily="34" charset="-120"/>
              </a:rPr>
              <a:t>PIPELINE</a:t>
            </a:r>
            <a:endParaRPr lang="en-US" sz="1100" dirty="0"/>
          </a:p>
        </p:txBody>
      </p:sp>
      <p:sp>
        <p:nvSpPr>
          <p:cNvPr id="3" name="Text 1"/>
          <p:cNvSpPr txBox="1"/>
          <p:nvPr/>
        </p:nvSpPr>
        <p:spPr>
          <a:xfrm>
            <a:off x="457200" y="502920"/>
            <a:ext cx="8229600" cy="548640"/>
          </a:xfrm>
          <a:prstGeom prst="rect">
            <a:avLst/>
          </a:prstGeom>
          <a:noFill/>
          <a:ln/>
        </p:spPr>
        <p:txBody>
          <a:bodyPr wrap="square" lIns="0" tIns="0" rIns="0" bIns="0" rtlCol="0" anchor="ctr"/>
          <a:lstStyle/>
          <a:p>
            <a:pPr marL="0" indent="0">
              <a:buNone/>
            </a:pPr>
            <a:r>
              <a:rPr lang="en-US" sz="2800" b="1" dirty="0">
                <a:solidFill>
                  <a:srgbClr val="15203B"/>
                </a:solidFill>
                <a:latin typeface="Cambria" pitchFamily="34" charset="0"/>
                <a:ea typeface="Cambria" pitchFamily="34" charset="-122"/>
                <a:cs typeface="Cambria" pitchFamily="34" charset="-120"/>
              </a:rPr>
              <a:t>Luồng xử lý từ video đến điểm số</a:t>
            </a:r>
            <a:endParaRPr lang="en-US" sz="2800" dirty="0"/>
          </a:p>
        </p:txBody>
      </p:sp>
      <p:sp>
        <p:nvSpPr>
          <p:cNvPr id="4" name="Text 2"/>
          <p:cNvSpPr txBox="1"/>
          <p:nvPr/>
        </p:nvSpPr>
        <p:spPr>
          <a:xfrm>
            <a:off x="8229600" y="4800600"/>
            <a:ext cx="457200" cy="201168"/>
          </a:xfrm>
          <a:prstGeom prst="rect">
            <a:avLst/>
          </a:prstGeom>
          <a:noFill/>
          <a:ln/>
        </p:spPr>
        <p:txBody>
          <a:bodyPr wrap="square" lIns="0" tIns="0" rIns="0" bIns="0" rtlCol="0" anchor="t"/>
          <a:lstStyle/>
          <a:p>
            <a:pPr marL="0" indent="0" algn="r">
              <a:buNone/>
            </a:pPr>
            <a:r>
              <a:rPr lang="en-US" sz="900" dirty="0">
                <a:solidFill>
                  <a:srgbClr val="5B6475"/>
                </a:solidFill>
                <a:latin typeface="Calibri" pitchFamily="34" charset="0"/>
                <a:ea typeface="Calibri" pitchFamily="34" charset="-122"/>
                <a:cs typeface="Calibri" pitchFamily="34" charset="-120"/>
              </a:rPr>
              <a:t>3</a:t>
            </a:r>
            <a:endParaRPr lang="en-US" sz="900" dirty="0"/>
          </a:p>
        </p:txBody>
      </p:sp>
      <p:sp>
        <p:nvSpPr>
          <p:cNvPr id="5" name="Shape 3"/>
          <p:cNvSpPr/>
          <p:nvPr/>
        </p:nvSpPr>
        <p:spPr>
          <a:xfrm>
            <a:off x="758952" y="1325880"/>
            <a:ext cx="768096" cy="768096"/>
          </a:xfrm>
          <a:prstGeom prst="ellipse">
            <a:avLst/>
          </a:prstGeom>
          <a:solidFill>
            <a:srgbClr val="15203B"/>
          </a:solidFill>
          <a:ln w="12700">
            <a:solidFill>
              <a:srgbClr val="15203B"/>
            </a:solidFill>
            <a:prstDash val="solid"/>
          </a:ln>
        </p:spPr>
        <p:txBody>
          <a:bodyPr/>
          <a:lstStyle/>
          <a:p>
            <a:endParaRPr lang="en-US"/>
          </a:p>
        </p:txBody>
      </p:sp>
      <p:pic>
        <p:nvPicPr>
          <p:cNvPr id="6" name="Image 0" descr="preencoded.png"/>
          <p:cNvPicPr>
            <a:picLocks noChangeAspect="1"/>
          </p:cNvPicPr>
          <p:nvPr/>
        </p:nvPicPr>
        <p:blipFill>
          <a:blip r:embed="rId3"/>
          <a:stretch>
            <a:fillRect/>
          </a:stretch>
        </p:blipFill>
        <p:spPr>
          <a:xfrm>
            <a:off x="927933" y="1494861"/>
            <a:ext cx="430134" cy="430134"/>
          </a:xfrm>
          <a:prstGeom prst="rect">
            <a:avLst/>
          </a:prstGeom>
        </p:spPr>
      </p:pic>
      <p:sp>
        <p:nvSpPr>
          <p:cNvPr id="7" name="Shape 4"/>
          <p:cNvSpPr/>
          <p:nvPr/>
        </p:nvSpPr>
        <p:spPr>
          <a:xfrm>
            <a:off x="1618488" y="1709928"/>
            <a:ext cx="420624" cy="0"/>
          </a:xfrm>
          <a:prstGeom prst="line">
            <a:avLst/>
          </a:prstGeom>
          <a:noFill/>
          <a:ln w="19050">
            <a:solidFill>
              <a:srgbClr val="5B6475"/>
            </a:solidFill>
            <a:prstDash val="solid"/>
            <a:tailEnd type="triangle"/>
          </a:ln>
        </p:spPr>
        <p:txBody>
          <a:bodyPr/>
          <a:lstStyle/>
          <a:p>
            <a:endParaRPr lang="en-US"/>
          </a:p>
        </p:txBody>
      </p:sp>
      <p:sp>
        <p:nvSpPr>
          <p:cNvPr id="8" name="Text 5"/>
          <p:cNvSpPr txBox="1"/>
          <p:nvPr/>
        </p:nvSpPr>
        <p:spPr>
          <a:xfrm>
            <a:off x="502920" y="2212848"/>
            <a:ext cx="1280160" cy="502920"/>
          </a:xfrm>
          <a:prstGeom prst="rect">
            <a:avLst/>
          </a:prstGeom>
          <a:noFill/>
          <a:ln/>
        </p:spPr>
        <p:txBody>
          <a:bodyPr wrap="square" lIns="0" tIns="0" rIns="0" bIns="0" rtlCol="0" anchor="t"/>
          <a:lstStyle/>
          <a:p>
            <a:pPr marL="0" indent="0" algn="ctr">
              <a:buNone/>
            </a:pPr>
            <a:r>
              <a:rPr lang="en-US" sz="1250" b="1" dirty="0">
                <a:solidFill>
                  <a:srgbClr val="15203B"/>
                </a:solidFill>
                <a:latin typeface="Calibri" pitchFamily="34" charset="0"/>
                <a:ea typeface="Calibri" pitchFamily="34" charset="-122"/>
                <a:cs typeface="Calibri" pitchFamily="34" charset="-120"/>
              </a:rPr>
              <a:t>1. Đọc video</a:t>
            </a:r>
            <a:endParaRPr lang="en-US" sz="1250" dirty="0"/>
          </a:p>
        </p:txBody>
      </p:sp>
      <p:sp>
        <p:nvSpPr>
          <p:cNvPr id="9" name="Text 6"/>
          <p:cNvSpPr txBox="1"/>
          <p:nvPr/>
        </p:nvSpPr>
        <p:spPr>
          <a:xfrm>
            <a:off x="502920" y="2743200"/>
            <a:ext cx="1280160" cy="1005840"/>
          </a:xfrm>
          <a:prstGeom prst="rect">
            <a:avLst/>
          </a:prstGeom>
          <a:noFill/>
          <a:ln/>
        </p:spPr>
        <p:txBody>
          <a:bodyPr wrap="square" lIns="0" tIns="0" rIns="0" bIns="0" rtlCol="0" anchor="t"/>
          <a:lstStyle/>
          <a:p>
            <a:pPr marL="0" indent="0" algn="ctr">
              <a:buNone/>
            </a:pPr>
            <a:r>
              <a:rPr lang="en-US" sz="1050" dirty="0">
                <a:solidFill>
                  <a:srgbClr val="5B6475"/>
                </a:solidFill>
                <a:latin typeface="Calibri" pitchFamily="34" charset="0"/>
                <a:ea typeface="Calibri" pitchFamily="34" charset="-122"/>
                <a:cs typeface="Calibri" pitchFamily="34" charset="-120"/>
              </a:rPr>
              <a:t>OpenCV đọc từng khung, lấy fps và kích thước</a:t>
            </a:r>
            <a:endParaRPr lang="en-US" sz="1050" dirty="0"/>
          </a:p>
        </p:txBody>
      </p:sp>
      <p:sp>
        <p:nvSpPr>
          <p:cNvPr id="10" name="Shape 7"/>
          <p:cNvSpPr/>
          <p:nvPr/>
        </p:nvSpPr>
        <p:spPr>
          <a:xfrm>
            <a:off x="2130552" y="1325880"/>
            <a:ext cx="768096" cy="768096"/>
          </a:xfrm>
          <a:prstGeom prst="ellipse">
            <a:avLst/>
          </a:prstGeom>
          <a:solidFill>
            <a:srgbClr val="15203B"/>
          </a:solidFill>
          <a:ln w="12700">
            <a:solidFill>
              <a:srgbClr val="15203B"/>
            </a:solidFill>
            <a:prstDash val="solid"/>
          </a:ln>
        </p:spPr>
        <p:txBody>
          <a:bodyPr/>
          <a:lstStyle/>
          <a:p>
            <a:endParaRPr lang="en-US"/>
          </a:p>
        </p:txBody>
      </p:sp>
      <p:pic>
        <p:nvPicPr>
          <p:cNvPr id="11" name="Image 1" descr="preencoded.png"/>
          <p:cNvPicPr>
            <a:picLocks noChangeAspect="1"/>
          </p:cNvPicPr>
          <p:nvPr/>
        </p:nvPicPr>
        <p:blipFill>
          <a:blip r:embed="rId4"/>
          <a:stretch>
            <a:fillRect/>
          </a:stretch>
        </p:blipFill>
        <p:spPr>
          <a:xfrm>
            <a:off x="2299533" y="1494861"/>
            <a:ext cx="430134" cy="430134"/>
          </a:xfrm>
          <a:prstGeom prst="rect">
            <a:avLst/>
          </a:prstGeom>
        </p:spPr>
      </p:pic>
      <p:sp>
        <p:nvSpPr>
          <p:cNvPr id="12" name="Shape 8"/>
          <p:cNvSpPr/>
          <p:nvPr/>
        </p:nvSpPr>
        <p:spPr>
          <a:xfrm>
            <a:off x="2990088" y="1709928"/>
            <a:ext cx="420624" cy="0"/>
          </a:xfrm>
          <a:prstGeom prst="line">
            <a:avLst/>
          </a:prstGeom>
          <a:noFill/>
          <a:ln w="19050">
            <a:solidFill>
              <a:srgbClr val="5B6475"/>
            </a:solidFill>
            <a:prstDash val="solid"/>
            <a:tailEnd type="triangle"/>
          </a:ln>
        </p:spPr>
        <p:txBody>
          <a:bodyPr/>
          <a:lstStyle/>
          <a:p>
            <a:endParaRPr lang="en-US"/>
          </a:p>
        </p:txBody>
      </p:sp>
      <p:sp>
        <p:nvSpPr>
          <p:cNvPr id="13" name="Text 9"/>
          <p:cNvSpPr txBox="1"/>
          <p:nvPr/>
        </p:nvSpPr>
        <p:spPr>
          <a:xfrm>
            <a:off x="1874520" y="2212848"/>
            <a:ext cx="1280160" cy="502920"/>
          </a:xfrm>
          <a:prstGeom prst="rect">
            <a:avLst/>
          </a:prstGeom>
          <a:noFill/>
          <a:ln/>
        </p:spPr>
        <p:txBody>
          <a:bodyPr wrap="square" lIns="0" tIns="0" rIns="0" bIns="0" rtlCol="0" anchor="t"/>
          <a:lstStyle/>
          <a:p>
            <a:pPr marL="0" indent="0" algn="ctr">
              <a:buNone/>
            </a:pPr>
            <a:r>
              <a:rPr lang="en-US" sz="1250" b="1" dirty="0">
                <a:solidFill>
                  <a:srgbClr val="15203B"/>
                </a:solidFill>
                <a:latin typeface="Calibri" pitchFamily="34" charset="0"/>
                <a:ea typeface="Calibri" pitchFamily="34" charset="-122"/>
                <a:cs typeface="Calibri" pitchFamily="34" charset="-120"/>
              </a:rPr>
              <a:t>2. MediaPipe Pose</a:t>
            </a:r>
            <a:endParaRPr lang="en-US" sz="1250" dirty="0"/>
          </a:p>
        </p:txBody>
      </p:sp>
      <p:sp>
        <p:nvSpPr>
          <p:cNvPr id="14" name="Text 10"/>
          <p:cNvSpPr txBox="1"/>
          <p:nvPr/>
        </p:nvSpPr>
        <p:spPr>
          <a:xfrm>
            <a:off x="1874520" y="2743200"/>
            <a:ext cx="1280160" cy="1005840"/>
          </a:xfrm>
          <a:prstGeom prst="rect">
            <a:avLst/>
          </a:prstGeom>
          <a:noFill/>
          <a:ln/>
        </p:spPr>
        <p:txBody>
          <a:bodyPr wrap="square" lIns="0" tIns="0" rIns="0" bIns="0" rtlCol="0" anchor="t"/>
          <a:lstStyle/>
          <a:p>
            <a:pPr marL="0" indent="0" algn="ctr">
              <a:buNone/>
            </a:pPr>
            <a:r>
              <a:rPr lang="en-US" sz="1050" dirty="0">
                <a:solidFill>
                  <a:srgbClr val="5B6475"/>
                </a:solidFill>
                <a:latin typeface="Calibri" pitchFamily="34" charset="0"/>
                <a:ea typeface="Calibri" pitchFamily="34" charset="-122"/>
                <a:cs typeface="Calibri" pitchFamily="34" charset="-120"/>
              </a:rPr>
              <a:t>33 điểm mỗi khung → rút gọn 13 khớp, 2D + 3D</a:t>
            </a:r>
            <a:endParaRPr lang="en-US" sz="1050" dirty="0"/>
          </a:p>
        </p:txBody>
      </p:sp>
      <p:sp>
        <p:nvSpPr>
          <p:cNvPr id="15" name="Shape 11"/>
          <p:cNvSpPr/>
          <p:nvPr/>
        </p:nvSpPr>
        <p:spPr>
          <a:xfrm>
            <a:off x="3502152" y="1325880"/>
            <a:ext cx="768096" cy="768096"/>
          </a:xfrm>
          <a:prstGeom prst="ellipse">
            <a:avLst/>
          </a:prstGeom>
          <a:solidFill>
            <a:srgbClr val="15203B"/>
          </a:solidFill>
          <a:ln w="12700">
            <a:solidFill>
              <a:srgbClr val="15203B"/>
            </a:solidFill>
            <a:prstDash val="solid"/>
          </a:ln>
        </p:spPr>
        <p:txBody>
          <a:bodyPr/>
          <a:lstStyle/>
          <a:p>
            <a:endParaRPr lang="en-US"/>
          </a:p>
        </p:txBody>
      </p:sp>
      <p:pic>
        <p:nvPicPr>
          <p:cNvPr id="16" name="Image 2" descr="preencoded.png"/>
          <p:cNvPicPr>
            <a:picLocks noChangeAspect="1"/>
          </p:cNvPicPr>
          <p:nvPr/>
        </p:nvPicPr>
        <p:blipFill>
          <a:blip r:embed="rId5"/>
          <a:stretch>
            <a:fillRect/>
          </a:stretch>
        </p:blipFill>
        <p:spPr>
          <a:xfrm>
            <a:off x="3671133" y="1494861"/>
            <a:ext cx="430134" cy="430134"/>
          </a:xfrm>
          <a:prstGeom prst="rect">
            <a:avLst/>
          </a:prstGeom>
        </p:spPr>
      </p:pic>
      <p:sp>
        <p:nvSpPr>
          <p:cNvPr id="17" name="Shape 12"/>
          <p:cNvSpPr/>
          <p:nvPr/>
        </p:nvSpPr>
        <p:spPr>
          <a:xfrm>
            <a:off x="4361688" y="1709928"/>
            <a:ext cx="420624" cy="0"/>
          </a:xfrm>
          <a:prstGeom prst="line">
            <a:avLst/>
          </a:prstGeom>
          <a:noFill/>
          <a:ln w="19050">
            <a:solidFill>
              <a:srgbClr val="5B6475"/>
            </a:solidFill>
            <a:prstDash val="solid"/>
            <a:tailEnd type="triangle"/>
          </a:ln>
        </p:spPr>
        <p:txBody>
          <a:bodyPr/>
          <a:lstStyle/>
          <a:p>
            <a:endParaRPr lang="en-US"/>
          </a:p>
        </p:txBody>
      </p:sp>
      <p:sp>
        <p:nvSpPr>
          <p:cNvPr id="18" name="Text 13"/>
          <p:cNvSpPr txBox="1"/>
          <p:nvPr/>
        </p:nvSpPr>
        <p:spPr>
          <a:xfrm>
            <a:off x="3246120" y="2212848"/>
            <a:ext cx="1280160" cy="502920"/>
          </a:xfrm>
          <a:prstGeom prst="rect">
            <a:avLst/>
          </a:prstGeom>
          <a:noFill/>
          <a:ln/>
        </p:spPr>
        <p:txBody>
          <a:bodyPr wrap="square" lIns="0" tIns="0" rIns="0" bIns="0" rtlCol="0" anchor="t"/>
          <a:lstStyle/>
          <a:p>
            <a:pPr marL="0" indent="0" algn="ctr">
              <a:buNone/>
            </a:pPr>
            <a:r>
              <a:rPr lang="en-US" sz="1250" b="1" dirty="0">
                <a:solidFill>
                  <a:srgbClr val="15203B"/>
                </a:solidFill>
                <a:latin typeface="Calibri" pitchFamily="34" charset="0"/>
                <a:ea typeface="Calibri" pitchFamily="34" charset="-122"/>
                <a:cs typeface="Calibri" pitchFamily="34" charset="-120"/>
              </a:rPr>
              <a:t>3. Chọn người &amp; cắt đoạn</a:t>
            </a:r>
            <a:endParaRPr lang="en-US" sz="1250" dirty="0"/>
          </a:p>
        </p:txBody>
      </p:sp>
      <p:sp>
        <p:nvSpPr>
          <p:cNvPr id="19" name="Text 14"/>
          <p:cNvSpPr txBox="1"/>
          <p:nvPr/>
        </p:nvSpPr>
        <p:spPr>
          <a:xfrm>
            <a:off x="3246120" y="2743200"/>
            <a:ext cx="1280160" cy="1005840"/>
          </a:xfrm>
          <a:prstGeom prst="rect">
            <a:avLst/>
          </a:prstGeom>
          <a:noFill/>
          <a:ln/>
        </p:spPr>
        <p:txBody>
          <a:bodyPr wrap="square" lIns="0" tIns="0" rIns="0" bIns="0" rtlCol="0" anchor="t"/>
          <a:lstStyle/>
          <a:p>
            <a:pPr marL="0" indent="0" algn="ctr">
              <a:buNone/>
            </a:pPr>
            <a:r>
              <a:rPr lang="en-US" sz="1050" dirty="0">
                <a:solidFill>
                  <a:srgbClr val="5B6475"/>
                </a:solidFill>
                <a:latin typeface="Calibri" pitchFamily="34" charset="0"/>
                <a:ea typeface="Calibri" pitchFamily="34" charset="-122"/>
                <a:cs typeface="Calibri" pitchFamily="34" charset="-120"/>
              </a:rPr>
              <a:t>Theo dõi nhiều người, chọn người ra đòn, cắt đoạn chuyển động</a:t>
            </a:r>
            <a:endParaRPr lang="en-US" sz="1050" dirty="0"/>
          </a:p>
        </p:txBody>
      </p:sp>
      <p:sp>
        <p:nvSpPr>
          <p:cNvPr id="20" name="Shape 15"/>
          <p:cNvSpPr/>
          <p:nvPr/>
        </p:nvSpPr>
        <p:spPr>
          <a:xfrm>
            <a:off x="4873752" y="1325880"/>
            <a:ext cx="768096" cy="768096"/>
          </a:xfrm>
          <a:prstGeom prst="ellipse">
            <a:avLst/>
          </a:prstGeom>
          <a:solidFill>
            <a:srgbClr val="1F4E9A"/>
          </a:solidFill>
          <a:ln w="12700">
            <a:solidFill>
              <a:srgbClr val="1F4E9A"/>
            </a:solidFill>
            <a:prstDash val="solid"/>
          </a:ln>
        </p:spPr>
        <p:txBody>
          <a:bodyPr/>
          <a:lstStyle/>
          <a:p>
            <a:endParaRPr lang="en-US"/>
          </a:p>
        </p:txBody>
      </p:sp>
      <p:pic>
        <p:nvPicPr>
          <p:cNvPr id="21" name="Image 3" descr="preencoded.png"/>
          <p:cNvPicPr>
            <a:picLocks noChangeAspect="1"/>
          </p:cNvPicPr>
          <p:nvPr/>
        </p:nvPicPr>
        <p:blipFill>
          <a:blip r:embed="rId6"/>
          <a:stretch>
            <a:fillRect/>
          </a:stretch>
        </p:blipFill>
        <p:spPr>
          <a:xfrm>
            <a:off x="5042733" y="1494861"/>
            <a:ext cx="430134" cy="430134"/>
          </a:xfrm>
          <a:prstGeom prst="rect">
            <a:avLst/>
          </a:prstGeom>
        </p:spPr>
      </p:pic>
      <p:sp>
        <p:nvSpPr>
          <p:cNvPr id="22" name="Shape 16"/>
          <p:cNvSpPr/>
          <p:nvPr/>
        </p:nvSpPr>
        <p:spPr>
          <a:xfrm>
            <a:off x="5733288" y="1709928"/>
            <a:ext cx="420624" cy="0"/>
          </a:xfrm>
          <a:prstGeom prst="line">
            <a:avLst/>
          </a:prstGeom>
          <a:noFill/>
          <a:ln w="19050">
            <a:solidFill>
              <a:srgbClr val="5B6475"/>
            </a:solidFill>
            <a:prstDash val="solid"/>
            <a:tailEnd type="triangle"/>
          </a:ln>
        </p:spPr>
        <p:txBody>
          <a:bodyPr/>
          <a:lstStyle/>
          <a:p>
            <a:endParaRPr lang="en-US"/>
          </a:p>
        </p:txBody>
      </p:sp>
      <p:sp>
        <p:nvSpPr>
          <p:cNvPr id="23" name="Text 17"/>
          <p:cNvSpPr txBox="1"/>
          <p:nvPr/>
        </p:nvSpPr>
        <p:spPr>
          <a:xfrm>
            <a:off x="4617720" y="2212848"/>
            <a:ext cx="1280160" cy="502920"/>
          </a:xfrm>
          <a:prstGeom prst="rect">
            <a:avLst/>
          </a:prstGeom>
          <a:noFill/>
          <a:ln/>
        </p:spPr>
        <p:txBody>
          <a:bodyPr wrap="square" lIns="0" tIns="0" rIns="0" bIns="0" rtlCol="0" anchor="t"/>
          <a:lstStyle/>
          <a:p>
            <a:pPr marL="0" indent="0" algn="ctr">
              <a:buNone/>
            </a:pPr>
            <a:r>
              <a:rPr lang="en-US" sz="1250" b="1" dirty="0">
                <a:solidFill>
                  <a:srgbClr val="15203B"/>
                </a:solidFill>
                <a:latin typeface="Calibri" pitchFamily="34" charset="0"/>
                <a:ea typeface="Calibri" pitchFamily="34" charset="-122"/>
                <a:cs typeface="Calibri" pitchFamily="34" charset="-120"/>
              </a:rPr>
              <a:t>4. Nhận dạng (LSTM)</a:t>
            </a:r>
            <a:endParaRPr lang="en-US" sz="1250" dirty="0"/>
          </a:p>
        </p:txBody>
      </p:sp>
      <p:sp>
        <p:nvSpPr>
          <p:cNvPr id="24" name="Text 18"/>
          <p:cNvSpPr txBox="1"/>
          <p:nvPr/>
        </p:nvSpPr>
        <p:spPr>
          <a:xfrm>
            <a:off x="4617720" y="2743200"/>
            <a:ext cx="1280160" cy="1005840"/>
          </a:xfrm>
          <a:prstGeom prst="rect">
            <a:avLst/>
          </a:prstGeom>
          <a:noFill/>
          <a:ln/>
        </p:spPr>
        <p:txBody>
          <a:bodyPr wrap="square" lIns="0" tIns="0" rIns="0" bIns="0" rtlCol="0" anchor="t"/>
          <a:lstStyle/>
          <a:p>
            <a:pPr marL="0" indent="0" algn="ctr">
              <a:buNone/>
            </a:pPr>
            <a:r>
              <a:rPr lang="en-US" sz="1050" dirty="0">
                <a:solidFill>
                  <a:srgbClr val="5B6475"/>
                </a:solidFill>
                <a:latin typeface="Calibri" pitchFamily="34" charset="0"/>
                <a:ea typeface="Calibri" pitchFamily="34" charset="-122"/>
                <a:cs typeface="Calibri" pitchFamily="34" charset="-120"/>
              </a:rPr>
              <a:t>Chỉ với đá: chọn ap / dollyo / naeryo chagi</a:t>
            </a:r>
            <a:endParaRPr lang="en-US" sz="1050" dirty="0"/>
          </a:p>
        </p:txBody>
      </p:sp>
      <p:sp>
        <p:nvSpPr>
          <p:cNvPr id="25" name="Shape 19"/>
          <p:cNvSpPr/>
          <p:nvPr/>
        </p:nvSpPr>
        <p:spPr>
          <a:xfrm>
            <a:off x="6245352" y="1325880"/>
            <a:ext cx="768096" cy="768096"/>
          </a:xfrm>
          <a:prstGeom prst="ellipse">
            <a:avLst/>
          </a:prstGeom>
          <a:solidFill>
            <a:srgbClr val="15203B"/>
          </a:solidFill>
          <a:ln w="12700">
            <a:solidFill>
              <a:srgbClr val="15203B"/>
            </a:solidFill>
            <a:prstDash val="solid"/>
          </a:ln>
        </p:spPr>
        <p:txBody>
          <a:bodyPr/>
          <a:lstStyle/>
          <a:p>
            <a:endParaRPr lang="en-US"/>
          </a:p>
        </p:txBody>
      </p:sp>
      <p:pic>
        <p:nvPicPr>
          <p:cNvPr id="26" name="Image 4" descr="preencoded.png"/>
          <p:cNvPicPr>
            <a:picLocks noChangeAspect="1"/>
          </p:cNvPicPr>
          <p:nvPr/>
        </p:nvPicPr>
        <p:blipFill>
          <a:blip r:embed="rId7"/>
          <a:stretch>
            <a:fillRect/>
          </a:stretch>
        </p:blipFill>
        <p:spPr>
          <a:xfrm>
            <a:off x="6414333" y="1494861"/>
            <a:ext cx="430134" cy="430134"/>
          </a:xfrm>
          <a:prstGeom prst="rect">
            <a:avLst/>
          </a:prstGeom>
        </p:spPr>
      </p:pic>
      <p:sp>
        <p:nvSpPr>
          <p:cNvPr id="27" name="Shape 20"/>
          <p:cNvSpPr/>
          <p:nvPr/>
        </p:nvSpPr>
        <p:spPr>
          <a:xfrm>
            <a:off x="7104888" y="1709928"/>
            <a:ext cx="420624" cy="0"/>
          </a:xfrm>
          <a:prstGeom prst="line">
            <a:avLst/>
          </a:prstGeom>
          <a:noFill/>
          <a:ln w="19050">
            <a:solidFill>
              <a:srgbClr val="5B6475"/>
            </a:solidFill>
            <a:prstDash val="solid"/>
            <a:tailEnd type="triangle"/>
          </a:ln>
        </p:spPr>
        <p:txBody>
          <a:bodyPr/>
          <a:lstStyle/>
          <a:p>
            <a:endParaRPr lang="en-US"/>
          </a:p>
        </p:txBody>
      </p:sp>
      <p:sp>
        <p:nvSpPr>
          <p:cNvPr id="28" name="Text 21"/>
          <p:cNvSpPr txBox="1"/>
          <p:nvPr/>
        </p:nvSpPr>
        <p:spPr>
          <a:xfrm>
            <a:off x="5989320" y="2212848"/>
            <a:ext cx="1280160" cy="502920"/>
          </a:xfrm>
          <a:prstGeom prst="rect">
            <a:avLst/>
          </a:prstGeom>
          <a:noFill/>
          <a:ln/>
        </p:spPr>
        <p:txBody>
          <a:bodyPr wrap="square" lIns="0" tIns="0" rIns="0" bIns="0" rtlCol="0" anchor="t"/>
          <a:lstStyle/>
          <a:p>
            <a:pPr marL="0" indent="0" algn="ctr">
              <a:buNone/>
            </a:pPr>
            <a:r>
              <a:rPr lang="en-US" sz="1250" b="1" dirty="0">
                <a:solidFill>
                  <a:srgbClr val="15203B"/>
                </a:solidFill>
                <a:latin typeface="Calibri" pitchFamily="34" charset="0"/>
                <a:ea typeface="Calibri" pitchFamily="34" charset="-122"/>
                <a:cs typeface="Calibri" pitchFamily="34" charset="-120"/>
              </a:rPr>
              <a:t>5. Chia pha &amp; đo chỉ số</a:t>
            </a:r>
            <a:endParaRPr lang="en-US" sz="1250" dirty="0"/>
          </a:p>
        </p:txBody>
      </p:sp>
      <p:sp>
        <p:nvSpPr>
          <p:cNvPr id="29" name="Text 22"/>
          <p:cNvSpPr txBox="1"/>
          <p:nvPr/>
        </p:nvSpPr>
        <p:spPr>
          <a:xfrm>
            <a:off x="5989320" y="2743200"/>
            <a:ext cx="1280160" cy="1005840"/>
          </a:xfrm>
          <a:prstGeom prst="rect">
            <a:avLst/>
          </a:prstGeom>
          <a:noFill/>
          <a:ln/>
        </p:spPr>
        <p:txBody>
          <a:bodyPr wrap="square" lIns="0" tIns="0" rIns="0" bIns="0" rtlCol="0" anchor="t"/>
          <a:lstStyle/>
          <a:p>
            <a:pPr marL="0" indent="0" algn="ctr">
              <a:buNone/>
            </a:pPr>
            <a:r>
              <a:rPr lang="en-US" sz="1050" dirty="0">
                <a:solidFill>
                  <a:srgbClr val="5B6475"/>
                </a:solidFill>
                <a:latin typeface="Calibri" pitchFamily="34" charset="0"/>
                <a:ea typeface="Calibri" pitchFamily="34" charset="-122"/>
                <a:cs typeface="Calibri" pitchFamily="34" charset="-120"/>
              </a:rPr>
              <a:t>Bắt đầu → đỉnh → thu về; đo góc, tốc độ, độ xoay</a:t>
            </a:r>
            <a:endParaRPr lang="en-US" sz="1050" dirty="0"/>
          </a:p>
        </p:txBody>
      </p:sp>
      <p:sp>
        <p:nvSpPr>
          <p:cNvPr id="30" name="Shape 23"/>
          <p:cNvSpPr/>
          <p:nvPr/>
        </p:nvSpPr>
        <p:spPr>
          <a:xfrm>
            <a:off x="7616952" y="1325880"/>
            <a:ext cx="768096" cy="768096"/>
          </a:xfrm>
          <a:prstGeom prst="ellipse">
            <a:avLst/>
          </a:prstGeom>
          <a:solidFill>
            <a:srgbClr val="C8102E"/>
          </a:solidFill>
          <a:ln w="12700">
            <a:solidFill>
              <a:srgbClr val="C8102E"/>
            </a:solidFill>
            <a:prstDash val="solid"/>
          </a:ln>
        </p:spPr>
        <p:txBody>
          <a:bodyPr/>
          <a:lstStyle/>
          <a:p>
            <a:endParaRPr lang="en-US"/>
          </a:p>
        </p:txBody>
      </p:sp>
      <p:pic>
        <p:nvPicPr>
          <p:cNvPr id="31" name="Image 5" descr="preencoded.png"/>
          <p:cNvPicPr>
            <a:picLocks noChangeAspect="1"/>
          </p:cNvPicPr>
          <p:nvPr/>
        </p:nvPicPr>
        <p:blipFill>
          <a:blip r:embed="rId8"/>
          <a:stretch>
            <a:fillRect/>
          </a:stretch>
        </p:blipFill>
        <p:spPr>
          <a:xfrm>
            <a:off x="7785933" y="1494861"/>
            <a:ext cx="430134" cy="430134"/>
          </a:xfrm>
          <a:prstGeom prst="rect">
            <a:avLst/>
          </a:prstGeom>
        </p:spPr>
      </p:pic>
      <p:sp>
        <p:nvSpPr>
          <p:cNvPr id="32" name="Text 24"/>
          <p:cNvSpPr txBox="1"/>
          <p:nvPr/>
        </p:nvSpPr>
        <p:spPr>
          <a:xfrm>
            <a:off x="7360920" y="2212848"/>
            <a:ext cx="1280160" cy="502920"/>
          </a:xfrm>
          <a:prstGeom prst="rect">
            <a:avLst/>
          </a:prstGeom>
          <a:noFill/>
          <a:ln/>
        </p:spPr>
        <p:txBody>
          <a:bodyPr wrap="square" lIns="0" tIns="0" rIns="0" bIns="0" rtlCol="0" anchor="t"/>
          <a:lstStyle/>
          <a:p>
            <a:pPr marL="0" indent="0" algn="ctr">
              <a:buNone/>
            </a:pPr>
            <a:r>
              <a:rPr lang="en-US" sz="1250" b="1" dirty="0">
                <a:solidFill>
                  <a:srgbClr val="15203B"/>
                </a:solidFill>
                <a:latin typeface="Calibri" pitchFamily="34" charset="0"/>
                <a:ea typeface="Calibri" pitchFamily="34" charset="-122"/>
                <a:cs typeface="Calibri" pitchFamily="34" charset="-120"/>
              </a:rPr>
              <a:t>6. Chấm điểm 4 + 6</a:t>
            </a:r>
            <a:endParaRPr lang="en-US" sz="1250" dirty="0"/>
          </a:p>
        </p:txBody>
      </p:sp>
      <p:sp>
        <p:nvSpPr>
          <p:cNvPr id="33" name="Text 25"/>
          <p:cNvSpPr txBox="1"/>
          <p:nvPr/>
        </p:nvSpPr>
        <p:spPr>
          <a:xfrm>
            <a:off x="7360920" y="2743200"/>
            <a:ext cx="1280160" cy="1005840"/>
          </a:xfrm>
          <a:prstGeom prst="rect">
            <a:avLst/>
          </a:prstGeom>
          <a:noFill/>
          <a:ln/>
        </p:spPr>
        <p:txBody>
          <a:bodyPr wrap="square" lIns="0" tIns="0" rIns="0" bIns="0" rtlCol="0" anchor="t"/>
          <a:lstStyle/>
          <a:p>
            <a:pPr marL="0" indent="0" algn="ctr">
              <a:buNone/>
            </a:pPr>
            <a:r>
              <a:rPr lang="en-US" sz="1050" dirty="0">
                <a:solidFill>
                  <a:srgbClr val="5B6475"/>
                </a:solidFill>
                <a:latin typeface="Calibri" pitchFamily="34" charset="0"/>
                <a:ea typeface="Calibri" pitchFamily="34" charset="-122"/>
                <a:cs typeface="Calibri" pitchFamily="34" charset="-120"/>
              </a:rPr>
              <a:t>Điểm từng mục, lỗi chính, gợi ý sửa</a:t>
            </a:r>
            <a:endParaRPr lang="en-US" sz="1050" dirty="0"/>
          </a:p>
        </p:txBody>
      </p:sp>
      <p:sp>
        <p:nvSpPr>
          <p:cNvPr id="34" name="Shape 26"/>
          <p:cNvSpPr/>
          <p:nvPr/>
        </p:nvSpPr>
        <p:spPr>
          <a:xfrm>
            <a:off x="457200" y="3977640"/>
            <a:ext cx="3977640" cy="731520"/>
          </a:xfrm>
          <a:prstGeom prst="roundRect">
            <a:avLst>
              <a:gd name="adj" fmla="val 10000"/>
            </a:avLst>
          </a:prstGeom>
          <a:solidFill>
            <a:srgbClr val="EEF2F8"/>
          </a:solidFill>
          <a:ln w="12700">
            <a:solidFill>
              <a:srgbClr val="EEF2F8"/>
            </a:solidFill>
            <a:prstDash val="solid"/>
          </a:ln>
        </p:spPr>
        <p:txBody>
          <a:bodyPr/>
          <a:lstStyle/>
          <a:p>
            <a:endParaRPr lang="en-US"/>
          </a:p>
        </p:txBody>
      </p:sp>
      <p:sp>
        <p:nvSpPr>
          <p:cNvPr id="35" name="Text 27"/>
          <p:cNvSpPr txBox="1"/>
          <p:nvPr/>
        </p:nvSpPr>
        <p:spPr>
          <a:xfrm>
            <a:off x="685800" y="3977640"/>
            <a:ext cx="3657600" cy="731520"/>
          </a:xfrm>
          <a:prstGeom prst="rect">
            <a:avLst/>
          </a:prstGeom>
          <a:noFill/>
          <a:ln/>
        </p:spPr>
        <p:txBody>
          <a:bodyPr wrap="square" lIns="0" tIns="0" rIns="0" bIns="0" rtlCol="0" anchor="ctr"/>
          <a:lstStyle/>
          <a:p>
            <a:pPr marL="0" indent="0">
              <a:buNone/>
            </a:pPr>
            <a:r>
              <a:rPr lang="en-US" sz="1300" b="1" dirty="0">
                <a:solidFill>
                  <a:srgbClr val="C8102E"/>
                </a:solidFill>
                <a:latin typeface="Calibri" pitchFamily="34" charset="0"/>
                <a:ea typeface="Calibri" pitchFamily="34" charset="-122"/>
                <a:cs typeface="Calibri" pitchFamily="34" charset="-120"/>
              </a:rPr>
              <a:t>INPUT   </a:t>
            </a:r>
            <a:r>
              <a:rPr lang="en-US" sz="1300" dirty="0">
                <a:solidFill>
                  <a:srgbClr val="1E2533"/>
                </a:solidFill>
                <a:latin typeface="Calibri" pitchFamily="34" charset="0"/>
                <a:ea typeface="Calibri" pitchFamily="34" charset="-122"/>
                <a:cs typeface="Calibri" pitchFamily="34" charset="-120"/>
              </a:rPr>
              <a:t>Video .mp4 dài 1–3 giây + tham số lệnh</a:t>
            </a:r>
            <a:endParaRPr lang="en-US" sz="1300" dirty="0"/>
          </a:p>
        </p:txBody>
      </p:sp>
      <p:sp>
        <p:nvSpPr>
          <p:cNvPr id="36" name="Shape 28"/>
          <p:cNvSpPr/>
          <p:nvPr/>
        </p:nvSpPr>
        <p:spPr>
          <a:xfrm>
            <a:off x="4709160" y="3977640"/>
            <a:ext cx="3977640" cy="731520"/>
          </a:xfrm>
          <a:prstGeom prst="roundRect">
            <a:avLst>
              <a:gd name="adj" fmla="val 10000"/>
            </a:avLst>
          </a:prstGeom>
          <a:solidFill>
            <a:srgbClr val="EEF2F8"/>
          </a:solidFill>
          <a:ln w="12700">
            <a:solidFill>
              <a:srgbClr val="EEF2F8"/>
            </a:solidFill>
            <a:prstDash val="solid"/>
          </a:ln>
        </p:spPr>
        <p:txBody>
          <a:bodyPr/>
          <a:lstStyle/>
          <a:p>
            <a:endParaRPr lang="en-US"/>
          </a:p>
        </p:txBody>
      </p:sp>
      <p:sp>
        <p:nvSpPr>
          <p:cNvPr id="37" name="Text 29"/>
          <p:cNvSpPr txBox="1"/>
          <p:nvPr/>
        </p:nvSpPr>
        <p:spPr>
          <a:xfrm>
            <a:off x="4937760" y="3977640"/>
            <a:ext cx="3657600" cy="731520"/>
          </a:xfrm>
          <a:prstGeom prst="rect">
            <a:avLst/>
          </a:prstGeom>
          <a:noFill/>
          <a:ln/>
        </p:spPr>
        <p:txBody>
          <a:bodyPr wrap="square" lIns="0" tIns="0" rIns="0" bIns="0" rtlCol="0" anchor="ctr"/>
          <a:lstStyle/>
          <a:p>
            <a:pPr marL="0" indent="0">
              <a:buNone/>
            </a:pPr>
            <a:r>
              <a:rPr lang="en-US" sz="1300" b="1" dirty="0">
                <a:solidFill>
                  <a:srgbClr val="C8102E"/>
                </a:solidFill>
                <a:latin typeface="Calibri" pitchFamily="34" charset="0"/>
                <a:ea typeface="Calibri" pitchFamily="34" charset="-122"/>
                <a:cs typeface="Calibri" pitchFamily="34" charset="-120"/>
              </a:rPr>
              <a:t>OUTPUT   </a:t>
            </a:r>
            <a:r>
              <a:rPr lang="en-US" sz="1300" dirty="0">
                <a:solidFill>
                  <a:srgbClr val="1E2533"/>
                </a:solidFill>
                <a:latin typeface="Calibri" pitchFamily="34" charset="0"/>
                <a:ea typeface="Calibri" pitchFamily="34" charset="-122"/>
                <a:cs typeface="Calibri" pitchFamily="34" charset="-120"/>
              </a:rPr>
              <a:t>Điểm /10 · cửa sổ pipeline · JSON · CSV · ảnh</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56032"/>
            <a:ext cx="8229600" cy="237744"/>
          </a:xfrm>
          <a:prstGeom prst="rect">
            <a:avLst/>
          </a:prstGeom>
          <a:noFill/>
          <a:ln/>
        </p:spPr>
        <p:txBody>
          <a:bodyPr wrap="square" lIns="0" tIns="0" rIns="0" bIns="0" rtlCol="0" anchor="t"/>
          <a:lstStyle/>
          <a:p>
            <a:pPr marL="0" indent="0">
              <a:buNone/>
            </a:pPr>
            <a:r>
              <a:rPr lang="en-US" sz="1100" b="1" kern="0" spc="200" dirty="0">
                <a:solidFill>
                  <a:srgbClr val="C8102E"/>
                </a:solidFill>
                <a:latin typeface="Calibri" pitchFamily="34" charset="0"/>
                <a:ea typeface="Calibri" pitchFamily="34" charset="-122"/>
                <a:cs typeface="Calibri" pitchFamily="34" charset="-120"/>
              </a:rPr>
              <a:t>CÔNG NGHỆ</a:t>
            </a:r>
            <a:endParaRPr lang="en-US" sz="1100" dirty="0"/>
          </a:p>
        </p:txBody>
      </p:sp>
      <p:sp>
        <p:nvSpPr>
          <p:cNvPr id="3" name="Text 1"/>
          <p:cNvSpPr txBox="1"/>
          <p:nvPr/>
        </p:nvSpPr>
        <p:spPr>
          <a:xfrm>
            <a:off x="457200" y="502920"/>
            <a:ext cx="8229600" cy="548640"/>
          </a:xfrm>
          <a:prstGeom prst="rect">
            <a:avLst/>
          </a:prstGeom>
          <a:noFill/>
          <a:ln/>
        </p:spPr>
        <p:txBody>
          <a:bodyPr wrap="square" lIns="0" tIns="0" rIns="0" bIns="0" rtlCol="0" anchor="ctr"/>
          <a:lstStyle/>
          <a:p>
            <a:pPr marL="0" indent="0">
              <a:buNone/>
            </a:pPr>
            <a:r>
              <a:rPr lang="en-US" sz="2800" b="1" dirty="0">
                <a:solidFill>
                  <a:srgbClr val="15203B"/>
                </a:solidFill>
                <a:latin typeface="Cambria" pitchFamily="34" charset="0"/>
                <a:ea typeface="Cambria" pitchFamily="34" charset="-122"/>
                <a:cs typeface="Cambria" pitchFamily="34" charset="-120"/>
              </a:rPr>
              <a:t>Công nghệ sử dụng</a:t>
            </a:r>
            <a:endParaRPr lang="en-US" sz="2800" dirty="0"/>
          </a:p>
        </p:txBody>
      </p:sp>
      <p:sp>
        <p:nvSpPr>
          <p:cNvPr id="4" name="Text 2"/>
          <p:cNvSpPr txBox="1"/>
          <p:nvPr/>
        </p:nvSpPr>
        <p:spPr>
          <a:xfrm>
            <a:off x="8229600" y="4800600"/>
            <a:ext cx="457200" cy="201168"/>
          </a:xfrm>
          <a:prstGeom prst="rect">
            <a:avLst/>
          </a:prstGeom>
          <a:noFill/>
          <a:ln/>
        </p:spPr>
        <p:txBody>
          <a:bodyPr wrap="square" lIns="0" tIns="0" rIns="0" bIns="0" rtlCol="0" anchor="t"/>
          <a:lstStyle/>
          <a:p>
            <a:pPr marL="0" indent="0" algn="r">
              <a:buNone/>
            </a:pPr>
            <a:r>
              <a:rPr lang="en-US" sz="900" dirty="0">
                <a:solidFill>
                  <a:srgbClr val="5B6475"/>
                </a:solidFill>
                <a:latin typeface="Calibri" pitchFamily="34" charset="0"/>
                <a:ea typeface="Calibri" pitchFamily="34" charset="-122"/>
                <a:cs typeface="Calibri" pitchFamily="34" charset="-120"/>
              </a:rPr>
              <a:t>4</a:t>
            </a:r>
            <a:endParaRPr lang="en-US" sz="900" dirty="0"/>
          </a:p>
        </p:txBody>
      </p:sp>
      <p:sp>
        <p:nvSpPr>
          <p:cNvPr id="5" name="Shape 3"/>
          <p:cNvSpPr/>
          <p:nvPr/>
        </p:nvSpPr>
        <p:spPr>
          <a:xfrm>
            <a:off x="457200" y="1188720"/>
            <a:ext cx="1920240" cy="1600200"/>
          </a:xfrm>
          <a:prstGeom prst="roundRect">
            <a:avLst>
              <a:gd name="adj" fmla="val 4571"/>
            </a:avLst>
          </a:prstGeom>
          <a:solidFill>
            <a:srgbClr val="EEF2F8"/>
          </a:solidFill>
          <a:ln w="12700">
            <a:solidFill>
              <a:srgbClr val="EEF2F8"/>
            </a:solidFill>
            <a:prstDash val="solid"/>
          </a:ln>
        </p:spPr>
        <p:txBody>
          <a:bodyPr/>
          <a:lstStyle/>
          <a:p>
            <a:endParaRPr lang="en-US"/>
          </a:p>
        </p:txBody>
      </p:sp>
      <p:sp>
        <p:nvSpPr>
          <p:cNvPr id="6" name="Shape 4"/>
          <p:cNvSpPr/>
          <p:nvPr/>
        </p:nvSpPr>
        <p:spPr>
          <a:xfrm>
            <a:off x="640080" y="1371600"/>
            <a:ext cx="502920" cy="502920"/>
          </a:xfrm>
          <a:prstGeom prst="ellipse">
            <a:avLst/>
          </a:prstGeom>
          <a:solidFill>
            <a:srgbClr val="15203B"/>
          </a:solidFill>
          <a:ln w="12700">
            <a:solidFill>
              <a:srgbClr val="15203B"/>
            </a:solidFill>
            <a:prstDash val="solid"/>
          </a:ln>
        </p:spPr>
        <p:txBody>
          <a:bodyPr/>
          <a:lstStyle/>
          <a:p>
            <a:endParaRPr lang="en-US"/>
          </a:p>
        </p:txBody>
      </p:sp>
      <p:pic>
        <p:nvPicPr>
          <p:cNvPr id="7" name="Image 0" descr="preencoded.png"/>
          <p:cNvPicPr>
            <a:picLocks noChangeAspect="1"/>
          </p:cNvPicPr>
          <p:nvPr/>
        </p:nvPicPr>
        <p:blipFill>
          <a:blip r:embed="rId3"/>
          <a:stretch>
            <a:fillRect/>
          </a:stretch>
        </p:blipFill>
        <p:spPr>
          <a:xfrm>
            <a:off x="750722" y="1482242"/>
            <a:ext cx="281635" cy="281635"/>
          </a:xfrm>
          <a:prstGeom prst="rect">
            <a:avLst/>
          </a:prstGeom>
        </p:spPr>
      </p:pic>
      <p:sp>
        <p:nvSpPr>
          <p:cNvPr id="8" name="Text 5"/>
          <p:cNvSpPr txBox="1"/>
          <p:nvPr/>
        </p:nvSpPr>
        <p:spPr>
          <a:xfrm>
            <a:off x="640080" y="1965960"/>
            <a:ext cx="1600200" cy="292608"/>
          </a:xfrm>
          <a:prstGeom prst="rect">
            <a:avLst/>
          </a:prstGeom>
          <a:noFill/>
          <a:ln/>
        </p:spPr>
        <p:txBody>
          <a:bodyPr wrap="square" lIns="0" tIns="0" rIns="0" bIns="0" rtlCol="0" anchor="t"/>
          <a:lstStyle/>
          <a:p>
            <a:pPr marL="0" indent="0">
              <a:buNone/>
            </a:pPr>
            <a:r>
              <a:rPr lang="en-US" sz="1350" b="1" dirty="0">
                <a:solidFill>
                  <a:srgbClr val="15203B"/>
                </a:solidFill>
                <a:latin typeface="Calibri" pitchFamily="34" charset="0"/>
                <a:ea typeface="Calibri" pitchFamily="34" charset="-122"/>
                <a:cs typeface="Calibri" pitchFamily="34" charset="-120"/>
              </a:rPr>
              <a:t>Python 3.12</a:t>
            </a:r>
            <a:endParaRPr lang="en-US" sz="1350" dirty="0"/>
          </a:p>
        </p:txBody>
      </p:sp>
      <p:sp>
        <p:nvSpPr>
          <p:cNvPr id="9" name="Text 6"/>
          <p:cNvSpPr txBox="1"/>
          <p:nvPr/>
        </p:nvSpPr>
        <p:spPr>
          <a:xfrm>
            <a:off x="640080" y="2258568"/>
            <a:ext cx="1600200" cy="475488"/>
          </a:xfrm>
          <a:prstGeom prst="rect">
            <a:avLst/>
          </a:prstGeom>
          <a:noFill/>
          <a:ln/>
        </p:spPr>
        <p:txBody>
          <a:bodyPr wrap="square" lIns="0" tIns="0" rIns="0" bIns="0" rtlCol="0" anchor="t"/>
          <a:lstStyle/>
          <a:p>
            <a:pPr marL="0" indent="0">
              <a:buNone/>
            </a:pPr>
            <a:r>
              <a:rPr lang="en-US" sz="1050" dirty="0">
                <a:solidFill>
                  <a:srgbClr val="5B6475"/>
                </a:solidFill>
                <a:latin typeface="Calibri" pitchFamily="34" charset="0"/>
                <a:ea typeface="Calibri" pitchFamily="34" charset="-122"/>
                <a:cs typeface="Calibri" pitchFamily="34" charset="-120"/>
              </a:rPr>
              <a:t>Ngôn ngữ chính, chạy trong môi trường ảo .venv</a:t>
            </a:r>
            <a:endParaRPr lang="en-US" sz="1050" dirty="0"/>
          </a:p>
        </p:txBody>
      </p:sp>
      <p:sp>
        <p:nvSpPr>
          <p:cNvPr id="10" name="Shape 7"/>
          <p:cNvSpPr/>
          <p:nvPr/>
        </p:nvSpPr>
        <p:spPr>
          <a:xfrm>
            <a:off x="2560320" y="1188720"/>
            <a:ext cx="1920240" cy="1600200"/>
          </a:xfrm>
          <a:prstGeom prst="roundRect">
            <a:avLst>
              <a:gd name="adj" fmla="val 4571"/>
            </a:avLst>
          </a:prstGeom>
          <a:solidFill>
            <a:srgbClr val="EEF2F8"/>
          </a:solidFill>
          <a:ln w="12700">
            <a:solidFill>
              <a:srgbClr val="EEF2F8"/>
            </a:solidFill>
            <a:prstDash val="solid"/>
          </a:ln>
        </p:spPr>
        <p:txBody>
          <a:bodyPr/>
          <a:lstStyle/>
          <a:p>
            <a:endParaRPr lang="en-US"/>
          </a:p>
        </p:txBody>
      </p:sp>
      <p:sp>
        <p:nvSpPr>
          <p:cNvPr id="11" name="Shape 8"/>
          <p:cNvSpPr/>
          <p:nvPr/>
        </p:nvSpPr>
        <p:spPr>
          <a:xfrm>
            <a:off x="2743200" y="1371600"/>
            <a:ext cx="502920" cy="502920"/>
          </a:xfrm>
          <a:prstGeom prst="ellipse">
            <a:avLst/>
          </a:prstGeom>
          <a:solidFill>
            <a:srgbClr val="C8102E"/>
          </a:solidFill>
          <a:ln w="12700">
            <a:solidFill>
              <a:srgbClr val="C8102E"/>
            </a:solidFill>
            <a:prstDash val="solid"/>
          </a:ln>
        </p:spPr>
        <p:txBody>
          <a:bodyPr/>
          <a:lstStyle/>
          <a:p>
            <a:endParaRPr lang="en-US"/>
          </a:p>
        </p:txBody>
      </p:sp>
      <p:pic>
        <p:nvPicPr>
          <p:cNvPr id="12" name="Image 1" descr="preencoded.png"/>
          <p:cNvPicPr>
            <a:picLocks noChangeAspect="1"/>
          </p:cNvPicPr>
          <p:nvPr/>
        </p:nvPicPr>
        <p:blipFill>
          <a:blip r:embed="rId4"/>
          <a:stretch>
            <a:fillRect/>
          </a:stretch>
        </p:blipFill>
        <p:spPr>
          <a:xfrm>
            <a:off x="2853842" y="1482242"/>
            <a:ext cx="281635" cy="281635"/>
          </a:xfrm>
          <a:prstGeom prst="rect">
            <a:avLst/>
          </a:prstGeom>
        </p:spPr>
      </p:pic>
      <p:sp>
        <p:nvSpPr>
          <p:cNvPr id="13" name="Text 9"/>
          <p:cNvSpPr txBox="1"/>
          <p:nvPr/>
        </p:nvSpPr>
        <p:spPr>
          <a:xfrm>
            <a:off x="2743200" y="1965960"/>
            <a:ext cx="1600200" cy="292608"/>
          </a:xfrm>
          <a:prstGeom prst="rect">
            <a:avLst/>
          </a:prstGeom>
          <a:noFill/>
          <a:ln/>
        </p:spPr>
        <p:txBody>
          <a:bodyPr wrap="square" lIns="0" tIns="0" rIns="0" bIns="0" rtlCol="0" anchor="t"/>
          <a:lstStyle/>
          <a:p>
            <a:pPr marL="0" indent="0">
              <a:buNone/>
            </a:pPr>
            <a:r>
              <a:rPr lang="en-US" sz="1350" b="1" dirty="0">
                <a:solidFill>
                  <a:srgbClr val="15203B"/>
                </a:solidFill>
                <a:latin typeface="Calibri" pitchFamily="34" charset="0"/>
                <a:ea typeface="Calibri" pitchFamily="34" charset="-122"/>
                <a:cs typeface="Calibri" pitchFamily="34" charset="-120"/>
              </a:rPr>
              <a:t>MediaPipe 0.10.14</a:t>
            </a:r>
            <a:endParaRPr lang="en-US" sz="1350" dirty="0"/>
          </a:p>
        </p:txBody>
      </p:sp>
      <p:sp>
        <p:nvSpPr>
          <p:cNvPr id="14" name="Text 10"/>
          <p:cNvSpPr txBox="1"/>
          <p:nvPr/>
        </p:nvSpPr>
        <p:spPr>
          <a:xfrm>
            <a:off x="2743200" y="2258568"/>
            <a:ext cx="1600200" cy="475488"/>
          </a:xfrm>
          <a:prstGeom prst="rect">
            <a:avLst/>
          </a:prstGeom>
          <a:noFill/>
          <a:ln/>
        </p:spPr>
        <p:txBody>
          <a:bodyPr wrap="square" lIns="0" tIns="0" rIns="0" bIns="0" rtlCol="0" anchor="t"/>
          <a:lstStyle/>
          <a:p>
            <a:pPr marL="0" indent="0">
              <a:buNone/>
            </a:pPr>
            <a:r>
              <a:rPr lang="en-US" sz="1050" dirty="0">
                <a:solidFill>
                  <a:srgbClr val="5B6475"/>
                </a:solidFill>
                <a:latin typeface="Calibri" pitchFamily="34" charset="0"/>
                <a:ea typeface="Calibri" pitchFamily="34" charset="-122"/>
                <a:cs typeface="Calibri" pitchFamily="34" charset="-120"/>
              </a:rPr>
              <a:t>PoseLandmarker (BlazePose full): 33 điểm 2D + 3D</a:t>
            </a:r>
            <a:endParaRPr lang="en-US" sz="1050" dirty="0"/>
          </a:p>
        </p:txBody>
      </p:sp>
      <p:sp>
        <p:nvSpPr>
          <p:cNvPr id="15" name="Shape 11"/>
          <p:cNvSpPr/>
          <p:nvPr/>
        </p:nvSpPr>
        <p:spPr>
          <a:xfrm>
            <a:off x="4663440" y="1188720"/>
            <a:ext cx="1920240" cy="1600200"/>
          </a:xfrm>
          <a:prstGeom prst="roundRect">
            <a:avLst>
              <a:gd name="adj" fmla="val 4571"/>
            </a:avLst>
          </a:prstGeom>
          <a:solidFill>
            <a:srgbClr val="EEF2F8"/>
          </a:solidFill>
          <a:ln w="12700">
            <a:solidFill>
              <a:srgbClr val="EEF2F8"/>
            </a:solidFill>
            <a:prstDash val="solid"/>
          </a:ln>
        </p:spPr>
        <p:txBody>
          <a:bodyPr/>
          <a:lstStyle/>
          <a:p>
            <a:endParaRPr lang="en-US"/>
          </a:p>
        </p:txBody>
      </p:sp>
      <p:sp>
        <p:nvSpPr>
          <p:cNvPr id="16" name="Shape 12"/>
          <p:cNvSpPr/>
          <p:nvPr/>
        </p:nvSpPr>
        <p:spPr>
          <a:xfrm>
            <a:off x="4846320" y="1371600"/>
            <a:ext cx="502920" cy="502920"/>
          </a:xfrm>
          <a:prstGeom prst="ellipse">
            <a:avLst/>
          </a:prstGeom>
          <a:solidFill>
            <a:srgbClr val="15203B"/>
          </a:solidFill>
          <a:ln w="12700">
            <a:solidFill>
              <a:srgbClr val="15203B"/>
            </a:solidFill>
            <a:prstDash val="solid"/>
          </a:ln>
        </p:spPr>
        <p:txBody>
          <a:bodyPr/>
          <a:lstStyle/>
          <a:p>
            <a:endParaRPr lang="en-US"/>
          </a:p>
        </p:txBody>
      </p:sp>
      <p:pic>
        <p:nvPicPr>
          <p:cNvPr id="17" name="Image 2" descr="preencoded.png"/>
          <p:cNvPicPr>
            <a:picLocks noChangeAspect="1"/>
          </p:cNvPicPr>
          <p:nvPr/>
        </p:nvPicPr>
        <p:blipFill>
          <a:blip r:embed="rId5"/>
          <a:stretch>
            <a:fillRect/>
          </a:stretch>
        </p:blipFill>
        <p:spPr>
          <a:xfrm>
            <a:off x="4956962" y="1482242"/>
            <a:ext cx="281635" cy="281635"/>
          </a:xfrm>
          <a:prstGeom prst="rect">
            <a:avLst/>
          </a:prstGeom>
        </p:spPr>
      </p:pic>
      <p:sp>
        <p:nvSpPr>
          <p:cNvPr id="18" name="Text 13"/>
          <p:cNvSpPr txBox="1"/>
          <p:nvPr/>
        </p:nvSpPr>
        <p:spPr>
          <a:xfrm>
            <a:off x="4846320" y="1965960"/>
            <a:ext cx="1600200" cy="292608"/>
          </a:xfrm>
          <a:prstGeom prst="rect">
            <a:avLst/>
          </a:prstGeom>
          <a:noFill/>
          <a:ln/>
        </p:spPr>
        <p:txBody>
          <a:bodyPr wrap="square" lIns="0" tIns="0" rIns="0" bIns="0" rtlCol="0" anchor="t"/>
          <a:lstStyle/>
          <a:p>
            <a:pPr marL="0" indent="0">
              <a:buNone/>
            </a:pPr>
            <a:r>
              <a:rPr lang="en-US" sz="1350" b="1" dirty="0">
                <a:solidFill>
                  <a:srgbClr val="15203B"/>
                </a:solidFill>
                <a:latin typeface="Calibri" pitchFamily="34" charset="0"/>
                <a:ea typeface="Calibri" pitchFamily="34" charset="-122"/>
                <a:cs typeface="Calibri" pitchFamily="34" charset="-120"/>
              </a:rPr>
              <a:t>OpenCV</a:t>
            </a:r>
            <a:endParaRPr lang="en-US" sz="1350" dirty="0"/>
          </a:p>
        </p:txBody>
      </p:sp>
      <p:sp>
        <p:nvSpPr>
          <p:cNvPr id="19" name="Text 14"/>
          <p:cNvSpPr txBox="1"/>
          <p:nvPr/>
        </p:nvSpPr>
        <p:spPr>
          <a:xfrm>
            <a:off x="4846320" y="2258568"/>
            <a:ext cx="1600200" cy="475488"/>
          </a:xfrm>
          <a:prstGeom prst="rect">
            <a:avLst/>
          </a:prstGeom>
          <a:noFill/>
          <a:ln/>
        </p:spPr>
        <p:txBody>
          <a:bodyPr wrap="square" lIns="0" tIns="0" rIns="0" bIns="0" rtlCol="0" anchor="t"/>
          <a:lstStyle/>
          <a:p>
            <a:pPr marL="0" indent="0">
              <a:buNone/>
            </a:pPr>
            <a:r>
              <a:rPr lang="en-US" sz="1050" dirty="0">
                <a:solidFill>
                  <a:srgbClr val="5B6475"/>
                </a:solidFill>
                <a:latin typeface="Calibri" pitchFamily="34" charset="0"/>
                <a:ea typeface="Calibri" pitchFamily="34" charset="-122"/>
                <a:cs typeface="Calibri" pitchFamily="34" charset="-120"/>
              </a:rPr>
              <a:t>Đọc video, vẽ khung xương, xuất ảnh</a:t>
            </a:r>
            <a:endParaRPr lang="en-US" sz="1050" dirty="0"/>
          </a:p>
        </p:txBody>
      </p:sp>
      <p:sp>
        <p:nvSpPr>
          <p:cNvPr id="20" name="Shape 15"/>
          <p:cNvSpPr/>
          <p:nvPr/>
        </p:nvSpPr>
        <p:spPr>
          <a:xfrm>
            <a:off x="6766560" y="1188720"/>
            <a:ext cx="1920240" cy="1600200"/>
          </a:xfrm>
          <a:prstGeom prst="roundRect">
            <a:avLst>
              <a:gd name="adj" fmla="val 4571"/>
            </a:avLst>
          </a:prstGeom>
          <a:solidFill>
            <a:srgbClr val="EEF2F8"/>
          </a:solidFill>
          <a:ln w="12700">
            <a:solidFill>
              <a:srgbClr val="EEF2F8"/>
            </a:solidFill>
            <a:prstDash val="solid"/>
          </a:ln>
        </p:spPr>
        <p:txBody>
          <a:bodyPr/>
          <a:lstStyle/>
          <a:p>
            <a:endParaRPr lang="en-US"/>
          </a:p>
        </p:txBody>
      </p:sp>
      <p:sp>
        <p:nvSpPr>
          <p:cNvPr id="21" name="Shape 16"/>
          <p:cNvSpPr/>
          <p:nvPr/>
        </p:nvSpPr>
        <p:spPr>
          <a:xfrm>
            <a:off x="6949440" y="1371600"/>
            <a:ext cx="502920" cy="502920"/>
          </a:xfrm>
          <a:prstGeom prst="ellipse">
            <a:avLst/>
          </a:prstGeom>
          <a:solidFill>
            <a:srgbClr val="15203B"/>
          </a:solidFill>
          <a:ln w="12700">
            <a:solidFill>
              <a:srgbClr val="15203B"/>
            </a:solidFill>
            <a:prstDash val="solid"/>
          </a:ln>
        </p:spPr>
        <p:txBody>
          <a:bodyPr/>
          <a:lstStyle/>
          <a:p>
            <a:endParaRPr lang="en-US"/>
          </a:p>
        </p:txBody>
      </p:sp>
      <p:pic>
        <p:nvPicPr>
          <p:cNvPr id="22" name="Image 3" descr="preencoded.png"/>
          <p:cNvPicPr>
            <a:picLocks noChangeAspect="1"/>
          </p:cNvPicPr>
          <p:nvPr/>
        </p:nvPicPr>
        <p:blipFill>
          <a:blip r:embed="rId6"/>
          <a:stretch>
            <a:fillRect/>
          </a:stretch>
        </p:blipFill>
        <p:spPr>
          <a:xfrm>
            <a:off x="7060082" y="1482242"/>
            <a:ext cx="281635" cy="281635"/>
          </a:xfrm>
          <a:prstGeom prst="rect">
            <a:avLst/>
          </a:prstGeom>
        </p:spPr>
      </p:pic>
      <p:sp>
        <p:nvSpPr>
          <p:cNvPr id="23" name="Text 17"/>
          <p:cNvSpPr txBox="1"/>
          <p:nvPr/>
        </p:nvSpPr>
        <p:spPr>
          <a:xfrm>
            <a:off x="6949440" y="1965960"/>
            <a:ext cx="1600200" cy="292608"/>
          </a:xfrm>
          <a:prstGeom prst="rect">
            <a:avLst/>
          </a:prstGeom>
          <a:noFill/>
          <a:ln/>
        </p:spPr>
        <p:txBody>
          <a:bodyPr wrap="square" lIns="0" tIns="0" rIns="0" bIns="0" rtlCol="0" anchor="t"/>
          <a:lstStyle/>
          <a:p>
            <a:pPr marL="0" indent="0">
              <a:buNone/>
            </a:pPr>
            <a:r>
              <a:rPr lang="en-US" sz="1350" b="1" dirty="0">
                <a:solidFill>
                  <a:srgbClr val="15203B"/>
                </a:solidFill>
                <a:latin typeface="Calibri" pitchFamily="34" charset="0"/>
                <a:ea typeface="Calibri" pitchFamily="34" charset="-122"/>
                <a:cs typeface="Calibri" pitchFamily="34" charset="-120"/>
              </a:rPr>
              <a:t>PyTorch</a:t>
            </a:r>
            <a:endParaRPr lang="en-US" sz="1350" dirty="0"/>
          </a:p>
        </p:txBody>
      </p:sp>
      <p:sp>
        <p:nvSpPr>
          <p:cNvPr id="24" name="Text 18"/>
          <p:cNvSpPr txBox="1"/>
          <p:nvPr/>
        </p:nvSpPr>
        <p:spPr>
          <a:xfrm>
            <a:off x="6949440" y="2258568"/>
            <a:ext cx="1600200" cy="475488"/>
          </a:xfrm>
          <a:prstGeom prst="rect">
            <a:avLst/>
          </a:prstGeom>
          <a:noFill/>
          <a:ln/>
        </p:spPr>
        <p:txBody>
          <a:bodyPr wrap="square" lIns="0" tIns="0" rIns="0" bIns="0" rtlCol="0" anchor="t"/>
          <a:lstStyle/>
          <a:p>
            <a:pPr marL="0" indent="0">
              <a:buNone/>
            </a:pPr>
            <a:r>
              <a:rPr lang="en-US" sz="1050" dirty="0">
                <a:solidFill>
                  <a:srgbClr val="5B6475"/>
                </a:solidFill>
                <a:latin typeface="Calibri" pitchFamily="34" charset="0"/>
                <a:ea typeface="Calibri" pitchFamily="34" charset="-122"/>
                <a:cs typeface="Calibri" pitchFamily="34" charset="-120"/>
              </a:rPr>
              <a:t>Model nhận dạng LSTM / GCN</a:t>
            </a:r>
            <a:endParaRPr lang="en-US" sz="1050" dirty="0"/>
          </a:p>
        </p:txBody>
      </p:sp>
      <p:sp>
        <p:nvSpPr>
          <p:cNvPr id="25" name="Shape 19"/>
          <p:cNvSpPr/>
          <p:nvPr/>
        </p:nvSpPr>
        <p:spPr>
          <a:xfrm>
            <a:off x="457200" y="2971800"/>
            <a:ext cx="1920240" cy="1600200"/>
          </a:xfrm>
          <a:prstGeom prst="roundRect">
            <a:avLst>
              <a:gd name="adj" fmla="val 4571"/>
            </a:avLst>
          </a:prstGeom>
          <a:solidFill>
            <a:srgbClr val="EEF2F8"/>
          </a:solidFill>
          <a:ln w="12700">
            <a:solidFill>
              <a:srgbClr val="EEF2F8"/>
            </a:solidFill>
            <a:prstDash val="solid"/>
          </a:ln>
        </p:spPr>
        <p:txBody>
          <a:bodyPr/>
          <a:lstStyle/>
          <a:p>
            <a:endParaRPr lang="en-US"/>
          </a:p>
        </p:txBody>
      </p:sp>
      <p:sp>
        <p:nvSpPr>
          <p:cNvPr id="26" name="Shape 20"/>
          <p:cNvSpPr/>
          <p:nvPr/>
        </p:nvSpPr>
        <p:spPr>
          <a:xfrm>
            <a:off x="640080" y="3154680"/>
            <a:ext cx="502920" cy="502920"/>
          </a:xfrm>
          <a:prstGeom prst="ellipse">
            <a:avLst/>
          </a:prstGeom>
          <a:solidFill>
            <a:srgbClr val="15203B"/>
          </a:solidFill>
          <a:ln w="12700">
            <a:solidFill>
              <a:srgbClr val="15203B"/>
            </a:solidFill>
            <a:prstDash val="solid"/>
          </a:ln>
        </p:spPr>
        <p:txBody>
          <a:bodyPr/>
          <a:lstStyle/>
          <a:p>
            <a:endParaRPr lang="en-US"/>
          </a:p>
        </p:txBody>
      </p:sp>
      <p:pic>
        <p:nvPicPr>
          <p:cNvPr id="27" name="Image 4" descr="preencoded.png"/>
          <p:cNvPicPr>
            <a:picLocks noChangeAspect="1"/>
          </p:cNvPicPr>
          <p:nvPr/>
        </p:nvPicPr>
        <p:blipFill>
          <a:blip r:embed="rId7"/>
          <a:stretch>
            <a:fillRect/>
          </a:stretch>
        </p:blipFill>
        <p:spPr>
          <a:xfrm>
            <a:off x="750722" y="3265322"/>
            <a:ext cx="281635" cy="281635"/>
          </a:xfrm>
          <a:prstGeom prst="rect">
            <a:avLst/>
          </a:prstGeom>
        </p:spPr>
      </p:pic>
      <p:sp>
        <p:nvSpPr>
          <p:cNvPr id="28" name="Text 21"/>
          <p:cNvSpPr txBox="1"/>
          <p:nvPr/>
        </p:nvSpPr>
        <p:spPr>
          <a:xfrm>
            <a:off x="640080" y="3749040"/>
            <a:ext cx="1600200" cy="292608"/>
          </a:xfrm>
          <a:prstGeom prst="rect">
            <a:avLst/>
          </a:prstGeom>
          <a:noFill/>
          <a:ln/>
        </p:spPr>
        <p:txBody>
          <a:bodyPr wrap="square" lIns="0" tIns="0" rIns="0" bIns="0" rtlCol="0" anchor="t"/>
          <a:lstStyle/>
          <a:p>
            <a:pPr marL="0" indent="0">
              <a:buNone/>
            </a:pPr>
            <a:r>
              <a:rPr lang="en-US" sz="1350" b="1" dirty="0">
                <a:solidFill>
                  <a:srgbClr val="15203B"/>
                </a:solidFill>
                <a:latin typeface="Calibri" pitchFamily="34" charset="0"/>
                <a:ea typeface="Calibri" pitchFamily="34" charset="-122"/>
                <a:cs typeface="Calibri" pitchFamily="34" charset="-120"/>
              </a:rPr>
              <a:t>NumPy</a:t>
            </a:r>
            <a:endParaRPr lang="en-US" sz="1350" dirty="0"/>
          </a:p>
        </p:txBody>
      </p:sp>
      <p:sp>
        <p:nvSpPr>
          <p:cNvPr id="29" name="Text 22"/>
          <p:cNvSpPr txBox="1"/>
          <p:nvPr/>
        </p:nvSpPr>
        <p:spPr>
          <a:xfrm>
            <a:off x="640080" y="4041648"/>
            <a:ext cx="1600200" cy="475488"/>
          </a:xfrm>
          <a:prstGeom prst="rect">
            <a:avLst/>
          </a:prstGeom>
          <a:noFill/>
          <a:ln/>
        </p:spPr>
        <p:txBody>
          <a:bodyPr wrap="square" lIns="0" tIns="0" rIns="0" bIns="0" rtlCol="0" anchor="t"/>
          <a:lstStyle/>
          <a:p>
            <a:pPr marL="0" indent="0">
              <a:buNone/>
            </a:pPr>
            <a:r>
              <a:rPr lang="en-US" sz="1050" dirty="0">
                <a:solidFill>
                  <a:srgbClr val="5B6475"/>
                </a:solidFill>
                <a:latin typeface="Calibri" pitchFamily="34" charset="0"/>
                <a:ea typeface="Calibri" pitchFamily="34" charset="-122"/>
                <a:cs typeface="Calibri" pitchFamily="34" charset="-120"/>
              </a:rPr>
              <a:t>Xử lý chuỗi tọa độ, tín hiệu, góc khớp</a:t>
            </a:r>
            <a:endParaRPr lang="en-US" sz="1050" dirty="0"/>
          </a:p>
        </p:txBody>
      </p:sp>
      <p:sp>
        <p:nvSpPr>
          <p:cNvPr id="30" name="Shape 23"/>
          <p:cNvSpPr/>
          <p:nvPr/>
        </p:nvSpPr>
        <p:spPr>
          <a:xfrm>
            <a:off x="2560320" y="2971800"/>
            <a:ext cx="1920240" cy="1600200"/>
          </a:xfrm>
          <a:prstGeom prst="roundRect">
            <a:avLst>
              <a:gd name="adj" fmla="val 4571"/>
            </a:avLst>
          </a:prstGeom>
          <a:solidFill>
            <a:srgbClr val="EEF2F8"/>
          </a:solidFill>
          <a:ln w="12700">
            <a:solidFill>
              <a:srgbClr val="EEF2F8"/>
            </a:solidFill>
            <a:prstDash val="solid"/>
          </a:ln>
        </p:spPr>
        <p:txBody>
          <a:bodyPr/>
          <a:lstStyle/>
          <a:p>
            <a:endParaRPr lang="en-US"/>
          </a:p>
        </p:txBody>
      </p:sp>
      <p:sp>
        <p:nvSpPr>
          <p:cNvPr id="31" name="Shape 24"/>
          <p:cNvSpPr/>
          <p:nvPr/>
        </p:nvSpPr>
        <p:spPr>
          <a:xfrm>
            <a:off x="2743200" y="3154680"/>
            <a:ext cx="502920" cy="502920"/>
          </a:xfrm>
          <a:prstGeom prst="ellipse">
            <a:avLst/>
          </a:prstGeom>
          <a:solidFill>
            <a:srgbClr val="15203B"/>
          </a:solidFill>
          <a:ln w="12700">
            <a:solidFill>
              <a:srgbClr val="15203B"/>
            </a:solidFill>
            <a:prstDash val="solid"/>
          </a:ln>
        </p:spPr>
        <p:txBody>
          <a:bodyPr/>
          <a:lstStyle/>
          <a:p>
            <a:endParaRPr lang="en-US"/>
          </a:p>
        </p:txBody>
      </p:sp>
      <p:pic>
        <p:nvPicPr>
          <p:cNvPr id="32" name="Image 5" descr="preencoded.png"/>
          <p:cNvPicPr>
            <a:picLocks noChangeAspect="1"/>
          </p:cNvPicPr>
          <p:nvPr/>
        </p:nvPicPr>
        <p:blipFill>
          <a:blip r:embed="rId8"/>
          <a:stretch>
            <a:fillRect/>
          </a:stretch>
        </p:blipFill>
        <p:spPr>
          <a:xfrm>
            <a:off x="2853842" y="3265322"/>
            <a:ext cx="281635" cy="281635"/>
          </a:xfrm>
          <a:prstGeom prst="rect">
            <a:avLst/>
          </a:prstGeom>
        </p:spPr>
      </p:pic>
      <p:sp>
        <p:nvSpPr>
          <p:cNvPr id="33" name="Text 25"/>
          <p:cNvSpPr txBox="1"/>
          <p:nvPr/>
        </p:nvSpPr>
        <p:spPr>
          <a:xfrm>
            <a:off x="2743200" y="3749040"/>
            <a:ext cx="1600200" cy="292608"/>
          </a:xfrm>
          <a:prstGeom prst="rect">
            <a:avLst/>
          </a:prstGeom>
          <a:noFill/>
          <a:ln/>
        </p:spPr>
        <p:txBody>
          <a:bodyPr wrap="square" lIns="0" tIns="0" rIns="0" bIns="0" rtlCol="0" anchor="t"/>
          <a:lstStyle/>
          <a:p>
            <a:pPr marL="0" indent="0">
              <a:buNone/>
            </a:pPr>
            <a:r>
              <a:rPr lang="en-US" sz="1350" b="1" dirty="0">
                <a:solidFill>
                  <a:srgbClr val="15203B"/>
                </a:solidFill>
                <a:latin typeface="Calibri" pitchFamily="34" charset="0"/>
                <a:ea typeface="Calibri" pitchFamily="34" charset="-122"/>
                <a:cs typeface="Calibri" pitchFamily="34" charset="-120"/>
              </a:rPr>
              <a:t>Matplotlib (TkAgg)</a:t>
            </a:r>
            <a:endParaRPr lang="en-US" sz="1350" dirty="0"/>
          </a:p>
        </p:txBody>
      </p:sp>
      <p:sp>
        <p:nvSpPr>
          <p:cNvPr id="34" name="Text 26"/>
          <p:cNvSpPr txBox="1"/>
          <p:nvPr/>
        </p:nvSpPr>
        <p:spPr>
          <a:xfrm>
            <a:off x="2743200" y="4041648"/>
            <a:ext cx="1600200" cy="475488"/>
          </a:xfrm>
          <a:prstGeom prst="rect">
            <a:avLst/>
          </a:prstGeom>
          <a:noFill/>
          <a:ln/>
        </p:spPr>
        <p:txBody>
          <a:bodyPr wrap="square" lIns="0" tIns="0" rIns="0" bIns="0" rtlCol="0" anchor="t"/>
          <a:lstStyle/>
          <a:p>
            <a:pPr marL="0" indent="0">
              <a:buNone/>
            </a:pPr>
            <a:r>
              <a:rPr lang="en-US" sz="1050" dirty="0">
                <a:solidFill>
                  <a:srgbClr val="5B6475"/>
                </a:solidFill>
                <a:latin typeface="Calibri" pitchFamily="34" charset="0"/>
                <a:ea typeface="Calibri" pitchFamily="34" charset="-122"/>
                <a:cs typeface="Calibri" pitchFamily="34" charset="-120"/>
              </a:rPr>
              <a:t>Cửa sổ pipeline cập nhật trực tiếp</a:t>
            </a:r>
            <a:endParaRPr lang="en-US" sz="1050" dirty="0"/>
          </a:p>
        </p:txBody>
      </p:sp>
      <p:sp>
        <p:nvSpPr>
          <p:cNvPr id="35" name="Shape 27"/>
          <p:cNvSpPr/>
          <p:nvPr/>
        </p:nvSpPr>
        <p:spPr>
          <a:xfrm>
            <a:off x="4663440" y="2971800"/>
            <a:ext cx="1920240" cy="1600200"/>
          </a:xfrm>
          <a:prstGeom prst="roundRect">
            <a:avLst>
              <a:gd name="adj" fmla="val 4571"/>
            </a:avLst>
          </a:prstGeom>
          <a:solidFill>
            <a:srgbClr val="EEF2F8"/>
          </a:solidFill>
          <a:ln w="12700">
            <a:solidFill>
              <a:srgbClr val="EEF2F8"/>
            </a:solidFill>
            <a:prstDash val="solid"/>
          </a:ln>
        </p:spPr>
        <p:txBody>
          <a:bodyPr/>
          <a:lstStyle/>
          <a:p>
            <a:endParaRPr lang="en-US"/>
          </a:p>
        </p:txBody>
      </p:sp>
      <p:sp>
        <p:nvSpPr>
          <p:cNvPr id="36" name="Shape 28"/>
          <p:cNvSpPr/>
          <p:nvPr/>
        </p:nvSpPr>
        <p:spPr>
          <a:xfrm>
            <a:off x="4846320" y="3154680"/>
            <a:ext cx="502920" cy="502920"/>
          </a:xfrm>
          <a:prstGeom prst="ellipse">
            <a:avLst/>
          </a:prstGeom>
          <a:solidFill>
            <a:srgbClr val="15203B"/>
          </a:solidFill>
          <a:ln w="12700">
            <a:solidFill>
              <a:srgbClr val="15203B"/>
            </a:solidFill>
            <a:prstDash val="solid"/>
          </a:ln>
        </p:spPr>
        <p:txBody>
          <a:bodyPr/>
          <a:lstStyle/>
          <a:p>
            <a:endParaRPr lang="en-US"/>
          </a:p>
        </p:txBody>
      </p:sp>
      <p:pic>
        <p:nvPicPr>
          <p:cNvPr id="37" name="Image 6" descr="preencoded.png"/>
          <p:cNvPicPr>
            <a:picLocks noChangeAspect="1"/>
          </p:cNvPicPr>
          <p:nvPr/>
        </p:nvPicPr>
        <p:blipFill>
          <a:blip r:embed="rId9"/>
          <a:stretch>
            <a:fillRect/>
          </a:stretch>
        </p:blipFill>
        <p:spPr>
          <a:xfrm>
            <a:off x="4956962" y="3265322"/>
            <a:ext cx="281635" cy="281635"/>
          </a:xfrm>
          <a:prstGeom prst="rect">
            <a:avLst/>
          </a:prstGeom>
        </p:spPr>
      </p:pic>
      <p:sp>
        <p:nvSpPr>
          <p:cNvPr id="38" name="Text 29"/>
          <p:cNvSpPr txBox="1"/>
          <p:nvPr/>
        </p:nvSpPr>
        <p:spPr>
          <a:xfrm>
            <a:off x="4846320" y="3749040"/>
            <a:ext cx="1600200" cy="292608"/>
          </a:xfrm>
          <a:prstGeom prst="rect">
            <a:avLst/>
          </a:prstGeom>
          <a:noFill/>
          <a:ln/>
        </p:spPr>
        <p:txBody>
          <a:bodyPr wrap="square" lIns="0" tIns="0" rIns="0" bIns="0" rtlCol="0" anchor="t"/>
          <a:lstStyle/>
          <a:p>
            <a:pPr marL="0" indent="0">
              <a:buNone/>
            </a:pPr>
            <a:r>
              <a:rPr lang="en-US" sz="1350" b="1" dirty="0">
                <a:solidFill>
                  <a:srgbClr val="15203B"/>
                </a:solidFill>
                <a:latin typeface="Calibri" pitchFamily="34" charset="0"/>
                <a:ea typeface="Calibri" pitchFamily="34" charset="-122"/>
                <a:cs typeface="Calibri" pitchFamily="34" charset="-120"/>
              </a:rPr>
              <a:t>TKD-Kick3 (Zenodo)</a:t>
            </a:r>
            <a:endParaRPr lang="en-US" sz="1350" dirty="0"/>
          </a:p>
        </p:txBody>
      </p:sp>
      <p:sp>
        <p:nvSpPr>
          <p:cNvPr id="39" name="Text 30"/>
          <p:cNvSpPr txBox="1"/>
          <p:nvPr/>
        </p:nvSpPr>
        <p:spPr>
          <a:xfrm>
            <a:off x="4846320" y="4041648"/>
            <a:ext cx="1600200" cy="475488"/>
          </a:xfrm>
          <a:prstGeom prst="rect">
            <a:avLst/>
          </a:prstGeom>
          <a:noFill/>
          <a:ln/>
        </p:spPr>
        <p:txBody>
          <a:bodyPr wrap="square" lIns="0" tIns="0" rIns="0" bIns="0" rtlCol="0" anchor="t"/>
          <a:lstStyle/>
          <a:p>
            <a:pPr marL="0" indent="0">
              <a:buNone/>
            </a:pPr>
            <a:r>
              <a:rPr lang="en-US" sz="1050" dirty="0">
                <a:solidFill>
                  <a:srgbClr val="5B6475"/>
                </a:solidFill>
                <a:latin typeface="Calibri" pitchFamily="34" charset="0"/>
                <a:ea typeface="Calibri" pitchFamily="34" charset="-122"/>
                <a:cs typeface="Calibri" pitchFamily="34" charset="-120"/>
              </a:rPr>
              <a:t>765 chuỗi pose đá, checkpoint, luật chấm gốc</a:t>
            </a:r>
            <a:endParaRPr lang="en-US" sz="1050" dirty="0"/>
          </a:p>
        </p:txBody>
      </p:sp>
      <p:sp>
        <p:nvSpPr>
          <p:cNvPr id="40" name="Shape 31"/>
          <p:cNvSpPr/>
          <p:nvPr/>
        </p:nvSpPr>
        <p:spPr>
          <a:xfrm>
            <a:off x="6766560" y="2971800"/>
            <a:ext cx="1920240" cy="1600200"/>
          </a:xfrm>
          <a:prstGeom prst="roundRect">
            <a:avLst>
              <a:gd name="adj" fmla="val 4571"/>
            </a:avLst>
          </a:prstGeom>
          <a:solidFill>
            <a:srgbClr val="EEF2F8"/>
          </a:solidFill>
          <a:ln w="12700">
            <a:solidFill>
              <a:srgbClr val="EEF2F8"/>
            </a:solidFill>
            <a:prstDash val="solid"/>
          </a:ln>
        </p:spPr>
        <p:txBody>
          <a:bodyPr/>
          <a:lstStyle/>
          <a:p>
            <a:endParaRPr lang="en-US"/>
          </a:p>
        </p:txBody>
      </p:sp>
      <p:sp>
        <p:nvSpPr>
          <p:cNvPr id="41" name="Shape 32"/>
          <p:cNvSpPr/>
          <p:nvPr/>
        </p:nvSpPr>
        <p:spPr>
          <a:xfrm>
            <a:off x="6949440" y="3154680"/>
            <a:ext cx="502920" cy="502920"/>
          </a:xfrm>
          <a:prstGeom prst="ellipse">
            <a:avLst/>
          </a:prstGeom>
          <a:solidFill>
            <a:srgbClr val="15203B"/>
          </a:solidFill>
          <a:ln w="12700">
            <a:solidFill>
              <a:srgbClr val="15203B"/>
            </a:solidFill>
            <a:prstDash val="solid"/>
          </a:ln>
        </p:spPr>
        <p:txBody>
          <a:bodyPr/>
          <a:lstStyle/>
          <a:p>
            <a:endParaRPr lang="en-US"/>
          </a:p>
        </p:txBody>
      </p:sp>
      <p:pic>
        <p:nvPicPr>
          <p:cNvPr id="42" name="Image 7" descr="preencoded.png"/>
          <p:cNvPicPr>
            <a:picLocks noChangeAspect="1"/>
          </p:cNvPicPr>
          <p:nvPr/>
        </p:nvPicPr>
        <p:blipFill>
          <a:blip r:embed="rId10"/>
          <a:stretch>
            <a:fillRect/>
          </a:stretch>
        </p:blipFill>
        <p:spPr>
          <a:xfrm>
            <a:off x="7060082" y="3265322"/>
            <a:ext cx="281635" cy="281635"/>
          </a:xfrm>
          <a:prstGeom prst="rect">
            <a:avLst/>
          </a:prstGeom>
        </p:spPr>
      </p:pic>
      <p:sp>
        <p:nvSpPr>
          <p:cNvPr id="43" name="Text 33"/>
          <p:cNvSpPr txBox="1"/>
          <p:nvPr/>
        </p:nvSpPr>
        <p:spPr>
          <a:xfrm>
            <a:off x="6949440" y="3749040"/>
            <a:ext cx="1600200" cy="292608"/>
          </a:xfrm>
          <a:prstGeom prst="rect">
            <a:avLst/>
          </a:prstGeom>
          <a:noFill/>
          <a:ln/>
        </p:spPr>
        <p:txBody>
          <a:bodyPr wrap="square" lIns="0" tIns="0" rIns="0" bIns="0" rtlCol="0" anchor="t"/>
          <a:lstStyle/>
          <a:p>
            <a:pPr marL="0" indent="0">
              <a:buNone/>
            </a:pPr>
            <a:r>
              <a:rPr lang="en-US" sz="1350" b="1" dirty="0">
                <a:solidFill>
                  <a:srgbClr val="15203B"/>
                </a:solidFill>
                <a:latin typeface="Calibri" pitchFamily="34" charset="0"/>
                <a:ea typeface="Calibri" pitchFamily="34" charset="-122"/>
                <a:cs typeface="Calibri" pitchFamily="34" charset="-120"/>
              </a:rPr>
              <a:t>PowerShell / CLI</a:t>
            </a:r>
            <a:endParaRPr lang="en-US" sz="1350" dirty="0"/>
          </a:p>
        </p:txBody>
      </p:sp>
      <p:sp>
        <p:nvSpPr>
          <p:cNvPr id="44" name="Text 34"/>
          <p:cNvSpPr txBox="1"/>
          <p:nvPr/>
        </p:nvSpPr>
        <p:spPr>
          <a:xfrm>
            <a:off x="6949440" y="4041648"/>
            <a:ext cx="1600200" cy="475488"/>
          </a:xfrm>
          <a:prstGeom prst="rect">
            <a:avLst/>
          </a:prstGeom>
          <a:noFill/>
          <a:ln/>
        </p:spPr>
        <p:txBody>
          <a:bodyPr wrap="square" lIns="0" tIns="0" rIns="0" bIns="0" rtlCol="0" anchor="t"/>
          <a:lstStyle/>
          <a:p>
            <a:pPr marL="0" indent="0">
              <a:buNone/>
            </a:pPr>
            <a:r>
              <a:rPr lang="en-US" sz="1050" dirty="0">
                <a:solidFill>
                  <a:srgbClr val="5B6475"/>
                </a:solidFill>
                <a:latin typeface="Calibri" pitchFamily="34" charset="0"/>
                <a:ea typeface="Calibri" pitchFamily="34" charset="-122"/>
                <a:cs typeface="Calibri" pitchFamily="34" charset="-120"/>
              </a:rPr>
              <a:t>Chạy lệnh, xuất JSON / CSV / ảnh</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56032"/>
            <a:ext cx="8229600" cy="237744"/>
          </a:xfrm>
          <a:prstGeom prst="rect">
            <a:avLst/>
          </a:prstGeom>
          <a:noFill/>
          <a:ln/>
        </p:spPr>
        <p:txBody>
          <a:bodyPr wrap="square" lIns="0" tIns="0" rIns="0" bIns="0" rtlCol="0" anchor="t"/>
          <a:lstStyle/>
          <a:p>
            <a:pPr marL="0" indent="0">
              <a:buNone/>
            </a:pPr>
            <a:r>
              <a:rPr lang="en-US" sz="1100" b="1" kern="0" spc="200" dirty="0">
                <a:solidFill>
                  <a:srgbClr val="C8102E"/>
                </a:solidFill>
                <a:latin typeface="Calibri" pitchFamily="34" charset="0"/>
                <a:ea typeface="Calibri" pitchFamily="34" charset="-122"/>
                <a:cs typeface="Calibri" pitchFamily="34" charset="-120"/>
              </a:rPr>
              <a:t>INPUT</a:t>
            </a:r>
            <a:endParaRPr lang="en-US" sz="1100" dirty="0"/>
          </a:p>
        </p:txBody>
      </p:sp>
      <p:sp>
        <p:nvSpPr>
          <p:cNvPr id="3" name="Text 1"/>
          <p:cNvSpPr txBox="1"/>
          <p:nvPr/>
        </p:nvSpPr>
        <p:spPr>
          <a:xfrm>
            <a:off x="457200" y="502920"/>
            <a:ext cx="8229600" cy="548640"/>
          </a:xfrm>
          <a:prstGeom prst="rect">
            <a:avLst/>
          </a:prstGeom>
          <a:noFill/>
          <a:ln/>
        </p:spPr>
        <p:txBody>
          <a:bodyPr wrap="square" lIns="0" tIns="0" rIns="0" bIns="0" rtlCol="0" anchor="ctr"/>
          <a:lstStyle/>
          <a:p>
            <a:pPr marL="0" indent="0">
              <a:buNone/>
            </a:pPr>
            <a:r>
              <a:rPr lang="en-US" sz="2800" b="1" dirty="0">
                <a:solidFill>
                  <a:srgbClr val="15203B"/>
                </a:solidFill>
                <a:latin typeface="Cambria" pitchFamily="34" charset="0"/>
                <a:ea typeface="Cambria" pitchFamily="34" charset="-122"/>
                <a:cs typeface="Cambria" pitchFamily="34" charset="-120"/>
              </a:rPr>
              <a:t>Đầu vào: video và tham số lệnh</a:t>
            </a:r>
            <a:endParaRPr lang="en-US" sz="2800" dirty="0"/>
          </a:p>
        </p:txBody>
      </p:sp>
      <p:sp>
        <p:nvSpPr>
          <p:cNvPr id="4" name="Text 2"/>
          <p:cNvSpPr txBox="1"/>
          <p:nvPr/>
        </p:nvSpPr>
        <p:spPr>
          <a:xfrm>
            <a:off x="8229600" y="4800600"/>
            <a:ext cx="457200" cy="201168"/>
          </a:xfrm>
          <a:prstGeom prst="rect">
            <a:avLst/>
          </a:prstGeom>
          <a:noFill/>
          <a:ln/>
        </p:spPr>
        <p:txBody>
          <a:bodyPr wrap="square" lIns="0" tIns="0" rIns="0" bIns="0" rtlCol="0" anchor="t"/>
          <a:lstStyle/>
          <a:p>
            <a:pPr marL="0" indent="0" algn="r">
              <a:buNone/>
            </a:pPr>
            <a:r>
              <a:rPr lang="en-US" sz="900" dirty="0">
                <a:solidFill>
                  <a:srgbClr val="5B6475"/>
                </a:solidFill>
                <a:latin typeface="Calibri" pitchFamily="34" charset="0"/>
                <a:ea typeface="Calibri" pitchFamily="34" charset="-122"/>
                <a:cs typeface="Calibri" pitchFamily="34" charset="-120"/>
              </a:rPr>
              <a:t>5</a:t>
            </a:r>
            <a:endParaRPr lang="en-US" sz="900" dirty="0"/>
          </a:p>
        </p:txBody>
      </p:sp>
      <p:sp>
        <p:nvSpPr>
          <p:cNvPr id="5" name="Shape 3"/>
          <p:cNvSpPr/>
          <p:nvPr/>
        </p:nvSpPr>
        <p:spPr>
          <a:xfrm>
            <a:off x="457200" y="1188720"/>
            <a:ext cx="3291840" cy="3520440"/>
          </a:xfrm>
          <a:prstGeom prst="roundRect">
            <a:avLst>
              <a:gd name="adj" fmla="val 2222"/>
            </a:avLst>
          </a:prstGeom>
          <a:solidFill>
            <a:srgbClr val="15203B"/>
          </a:solidFill>
          <a:ln w="12700">
            <a:solidFill>
              <a:srgbClr val="15203B"/>
            </a:solidFill>
            <a:prstDash val="solid"/>
          </a:ln>
        </p:spPr>
        <p:txBody>
          <a:bodyPr/>
          <a:lstStyle/>
          <a:p>
            <a:endParaRPr lang="en-US"/>
          </a:p>
        </p:txBody>
      </p:sp>
      <p:sp>
        <p:nvSpPr>
          <p:cNvPr id="6" name="Shape 4"/>
          <p:cNvSpPr/>
          <p:nvPr/>
        </p:nvSpPr>
        <p:spPr>
          <a:xfrm>
            <a:off x="685800" y="1371600"/>
            <a:ext cx="548640" cy="548640"/>
          </a:xfrm>
          <a:prstGeom prst="ellipse">
            <a:avLst/>
          </a:prstGeom>
          <a:solidFill>
            <a:srgbClr val="C8102E"/>
          </a:solidFill>
          <a:ln w="12700">
            <a:solidFill>
              <a:srgbClr val="C8102E"/>
            </a:solidFill>
            <a:prstDash val="solid"/>
          </a:ln>
        </p:spPr>
        <p:txBody>
          <a:bodyPr/>
          <a:lstStyle/>
          <a:p>
            <a:endParaRPr lang="en-US"/>
          </a:p>
        </p:txBody>
      </p:sp>
      <p:pic>
        <p:nvPicPr>
          <p:cNvPr id="7" name="Image 0" descr="preencoded.png"/>
          <p:cNvPicPr>
            <a:picLocks noChangeAspect="1"/>
          </p:cNvPicPr>
          <p:nvPr/>
        </p:nvPicPr>
        <p:blipFill>
          <a:blip r:embed="rId3"/>
          <a:stretch>
            <a:fillRect/>
          </a:stretch>
        </p:blipFill>
        <p:spPr>
          <a:xfrm>
            <a:off x="806501" y="1492301"/>
            <a:ext cx="307238" cy="307238"/>
          </a:xfrm>
          <a:prstGeom prst="rect">
            <a:avLst/>
          </a:prstGeom>
        </p:spPr>
      </p:pic>
      <p:sp>
        <p:nvSpPr>
          <p:cNvPr id="8" name="Text 5"/>
          <p:cNvSpPr txBox="1"/>
          <p:nvPr/>
        </p:nvSpPr>
        <p:spPr>
          <a:xfrm>
            <a:off x="1371600" y="1371600"/>
            <a:ext cx="2194560" cy="548640"/>
          </a:xfrm>
          <a:prstGeom prst="rect">
            <a:avLst/>
          </a:prstGeom>
          <a:noFill/>
          <a:ln/>
        </p:spPr>
        <p:txBody>
          <a:bodyPr wrap="square" lIns="0" tIns="0" rIns="0" bIns="0" rtlCol="0" anchor="ctr"/>
          <a:lstStyle/>
          <a:p>
            <a:pPr marL="0" indent="0">
              <a:buNone/>
            </a:pPr>
            <a:r>
              <a:rPr lang="en-US" sz="1700" b="1" dirty="0">
                <a:solidFill>
                  <a:srgbClr val="FFFFFF"/>
                </a:solidFill>
                <a:latin typeface="Cambria" pitchFamily="34" charset="0"/>
                <a:ea typeface="Cambria" pitchFamily="34" charset="-122"/>
                <a:cs typeface="Cambria" pitchFamily="34" charset="-120"/>
              </a:rPr>
              <a:t>Video đầu vào</a:t>
            </a:r>
            <a:endParaRPr lang="en-US" sz="1700" dirty="0"/>
          </a:p>
        </p:txBody>
      </p:sp>
      <p:sp>
        <p:nvSpPr>
          <p:cNvPr id="9" name="Text 6"/>
          <p:cNvSpPr txBox="1"/>
          <p:nvPr/>
        </p:nvSpPr>
        <p:spPr>
          <a:xfrm>
            <a:off x="685800" y="2103120"/>
            <a:ext cx="2880360" cy="2468880"/>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rgbClr val="FFFFFF"/>
                </a:solidFill>
                <a:latin typeface="Calibri" pitchFamily="34" charset="0"/>
                <a:ea typeface="Calibri" pitchFamily="34" charset="-122"/>
                <a:cs typeface="Calibri" pitchFamily="34" charset="-120"/>
              </a:rPr>
              <a:t>Định dạng .mp4 .mov .avi .mkv</a:t>
            </a:r>
            <a:endParaRPr lang="en-US" sz="1250" dirty="0"/>
          </a:p>
          <a:p>
            <a:pPr marL="342900" indent="-342900">
              <a:spcAft>
                <a:spcPts val="600"/>
              </a:spcAft>
              <a:buSzPct val="100000"/>
              <a:buChar char="•"/>
            </a:pPr>
            <a:r>
              <a:rPr lang="en-US" sz="1250" dirty="0">
                <a:solidFill>
                  <a:srgbClr val="FFFFFF"/>
                </a:solidFill>
                <a:latin typeface="Calibri" pitchFamily="34" charset="0"/>
                <a:ea typeface="Calibri" pitchFamily="34" charset="-122"/>
                <a:cs typeface="Calibri" pitchFamily="34" charset="-120"/>
              </a:rPr>
              <a:t>Một người, thấy toàn thân</a:t>
            </a:r>
            <a:endParaRPr lang="en-US" sz="1250" dirty="0"/>
          </a:p>
          <a:p>
            <a:pPr marL="342900" indent="-342900">
              <a:spcAft>
                <a:spcPts val="600"/>
              </a:spcAft>
              <a:buSzPct val="100000"/>
              <a:buChar char="•"/>
            </a:pPr>
            <a:r>
              <a:rPr lang="en-US" sz="1250" dirty="0">
                <a:solidFill>
                  <a:srgbClr val="FFFFFF"/>
                </a:solidFill>
                <a:latin typeface="Calibri" pitchFamily="34" charset="0"/>
                <a:ea typeface="Calibri" pitchFamily="34" charset="-122"/>
                <a:cs typeface="Calibri" pitchFamily="34" charset="-120"/>
              </a:rPr>
              <a:t>Góc chính diện hoặc chéo ~45°</a:t>
            </a:r>
            <a:endParaRPr lang="en-US" sz="1250" dirty="0"/>
          </a:p>
          <a:p>
            <a:pPr marL="342900" indent="-342900">
              <a:spcAft>
                <a:spcPts val="600"/>
              </a:spcAft>
              <a:buSzPct val="100000"/>
              <a:buChar char="•"/>
            </a:pPr>
            <a:r>
              <a:rPr lang="en-US" sz="1250" dirty="0">
                <a:solidFill>
                  <a:srgbClr val="FFFFFF"/>
                </a:solidFill>
                <a:latin typeface="Calibri" pitchFamily="34" charset="0"/>
                <a:ea typeface="Calibri" pitchFamily="34" charset="-122"/>
                <a:cs typeface="Calibri" pitchFamily="34" charset="-120"/>
              </a:rPr>
              <a:t>Mỗi video một lần thực hiện, dài 1–3 giây</a:t>
            </a:r>
            <a:endParaRPr lang="en-US" sz="1250" dirty="0"/>
          </a:p>
          <a:p>
            <a:pPr marL="342900" indent="-342900">
              <a:spcAft>
                <a:spcPts val="600"/>
              </a:spcAft>
              <a:buSzPct val="100000"/>
              <a:buChar char="•"/>
            </a:pPr>
            <a:r>
              <a:rPr lang="en-US" sz="1250" dirty="0">
                <a:solidFill>
                  <a:srgbClr val="FFFFFF"/>
                </a:solidFill>
                <a:latin typeface="Calibri" pitchFamily="34" charset="0"/>
                <a:ea typeface="Calibri" pitchFamily="34" charset="-122"/>
                <a:cs typeface="Calibri" pitchFamily="34" charset="-120"/>
              </a:rPr>
              <a:t>Nên có ~0,3 s thủ trước và ~0,5 s sau động tác</a:t>
            </a:r>
            <a:endParaRPr lang="en-US" sz="125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4023360" y="1188720"/>
          <a:ext cx="4663440" cy="3200400"/>
        </p:xfrm>
        <a:graphic>
          <a:graphicData uri="http://schemas.openxmlformats.org/drawingml/2006/table">
            <a:tbl>
              <a:tblPr/>
              <a:tblGrid>
                <a:gridCol w="1664208">
                  <a:extLst>
                    <a:ext uri="{9D8B030D-6E8A-4147-A177-3AD203B41FA5}">
                      <a16:colId xmlns:a16="http://schemas.microsoft.com/office/drawing/2014/main" val="20000"/>
                    </a:ext>
                  </a:extLst>
                </a:gridCol>
                <a:gridCol w="1673352">
                  <a:extLst>
                    <a:ext uri="{9D8B030D-6E8A-4147-A177-3AD203B41FA5}">
                      <a16:colId xmlns:a16="http://schemas.microsoft.com/office/drawing/2014/main" val="20001"/>
                    </a:ext>
                  </a:extLst>
                </a:gridCol>
                <a:gridCol w="1325880">
                  <a:extLst>
                    <a:ext uri="{9D8B030D-6E8A-4147-A177-3AD203B41FA5}">
                      <a16:colId xmlns:a16="http://schemas.microsoft.com/office/drawing/2014/main" val="20002"/>
                    </a:ext>
                  </a:extLst>
                </a:gridCol>
              </a:tblGrid>
              <a:tr h="457200">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Lệnh</a:t>
                      </a:r>
                      <a:endParaRPr lang="en-US" sz="1050" dirty="0">
                        <a:latin typeface="Calibri" charset="0"/>
                        <a:ea typeface="Calibri" charset="0"/>
                        <a:cs typeface="Calibri" charset="0"/>
                      </a:endParaRPr>
                    </a:p>
                  </a:txBody>
                  <a:tcPr marL="54864" marR="54864" marT="54864" marB="54864"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15203B"/>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Tham số</a:t>
                      </a:r>
                      <a:endParaRPr lang="en-US" sz="1050" dirty="0">
                        <a:latin typeface="Calibri" charset="0"/>
                        <a:ea typeface="Calibri" charset="0"/>
                        <a:cs typeface="Calibri" charset="0"/>
                      </a:endParaRPr>
                    </a:p>
                  </a:txBody>
                  <a:tcPr marL="54864" marR="54864" marT="54864" marB="54864"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15203B"/>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Ý nghĩa</a:t>
                      </a:r>
                      <a:endParaRPr lang="en-US" sz="1050" dirty="0">
                        <a:latin typeface="Calibri" charset="0"/>
                        <a:ea typeface="Calibri" charset="0"/>
                        <a:cs typeface="Calibri" charset="0"/>
                      </a:endParaRPr>
                    </a:p>
                  </a:txBody>
                  <a:tcPr marL="54864" marR="54864" marT="54864" marB="54864"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15203B"/>
                    </a:solidFill>
                  </a:tcPr>
                </a:tc>
                <a:extLst>
                  <a:ext uri="{0D108BD9-81ED-4DB2-BD59-A6C34878D82A}">
                    <a16:rowId xmlns:a16="http://schemas.microsoft.com/office/drawing/2014/main" val="10000"/>
                  </a:ext>
                </a:extLst>
              </a:tr>
              <a:tr h="457200">
                <a:tc>
                  <a:txBody>
                    <a:bodyPr/>
                    <a:lstStyle/>
                    <a:p>
                      <a:pPr marL="0" indent="0">
                        <a:buNone/>
                      </a:pPr>
                      <a:r>
                        <a:rPr lang="en-US" sz="950" dirty="0">
                          <a:solidFill>
                            <a:srgbClr val="1E2533"/>
                          </a:solidFill>
                          <a:latin typeface="Courier New" pitchFamily="34" charset="0"/>
                          <a:ea typeface="Courier New" pitchFamily="34" charset="-122"/>
                          <a:cs typeface="Courier New" pitchFamily="34" charset="-120"/>
                        </a:rPr>
                        <a:t>infer_video.py</a:t>
                      </a:r>
                      <a:endParaRPr lang="en-US" sz="950" dirty="0">
                        <a:latin typeface="Courier New" charset="0"/>
                        <a:ea typeface="Courier New" charset="0"/>
                        <a:cs typeface="Courier New" charset="0"/>
                      </a:endParaRPr>
                    </a:p>
                  </a:txBody>
                  <a:tcPr marL="54864" marR="54864" marT="54864" marB="54864"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tcPr>
                </a:tc>
                <a:tc>
                  <a:txBody>
                    <a:bodyPr/>
                    <a:lstStyle/>
                    <a:p>
                      <a:pPr marL="0" indent="0">
                        <a:buNone/>
                      </a:pPr>
                      <a:r>
                        <a:rPr lang="en-US" sz="1050" dirty="0">
                          <a:solidFill>
                            <a:srgbClr val="1E2533"/>
                          </a:solidFill>
                          <a:latin typeface="Calibri" pitchFamily="34" charset="0"/>
                          <a:ea typeface="Calibri" pitchFamily="34" charset="-122"/>
                          <a:cs typeface="Calibri" pitchFamily="34" charset="-120"/>
                        </a:rPr>
                        <a:t>(không cần)</a:t>
                      </a:r>
                      <a:endParaRPr lang="en-US" sz="1050" dirty="0">
                        <a:latin typeface="Calibri" charset="0"/>
                        <a:ea typeface="Calibri" charset="0"/>
                        <a:cs typeface="Calibri" charset="0"/>
                      </a:endParaRPr>
                    </a:p>
                  </a:txBody>
                  <a:tcPr marL="54864" marR="54864" marT="54864" marB="54864"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tcPr>
                </a:tc>
                <a:tc>
                  <a:txBody>
                    <a:bodyPr/>
                    <a:lstStyle/>
                    <a:p>
                      <a:pPr marL="0" indent="0">
                        <a:buNone/>
                      </a:pPr>
                      <a:r>
                        <a:rPr lang="en-US" sz="1050" dirty="0">
                          <a:solidFill>
                            <a:srgbClr val="1E2533"/>
                          </a:solidFill>
                          <a:latin typeface="Calibri" pitchFamily="34" charset="0"/>
                          <a:ea typeface="Calibri" pitchFamily="34" charset="-122"/>
                          <a:cs typeface="Calibri" pitchFamily="34" charset="-120"/>
                        </a:rPr>
                        <a:t>Đá: model tự nhận dạng đòn</a:t>
                      </a:r>
                      <a:endParaRPr lang="en-US" sz="1050" dirty="0">
                        <a:latin typeface="Calibri" charset="0"/>
                        <a:ea typeface="Calibri" charset="0"/>
                        <a:cs typeface="Calibri" charset="0"/>
                      </a:endParaRPr>
                    </a:p>
                  </a:txBody>
                  <a:tcPr marL="54864" marR="54864" marT="54864" marB="54864"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tcPr>
                </a:tc>
                <a:extLst>
                  <a:ext uri="{0D108BD9-81ED-4DB2-BD59-A6C34878D82A}">
                    <a16:rowId xmlns:a16="http://schemas.microsoft.com/office/drawing/2014/main" val="10001"/>
                  </a:ext>
                </a:extLst>
              </a:tr>
              <a:tr h="457200">
                <a:tc>
                  <a:txBody>
                    <a:bodyPr/>
                    <a:lstStyle/>
                    <a:p>
                      <a:pPr marL="0" indent="0">
                        <a:buNone/>
                      </a:pPr>
                      <a:r>
                        <a:rPr lang="en-US" sz="950" dirty="0">
                          <a:solidFill>
                            <a:srgbClr val="1E2533"/>
                          </a:solidFill>
                          <a:latin typeface="Courier New" pitchFamily="34" charset="0"/>
                          <a:ea typeface="Courier New" pitchFamily="34" charset="-122"/>
                          <a:cs typeface="Courier New" pitchFamily="34" charset="-120"/>
                        </a:rPr>
                        <a:t>infer_video.py</a:t>
                      </a:r>
                      <a:endParaRPr lang="en-US" sz="950" dirty="0">
                        <a:latin typeface="Courier New" charset="0"/>
                        <a:ea typeface="Courier New" charset="0"/>
                        <a:cs typeface="Courier New" charset="0"/>
                      </a:endParaRPr>
                    </a:p>
                  </a:txBody>
                  <a:tcPr marL="54864" marR="54864" marT="54864" marB="54864"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tcPr>
                </a:tc>
                <a:tc>
                  <a:txBody>
                    <a:bodyPr/>
                    <a:lstStyle/>
                    <a:p>
                      <a:pPr marL="0" indent="0">
                        <a:buNone/>
                      </a:pPr>
                      <a:r>
                        <a:rPr lang="en-US" sz="950" dirty="0">
                          <a:solidFill>
                            <a:srgbClr val="1E2533"/>
                          </a:solidFill>
                          <a:latin typeface="Courier New" pitchFamily="34" charset="0"/>
                          <a:ea typeface="Courier New" pitchFamily="34" charset="-122"/>
                          <a:cs typeface="Courier New" pitchFamily="34" charset="-120"/>
                        </a:rPr>
                        <a:t>--kick front / roundhouse / axe</a:t>
                      </a:r>
                      <a:endParaRPr lang="en-US" sz="950" dirty="0">
                        <a:latin typeface="Courier New" charset="0"/>
                        <a:ea typeface="Courier New" charset="0"/>
                        <a:cs typeface="Courier New" charset="0"/>
                      </a:endParaRPr>
                    </a:p>
                  </a:txBody>
                  <a:tcPr marL="54864" marR="54864" marT="54864" marB="54864"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tcPr>
                </a:tc>
                <a:tc>
                  <a:txBody>
                    <a:bodyPr/>
                    <a:lstStyle/>
                    <a:p>
                      <a:pPr marL="0" indent="0">
                        <a:buNone/>
                      </a:pPr>
                      <a:r>
                        <a:rPr lang="en-US" sz="1050" dirty="0">
                          <a:solidFill>
                            <a:srgbClr val="1E2533"/>
                          </a:solidFill>
                          <a:latin typeface="Calibri" pitchFamily="34" charset="0"/>
                          <a:ea typeface="Calibri" pitchFamily="34" charset="-122"/>
                          <a:cs typeface="Calibri" pitchFamily="34" charset="-120"/>
                        </a:rPr>
                        <a:t>Đá: tự chọn đòn để chấm</a:t>
                      </a:r>
                      <a:endParaRPr lang="en-US" sz="1050" dirty="0">
                        <a:latin typeface="Calibri" charset="0"/>
                        <a:ea typeface="Calibri" charset="0"/>
                        <a:cs typeface="Calibri" charset="0"/>
                      </a:endParaRPr>
                    </a:p>
                  </a:txBody>
                  <a:tcPr marL="54864" marR="54864" marT="54864" marB="54864"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tcPr>
                </a:tc>
                <a:extLst>
                  <a:ext uri="{0D108BD9-81ED-4DB2-BD59-A6C34878D82A}">
                    <a16:rowId xmlns:a16="http://schemas.microsoft.com/office/drawing/2014/main" val="10002"/>
                  </a:ext>
                </a:extLst>
              </a:tr>
              <a:tr h="457200">
                <a:tc>
                  <a:txBody>
                    <a:bodyPr/>
                    <a:lstStyle/>
                    <a:p>
                      <a:pPr marL="0" indent="0">
                        <a:buNone/>
                      </a:pPr>
                      <a:r>
                        <a:rPr lang="en-US" sz="950" dirty="0">
                          <a:solidFill>
                            <a:srgbClr val="1E2533"/>
                          </a:solidFill>
                          <a:latin typeface="Courier New" pitchFamily="34" charset="0"/>
                          <a:ea typeface="Courier New" pitchFamily="34" charset="-122"/>
                          <a:cs typeface="Courier New" pitchFamily="34" charset="-120"/>
                        </a:rPr>
                        <a:t>infer_punch_video.py</a:t>
                      </a:r>
                      <a:endParaRPr lang="en-US" sz="950" dirty="0">
                        <a:latin typeface="Courier New" charset="0"/>
                        <a:ea typeface="Courier New" charset="0"/>
                        <a:cs typeface="Courier New" charset="0"/>
                      </a:endParaRPr>
                    </a:p>
                  </a:txBody>
                  <a:tcPr marL="54864" marR="54864" marT="54864" marB="54864"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tcPr>
                </a:tc>
                <a:tc>
                  <a:txBody>
                    <a:bodyPr/>
                    <a:lstStyle/>
                    <a:p>
                      <a:pPr marL="0" indent="0">
                        <a:buNone/>
                      </a:pPr>
                      <a:r>
                        <a:rPr lang="en-US" sz="950" dirty="0">
                          <a:solidFill>
                            <a:srgbClr val="1E2533"/>
                          </a:solidFill>
                          <a:latin typeface="Courier New" pitchFamily="34" charset="0"/>
                          <a:ea typeface="Courier New" pitchFamily="34" charset="-122"/>
                          <a:cs typeface="Courier New" pitchFamily="34" charset="-120"/>
                        </a:rPr>
                        <a:t>--punch hook / straight</a:t>
                      </a:r>
                      <a:endParaRPr lang="en-US" sz="950" dirty="0">
                        <a:latin typeface="Courier New" charset="0"/>
                        <a:ea typeface="Courier New" charset="0"/>
                        <a:cs typeface="Courier New" charset="0"/>
                      </a:endParaRPr>
                    </a:p>
                  </a:txBody>
                  <a:tcPr marL="54864" marR="54864" marT="54864" marB="54864"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tcPr>
                </a:tc>
                <a:tc>
                  <a:txBody>
                    <a:bodyPr/>
                    <a:lstStyle/>
                    <a:p>
                      <a:pPr marL="0" indent="0">
                        <a:buNone/>
                      </a:pPr>
                      <a:r>
                        <a:rPr lang="en-US" sz="1050" dirty="0">
                          <a:solidFill>
                            <a:srgbClr val="1E2533"/>
                          </a:solidFill>
                          <a:latin typeface="Calibri" pitchFamily="34" charset="0"/>
                          <a:ea typeface="Calibri" pitchFamily="34" charset="-122"/>
                          <a:cs typeface="Calibri" pitchFamily="34" charset="-120"/>
                        </a:rPr>
                        <a:t>Đấm: loại đấm (bắt buộc)</a:t>
                      </a:r>
                      <a:endParaRPr lang="en-US" sz="1050" dirty="0">
                        <a:latin typeface="Calibri" charset="0"/>
                        <a:ea typeface="Calibri" charset="0"/>
                        <a:cs typeface="Calibri" charset="0"/>
                      </a:endParaRPr>
                    </a:p>
                  </a:txBody>
                  <a:tcPr marL="54864" marR="54864" marT="54864" marB="54864"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tcPr>
                </a:tc>
                <a:extLst>
                  <a:ext uri="{0D108BD9-81ED-4DB2-BD59-A6C34878D82A}">
                    <a16:rowId xmlns:a16="http://schemas.microsoft.com/office/drawing/2014/main" val="10003"/>
                  </a:ext>
                </a:extLst>
              </a:tr>
              <a:tr h="457200">
                <a:tc>
                  <a:txBody>
                    <a:bodyPr/>
                    <a:lstStyle/>
                    <a:p>
                      <a:pPr marL="0" indent="0">
                        <a:buNone/>
                      </a:pPr>
                      <a:r>
                        <a:rPr lang="en-US" sz="950" dirty="0">
                          <a:solidFill>
                            <a:srgbClr val="1E2533"/>
                          </a:solidFill>
                          <a:latin typeface="Courier New" pitchFamily="34" charset="0"/>
                          <a:ea typeface="Courier New" pitchFamily="34" charset="-122"/>
                          <a:cs typeface="Courier New" pitchFamily="34" charset="-120"/>
                        </a:rPr>
                        <a:t>infer_punch_video.py</a:t>
                      </a:r>
                      <a:endParaRPr lang="en-US" sz="950" dirty="0">
                        <a:latin typeface="Courier New" charset="0"/>
                        <a:ea typeface="Courier New" charset="0"/>
                        <a:cs typeface="Courier New" charset="0"/>
                      </a:endParaRPr>
                    </a:p>
                  </a:txBody>
                  <a:tcPr marL="54864" marR="54864" marT="54864" marB="54864"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tcPr>
                </a:tc>
                <a:tc>
                  <a:txBody>
                    <a:bodyPr/>
                    <a:lstStyle/>
                    <a:p>
                      <a:pPr marL="0" indent="0">
                        <a:buNone/>
                      </a:pPr>
                      <a:r>
                        <a:rPr lang="en-US" sz="950" dirty="0">
                          <a:solidFill>
                            <a:srgbClr val="1E2533"/>
                          </a:solidFill>
                          <a:latin typeface="Courier New" pitchFamily="34" charset="0"/>
                          <a:ea typeface="Courier New" pitchFamily="34" charset="-122"/>
                          <a:cs typeface="Courier New" pitchFamily="34" charset="-120"/>
                        </a:rPr>
                        <a:t>--guard chin / waist</a:t>
                      </a:r>
                      <a:endParaRPr lang="en-US" sz="950" dirty="0">
                        <a:latin typeface="Courier New" charset="0"/>
                        <a:ea typeface="Courier New" charset="0"/>
                        <a:cs typeface="Courier New" charset="0"/>
                      </a:endParaRPr>
                    </a:p>
                  </a:txBody>
                  <a:tcPr marL="54864" marR="54864" marT="54864" marB="54864"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tcPr>
                </a:tc>
                <a:tc>
                  <a:txBody>
                    <a:bodyPr/>
                    <a:lstStyle/>
                    <a:p>
                      <a:pPr marL="0" indent="0">
                        <a:buNone/>
                      </a:pPr>
                      <a:r>
                        <a:rPr lang="en-US" sz="1050" dirty="0">
                          <a:solidFill>
                            <a:srgbClr val="1E2533"/>
                          </a:solidFill>
                          <a:latin typeface="Calibri" pitchFamily="34" charset="0"/>
                          <a:ea typeface="Calibri" pitchFamily="34" charset="-122"/>
                          <a:cs typeface="Calibri" pitchFamily="34" charset="-120"/>
                        </a:rPr>
                        <a:t>Kiểu thủ: ở cằm / ở hông</a:t>
                      </a:r>
                      <a:endParaRPr lang="en-US" sz="1050" dirty="0">
                        <a:latin typeface="Calibri" charset="0"/>
                        <a:ea typeface="Calibri" charset="0"/>
                        <a:cs typeface="Calibri" charset="0"/>
                      </a:endParaRPr>
                    </a:p>
                  </a:txBody>
                  <a:tcPr marL="54864" marR="54864" marT="54864" marB="54864"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tcPr>
                </a:tc>
                <a:extLst>
                  <a:ext uri="{0D108BD9-81ED-4DB2-BD59-A6C34878D82A}">
                    <a16:rowId xmlns:a16="http://schemas.microsoft.com/office/drawing/2014/main" val="10004"/>
                  </a:ext>
                </a:extLst>
              </a:tr>
              <a:tr h="457200">
                <a:tc>
                  <a:txBody>
                    <a:bodyPr/>
                    <a:lstStyle/>
                    <a:p>
                      <a:pPr marL="0" indent="0">
                        <a:buNone/>
                      </a:pPr>
                      <a:r>
                        <a:rPr lang="en-US" sz="1050" dirty="0">
                          <a:solidFill>
                            <a:srgbClr val="1E2533"/>
                          </a:solidFill>
                          <a:latin typeface="Calibri" pitchFamily="34" charset="0"/>
                          <a:ea typeface="Calibri" pitchFamily="34" charset="-122"/>
                          <a:cs typeface="Calibri" pitchFamily="34" charset="-120"/>
                        </a:rPr>
                        <a:t>Cả hai</a:t>
                      </a:r>
                      <a:endParaRPr lang="en-US" sz="1050" dirty="0">
                        <a:latin typeface="Calibri" charset="0"/>
                        <a:ea typeface="Calibri" charset="0"/>
                        <a:cs typeface="Calibri" charset="0"/>
                      </a:endParaRPr>
                    </a:p>
                  </a:txBody>
                  <a:tcPr marL="54864" marR="54864" marT="54864" marB="54864"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tcPr>
                </a:tc>
                <a:tc>
                  <a:txBody>
                    <a:bodyPr/>
                    <a:lstStyle/>
                    <a:p>
                      <a:pPr marL="0" indent="0">
                        <a:buNone/>
                      </a:pPr>
                      <a:r>
                        <a:rPr lang="en-US" sz="950" dirty="0">
                          <a:solidFill>
                            <a:srgbClr val="1E2533"/>
                          </a:solidFill>
                          <a:latin typeface="Courier New" pitchFamily="34" charset="0"/>
                          <a:ea typeface="Courier New" pitchFamily="34" charset="-122"/>
                          <a:cs typeface="Courier New" pitchFamily="34" charset="-120"/>
                        </a:rPr>
                        <a:t>--window off · --out · --csv</a:t>
                      </a:r>
                      <a:endParaRPr lang="en-US" sz="950" dirty="0">
                        <a:latin typeface="Courier New" charset="0"/>
                        <a:ea typeface="Courier New" charset="0"/>
                        <a:cs typeface="Courier New" charset="0"/>
                      </a:endParaRPr>
                    </a:p>
                  </a:txBody>
                  <a:tcPr marL="54864" marR="54864" marT="54864" marB="54864"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tcPr>
                </a:tc>
                <a:tc>
                  <a:txBody>
                    <a:bodyPr/>
                    <a:lstStyle/>
                    <a:p>
                      <a:pPr marL="0" indent="0">
                        <a:buNone/>
                      </a:pPr>
                      <a:r>
                        <a:rPr lang="en-US" sz="1050" dirty="0">
                          <a:solidFill>
                            <a:srgbClr val="1E2533"/>
                          </a:solidFill>
                          <a:latin typeface="Calibri" pitchFamily="34" charset="0"/>
                          <a:ea typeface="Calibri" pitchFamily="34" charset="-122"/>
                          <a:cs typeface="Calibri" pitchFamily="34" charset="-120"/>
                        </a:rPr>
                        <a:t>Tắt cửa sổ, lưu JSON / CSV</a:t>
                      </a:r>
                      <a:endParaRPr lang="en-US" sz="1050" dirty="0">
                        <a:latin typeface="Calibri" charset="0"/>
                        <a:ea typeface="Calibri" charset="0"/>
                        <a:cs typeface="Calibri" charset="0"/>
                      </a:endParaRPr>
                    </a:p>
                  </a:txBody>
                  <a:tcPr marL="54864" marR="54864" marT="54864" marB="54864"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tcPr>
                </a:tc>
                <a:extLst>
                  <a:ext uri="{0D108BD9-81ED-4DB2-BD59-A6C34878D82A}">
                    <a16:rowId xmlns:a16="http://schemas.microsoft.com/office/drawing/2014/main" val="10005"/>
                  </a:ext>
                </a:extLst>
              </a:tr>
              <a:tr h="457200">
                <a:tc>
                  <a:txBody>
                    <a:bodyPr/>
                    <a:lstStyle/>
                    <a:p>
                      <a:pPr marL="0" indent="0">
                        <a:buNone/>
                      </a:pPr>
                      <a:r>
                        <a:rPr lang="en-US" sz="1050" dirty="0">
                          <a:solidFill>
                            <a:srgbClr val="1E2533"/>
                          </a:solidFill>
                          <a:latin typeface="Calibri" pitchFamily="34" charset="0"/>
                          <a:ea typeface="Calibri" pitchFamily="34" charset="-122"/>
                          <a:cs typeface="Calibri" pitchFamily="34" charset="-120"/>
                        </a:rPr>
                        <a:t>Cả hai</a:t>
                      </a:r>
                      <a:endParaRPr lang="en-US" sz="1050" dirty="0">
                        <a:latin typeface="Calibri" charset="0"/>
                        <a:ea typeface="Calibri" charset="0"/>
                        <a:cs typeface="Calibri" charset="0"/>
                      </a:endParaRPr>
                    </a:p>
                  </a:txBody>
                  <a:tcPr marL="54864" marR="54864" marT="54864" marB="54864"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tcPr>
                </a:tc>
                <a:tc>
                  <a:txBody>
                    <a:bodyPr/>
                    <a:lstStyle/>
                    <a:p>
                      <a:pPr marL="0" indent="0">
                        <a:buNone/>
                      </a:pPr>
                      <a:r>
                        <a:rPr lang="en-US" sz="950" dirty="0">
                          <a:solidFill>
                            <a:srgbClr val="1E2533"/>
                          </a:solidFill>
                          <a:latin typeface="Courier New" pitchFamily="34" charset="0"/>
                          <a:ea typeface="Courier New" pitchFamily="34" charset="-122"/>
                          <a:cs typeface="Courier New" pitchFamily="34" charset="-120"/>
                        </a:rPr>
                        <a:t>--keyframes · --save_dashboard</a:t>
                      </a:r>
                      <a:endParaRPr lang="en-US" sz="950" dirty="0">
                        <a:latin typeface="Courier New" charset="0"/>
                        <a:ea typeface="Courier New" charset="0"/>
                        <a:cs typeface="Courier New" charset="0"/>
                      </a:endParaRPr>
                    </a:p>
                  </a:txBody>
                  <a:tcPr marL="54864" marR="54864" marT="54864" marB="54864"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tcPr>
                </a:tc>
                <a:tc>
                  <a:txBody>
                    <a:bodyPr/>
                    <a:lstStyle/>
                    <a:p>
                      <a:pPr marL="0" indent="0">
                        <a:buNone/>
                      </a:pPr>
                      <a:r>
                        <a:rPr lang="en-US" sz="1050" dirty="0">
                          <a:solidFill>
                            <a:srgbClr val="1E2533"/>
                          </a:solidFill>
                          <a:latin typeface="Calibri" pitchFamily="34" charset="0"/>
                          <a:ea typeface="Calibri" pitchFamily="34" charset="-122"/>
                          <a:cs typeface="Calibri" pitchFamily="34" charset="-120"/>
                        </a:rPr>
                        <a:t>Lưu ảnh khung mốc / dashboard</a:t>
                      </a:r>
                      <a:endParaRPr lang="en-US" sz="1050" dirty="0">
                        <a:latin typeface="Calibri" charset="0"/>
                        <a:ea typeface="Calibri" charset="0"/>
                        <a:cs typeface="Calibri" charset="0"/>
                      </a:endParaRPr>
                    </a:p>
                  </a:txBody>
                  <a:tcPr marL="54864" marR="54864" marT="54864" marB="54864"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56032"/>
            <a:ext cx="8229600" cy="237744"/>
          </a:xfrm>
          <a:prstGeom prst="rect">
            <a:avLst/>
          </a:prstGeom>
          <a:noFill/>
          <a:ln/>
        </p:spPr>
        <p:txBody>
          <a:bodyPr wrap="square" lIns="0" tIns="0" rIns="0" bIns="0" rtlCol="0" anchor="t"/>
          <a:lstStyle/>
          <a:p>
            <a:pPr marL="0" indent="0">
              <a:buNone/>
            </a:pPr>
            <a:r>
              <a:rPr lang="en-US" sz="1100" b="1" kern="0" spc="200" dirty="0">
                <a:solidFill>
                  <a:srgbClr val="C8102E"/>
                </a:solidFill>
                <a:latin typeface="Calibri" pitchFamily="34" charset="0"/>
                <a:ea typeface="Calibri" pitchFamily="34" charset="-122"/>
                <a:cs typeface="Calibri" pitchFamily="34" charset="-120"/>
              </a:rPr>
              <a:t>DỮ LIỆU TRUNG GIAN</a:t>
            </a:r>
            <a:endParaRPr lang="en-US" sz="1100" dirty="0"/>
          </a:p>
        </p:txBody>
      </p:sp>
      <p:sp>
        <p:nvSpPr>
          <p:cNvPr id="3" name="Text 1"/>
          <p:cNvSpPr txBox="1"/>
          <p:nvPr/>
        </p:nvSpPr>
        <p:spPr>
          <a:xfrm>
            <a:off x="457200" y="502920"/>
            <a:ext cx="8229600" cy="548640"/>
          </a:xfrm>
          <a:prstGeom prst="rect">
            <a:avLst/>
          </a:prstGeom>
          <a:noFill/>
          <a:ln/>
        </p:spPr>
        <p:txBody>
          <a:bodyPr wrap="square" lIns="0" tIns="0" rIns="0" bIns="0" rtlCol="0" anchor="ctr"/>
          <a:lstStyle/>
          <a:p>
            <a:pPr marL="0" indent="0">
              <a:buNone/>
            </a:pPr>
            <a:r>
              <a:rPr lang="en-US" sz="2800" b="1" dirty="0">
                <a:solidFill>
                  <a:srgbClr val="15203B"/>
                </a:solidFill>
                <a:latin typeface="Cambria" pitchFamily="34" charset="0"/>
                <a:ea typeface="Cambria" pitchFamily="34" charset="-122"/>
                <a:cs typeface="Cambria" pitchFamily="34" charset="-120"/>
              </a:rPr>
              <a:t>Biểu diễn khung xương 13 khớp</a:t>
            </a:r>
            <a:endParaRPr lang="en-US" sz="2800" dirty="0"/>
          </a:p>
        </p:txBody>
      </p:sp>
      <p:sp>
        <p:nvSpPr>
          <p:cNvPr id="4" name="Text 2"/>
          <p:cNvSpPr txBox="1"/>
          <p:nvPr/>
        </p:nvSpPr>
        <p:spPr>
          <a:xfrm>
            <a:off x="8229600" y="4800600"/>
            <a:ext cx="457200" cy="201168"/>
          </a:xfrm>
          <a:prstGeom prst="rect">
            <a:avLst/>
          </a:prstGeom>
          <a:noFill/>
          <a:ln/>
        </p:spPr>
        <p:txBody>
          <a:bodyPr wrap="square" lIns="0" tIns="0" rIns="0" bIns="0" rtlCol="0" anchor="t"/>
          <a:lstStyle/>
          <a:p>
            <a:pPr marL="0" indent="0" algn="r">
              <a:buNone/>
            </a:pPr>
            <a:r>
              <a:rPr lang="en-US" sz="900" dirty="0">
                <a:solidFill>
                  <a:srgbClr val="5B6475"/>
                </a:solidFill>
                <a:latin typeface="Calibri" pitchFamily="34" charset="0"/>
                <a:ea typeface="Calibri" pitchFamily="34" charset="-122"/>
                <a:cs typeface="Calibri" pitchFamily="34" charset="-120"/>
              </a:rPr>
              <a:t>6</a:t>
            </a:r>
            <a:endParaRPr lang="en-US" sz="900" dirty="0"/>
          </a:p>
        </p:txBody>
      </p:sp>
      <p:sp>
        <p:nvSpPr>
          <p:cNvPr id="5" name="Shape 3"/>
          <p:cNvSpPr/>
          <p:nvPr/>
        </p:nvSpPr>
        <p:spPr>
          <a:xfrm>
            <a:off x="457200" y="1188720"/>
            <a:ext cx="3017520" cy="3520440"/>
          </a:xfrm>
          <a:prstGeom prst="roundRect">
            <a:avLst>
              <a:gd name="adj" fmla="val 2424"/>
            </a:avLst>
          </a:prstGeom>
          <a:solidFill>
            <a:srgbClr val="EEF2F8"/>
          </a:solidFill>
          <a:ln w="12700">
            <a:solidFill>
              <a:srgbClr val="EEF2F8"/>
            </a:solidFill>
            <a:prstDash val="solid"/>
          </a:ln>
        </p:spPr>
        <p:txBody>
          <a:bodyPr/>
          <a:lstStyle/>
          <a:p>
            <a:endParaRPr lang="en-US"/>
          </a:p>
        </p:txBody>
      </p:sp>
      <p:sp>
        <p:nvSpPr>
          <p:cNvPr id="6" name="Shape 4"/>
          <p:cNvSpPr/>
          <p:nvPr/>
        </p:nvSpPr>
        <p:spPr>
          <a:xfrm>
            <a:off x="1965960" y="1515161"/>
            <a:ext cx="419710" cy="504749"/>
          </a:xfrm>
          <a:prstGeom prst="line">
            <a:avLst/>
          </a:prstGeom>
          <a:noFill/>
          <a:ln w="38100">
            <a:solidFill>
              <a:srgbClr val="8A96AD"/>
            </a:solidFill>
            <a:prstDash val="solid"/>
          </a:ln>
        </p:spPr>
        <p:txBody>
          <a:bodyPr/>
          <a:lstStyle/>
          <a:p>
            <a:endParaRPr lang="en-US"/>
          </a:p>
        </p:txBody>
      </p:sp>
      <p:sp>
        <p:nvSpPr>
          <p:cNvPr id="7" name="Shape 5"/>
          <p:cNvSpPr/>
          <p:nvPr/>
        </p:nvSpPr>
        <p:spPr>
          <a:xfrm flipV="1">
            <a:off x="1546250" y="1515161"/>
            <a:ext cx="419710" cy="504749"/>
          </a:xfrm>
          <a:prstGeom prst="line">
            <a:avLst/>
          </a:prstGeom>
          <a:noFill/>
          <a:ln w="38100">
            <a:solidFill>
              <a:srgbClr val="8A96AD"/>
            </a:solidFill>
            <a:prstDash val="solid"/>
          </a:ln>
        </p:spPr>
        <p:txBody>
          <a:bodyPr/>
          <a:lstStyle/>
          <a:p>
            <a:endParaRPr lang="en-US"/>
          </a:p>
        </p:txBody>
      </p:sp>
      <p:sp>
        <p:nvSpPr>
          <p:cNvPr id="8" name="Shape 6"/>
          <p:cNvSpPr/>
          <p:nvPr/>
        </p:nvSpPr>
        <p:spPr>
          <a:xfrm>
            <a:off x="1546250" y="2019910"/>
            <a:ext cx="839419" cy="0"/>
          </a:xfrm>
          <a:prstGeom prst="line">
            <a:avLst/>
          </a:prstGeom>
          <a:noFill/>
          <a:ln w="38100">
            <a:solidFill>
              <a:srgbClr val="8A96AD"/>
            </a:solidFill>
            <a:prstDash val="solid"/>
          </a:ln>
        </p:spPr>
        <p:txBody>
          <a:bodyPr/>
          <a:lstStyle/>
          <a:p>
            <a:endParaRPr lang="en-US"/>
          </a:p>
        </p:txBody>
      </p:sp>
      <p:sp>
        <p:nvSpPr>
          <p:cNvPr id="9" name="Shape 7"/>
          <p:cNvSpPr/>
          <p:nvPr/>
        </p:nvSpPr>
        <p:spPr>
          <a:xfrm>
            <a:off x="2385670" y="2019910"/>
            <a:ext cx="320954" cy="504749"/>
          </a:xfrm>
          <a:prstGeom prst="line">
            <a:avLst/>
          </a:prstGeom>
          <a:noFill/>
          <a:ln w="38100">
            <a:solidFill>
              <a:srgbClr val="8A96AD"/>
            </a:solidFill>
            <a:prstDash val="solid"/>
          </a:ln>
        </p:spPr>
        <p:txBody>
          <a:bodyPr/>
          <a:lstStyle/>
          <a:p>
            <a:endParaRPr lang="en-US"/>
          </a:p>
        </p:txBody>
      </p:sp>
      <p:sp>
        <p:nvSpPr>
          <p:cNvPr id="10" name="Shape 8"/>
          <p:cNvSpPr/>
          <p:nvPr/>
        </p:nvSpPr>
        <p:spPr>
          <a:xfrm>
            <a:off x="2706624" y="2524658"/>
            <a:ext cx="172822" cy="504749"/>
          </a:xfrm>
          <a:prstGeom prst="line">
            <a:avLst/>
          </a:prstGeom>
          <a:noFill/>
          <a:ln w="38100">
            <a:solidFill>
              <a:srgbClr val="8A96AD"/>
            </a:solidFill>
            <a:prstDash val="solid"/>
          </a:ln>
        </p:spPr>
        <p:txBody>
          <a:bodyPr/>
          <a:lstStyle/>
          <a:p>
            <a:endParaRPr lang="en-US"/>
          </a:p>
        </p:txBody>
      </p:sp>
      <p:sp>
        <p:nvSpPr>
          <p:cNvPr id="11" name="Shape 9"/>
          <p:cNvSpPr/>
          <p:nvPr/>
        </p:nvSpPr>
        <p:spPr>
          <a:xfrm flipV="1">
            <a:off x="1225296" y="2019910"/>
            <a:ext cx="320954" cy="504749"/>
          </a:xfrm>
          <a:prstGeom prst="line">
            <a:avLst/>
          </a:prstGeom>
          <a:noFill/>
          <a:ln w="38100">
            <a:solidFill>
              <a:srgbClr val="8A96AD"/>
            </a:solidFill>
            <a:prstDash val="solid"/>
          </a:ln>
        </p:spPr>
        <p:txBody>
          <a:bodyPr/>
          <a:lstStyle/>
          <a:p>
            <a:endParaRPr lang="en-US"/>
          </a:p>
        </p:txBody>
      </p:sp>
      <p:sp>
        <p:nvSpPr>
          <p:cNvPr id="12" name="Shape 10"/>
          <p:cNvSpPr/>
          <p:nvPr/>
        </p:nvSpPr>
        <p:spPr>
          <a:xfrm flipV="1">
            <a:off x="1052474" y="2524658"/>
            <a:ext cx="172822" cy="504749"/>
          </a:xfrm>
          <a:prstGeom prst="line">
            <a:avLst/>
          </a:prstGeom>
          <a:noFill/>
          <a:ln w="38100">
            <a:solidFill>
              <a:srgbClr val="8A96AD"/>
            </a:solidFill>
            <a:prstDash val="solid"/>
          </a:ln>
        </p:spPr>
        <p:txBody>
          <a:bodyPr/>
          <a:lstStyle/>
          <a:p>
            <a:endParaRPr lang="en-US"/>
          </a:p>
        </p:txBody>
      </p:sp>
      <p:sp>
        <p:nvSpPr>
          <p:cNvPr id="13" name="Shape 11"/>
          <p:cNvSpPr/>
          <p:nvPr/>
        </p:nvSpPr>
        <p:spPr>
          <a:xfrm flipV="1">
            <a:off x="2212848" y="2019910"/>
            <a:ext cx="172822" cy="1009498"/>
          </a:xfrm>
          <a:prstGeom prst="line">
            <a:avLst/>
          </a:prstGeom>
          <a:noFill/>
          <a:ln w="38100">
            <a:solidFill>
              <a:srgbClr val="8A96AD"/>
            </a:solidFill>
            <a:prstDash val="solid"/>
          </a:ln>
        </p:spPr>
        <p:txBody>
          <a:bodyPr/>
          <a:lstStyle/>
          <a:p>
            <a:endParaRPr lang="en-US"/>
          </a:p>
        </p:txBody>
      </p:sp>
      <p:sp>
        <p:nvSpPr>
          <p:cNvPr id="14" name="Shape 12"/>
          <p:cNvSpPr/>
          <p:nvPr/>
        </p:nvSpPr>
        <p:spPr>
          <a:xfrm>
            <a:off x="1546250" y="2019910"/>
            <a:ext cx="172822" cy="1009498"/>
          </a:xfrm>
          <a:prstGeom prst="line">
            <a:avLst/>
          </a:prstGeom>
          <a:noFill/>
          <a:ln w="38100">
            <a:solidFill>
              <a:srgbClr val="8A96AD"/>
            </a:solidFill>
            <a:prstDash val="solid"/>
          </a:ln>
        </p:spPr>
        <p:txBody>
          <a:bodyPr/>
          <a:lstStyle/>
          <a:p>
            <a:endParaRPr lang="en-US"/>
          </a:p>
        </p:txBody>
      </p:sp>
      <p:sp>
        <p:nvSpPr>
          <p:cNvPr id="15" name="Shape 13"/>
          <p:cNvSpPr/>
          <p:nvPr/>
        </p:nvSpPr>
        <p:spPr>
          <a:xfrm>
            <a:off x="1719072" y="3029407"/>
            <a:ext cx="493776" cy="0"/>
          </a:xfrm>
          <a:prstGeom prst="line">
            <a:avLst/>
          </a:prstGeom>
          <a:noFill/>
          <a:ln w="38100">
            <a:solidFill>
              <a:srgbClr val="8A96AD"/>
            </a:solidFill>
            <a:prstDash val="solid"/>
          </a:ln>
        </p:spPr>
        <p:txBody>
          <a:bodyPr/>
          <a:lstStyle/>
          <a:p>
            <a:endParaRPr lang="en-US"/>
          </a:p>
        </p:txBody>
      </p:sp>
      <p:sp>
        <p:nvSpPr>
          <p:cNvPr id="16" name="Shape 14"/>
          <p:cNvSpPr/>
          <p:nvPr/>
        </p:nvSpPr>
        <p:spPr>
          <a:xfrm>
            <a:off x="2212848" y="3029407"/>
            <a:ext cx="74066" cy="694030"/>
          </a:xfrm>
          <a:prstGeom prst="line">
            <a:avLst/>
          </a:prstGeom>
          <a:noFill/>
          <a:ln w="38100">
            <a:solidFill>
              <a:srgbClr val="8A96AD"/>
            </a:solidFill>
            <a:prstDash val="solid"/>
          </a:ln>
        </p:spPr>
        <p:txBody>
          <a:bodyPr/>
          <a:lstStyle/>
          <a:p>
            <a:endParaRPr lang="en-US"/>
          </a:p>
        </p:txBody>
      </p:sp>
      <p:sp>
        <p:nvSpPr>
          <p:cNvPr id="17" name="Shape 15"/>
          <p:cNvSpPr/>
          <p:nvPr/>
        </p:nvSpPr>
        <p:spPr>
          <a:xfrm>
            <a:off x="2286914" y="3723437"/>
            <a:ext cx="49378" cy="630936"/>
          </a:xfrm>
          <a:prstGeom prst="line">
            <a:avLst/>
          </a:prstGeom>
          <a:noFill/>
          <a:ln w="38100">
            <a:solidFill>
              <a:srgbClr val="8A96AD"/>
            </a:solidFill>
            <a:prstDash val="solid"/>
          </a:ln>
        </p:spPr>
        <p:txBody>
          <a:bodyPr/>
          <a:lstStyle/>
          <a:p>
            <a:endParaRPr lang="en-US"/>
          </a:p>
        </p:txBody>
      </p:sp>
      <p:sp>
        <p:nvSpPr>
          <p:cNvPr id="18" name="Shape 16"/>
          <p:cNvSpPr/>
          <p:nvPr/>
        </p:nvSpPr>
        <p:spPr>
          <a:xfrm flipV="1">
            <a:off x="1645006" y="3029407"/>
            <a:ext cx="74066" cy="694030"/>
          </a:xfrm>
          <a:prstGeom prst="line">
            <a:avLst/>
          </a:prstGeom>
          <a:noFill/>
          <a:ln w="38100">
            <a:solidFill>
              <a:srgbClr val="8A96AD"/>
            </a:solidFill>
            <a:prstDash val="solid"/>
          </a:ln>
        </p:spPr>
        <p:txBody>
          <a:bodyPr/>
          <a:lstStyle/>
          <a:p>
            <a:endParaRPr lang="en-US"/>
          </a:p>
        </p:txBody>
      </p:sp>
      <p:sp>
        <p:nvSpPr>
          <p:cNvPr id="19" name="Shape 17"/>
          <p:cNvSpPr/>
          <p:nvPr/>
        </p:nvSpPr>
        <p:spPr>
          <a:xfrm flipV="1">
            <a:off x="1595628" y="3723437"/>
            <a:ext cx="49378" cy="630936"/>
          </a:xfrm>
          <a:prstGeom prst="line">
            <a:avLst/>
          </a:prstGeom>
          <a:noFill/>
          <a:ln w="38100">
            <a:solidFill>
              <a:srgbClr val="8A96AD"/>
            </a:solidFill>
            <a:prstDash val="solid"/>
          </a:ln>
        </p:spPr>
        <p:txBody>
          <a:bodyPr/>
          <a:lstStyle/>
          <a:p>
            <a:endParaRPr lang="en-US"/>
          </a:p>
        </p:txBody>
      </p:sp>
      <p:sp>
        <p:nvSpPr>
          <p:cNvPr id="20" name="Shape 18"/>
          <p:cNvSpPr/>
          <p:nvPr/>
        </p:nvSpPr>
        <p:spPr>
          <a:xfrm>
            <a:off x="1828800" y="1378001"/>
            <a:ext cx="274320" cy="274320"/>
          </a:xfrm>
          <a:prstGeom prst="ellipse">
            <a:avLst/>
          </a:prstGeom>
          <a:solidFill>
            <a:srgbClr val="15203B"/>
          </a:solidFill>
          <a:ln w="12700">
            <a:solidFill>
              <a:srgbClr val="FFFFFF"/>
            </a:solidFill>
            <a:prstDash val="solid"/>
          </a:ln>
        </p:spPr>
        <p:txBody>
          <a:bodyPr/>
          <a:lstStyle/>
          <a:p>
            <a:endParaRPr lang="en-US"/>
          </a:p>
        </p:txBody>
      </p:sp>
      <p:sp>
        <p:nvSpPr>
          <p:cNvPr id="21" name="Text 19"/>
          <p:cNvSpPr txBox="1"/>
          <p:nvPr/>
        </p:nvSpPr>
        <p:spPr>
          <a:xfrm>
            <a:off x="1828800" y="1378001"/>
            <a:ext cx="27432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0</a:t>
            </a:r>
            <a:endParaRPr lang="en-US" sz="900" dirty="0"/>
          </a:p>
        </p:txBody>
      </p:sp>
      <p:sp>
        <p:nvSpPr>
          <p:cNvPr id="22" name="Shape 20"/>
          <p:cNvSpPr/>
          <p:nvPr/>
        </p:nvSpPr>
        <p:spPr>
          <a:xfrm>
            <a:off x="2248510" y="1882750"/>
            <a:ext cx="274320" cy="274320"/>
          </a:xfrm>
          <a:prstGeom prst="ellipse">
            <a:avLst/>
          </a:prstGeom>
          <a:solidFill>
            <a:srgbClr val="1F4E9A"/>
          </a:solidFill>
          <a:ln w="12700">
            <a:solidFill>
              <a:srgbClr val="FFFFFF"/>
            </a:solidFill>
            <a:prstDash val="solid"/>
          </a:ln>
        </p:spPr>
        <p:txBody>
          <a:bodyPr/>
          <a:lstStyle/>
          <a:p>
            <a:endParaRPr lang="en-US"/>
          </a:p>
        </p:txBody>
      </p:sp>
      <p:sp>
        <p:nvSpPr>
          <p:cNvPr id="23" name="Text 21"/>
          <p:cNvSpPr txBox="1"/>
          <p:nvPr/>
        </p:nvSpPr>
        <p:spPr>
          <a:xfrm>
            <a:off x="2248510" y="1882750"/>
            <a:ext cx="27432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24" name="Shape 22"/>
          <p:cNvSpPr/>
          <p:nvPr/>
        </p:nvSpPr>
        <p:spPr>
          <a:xfrm>
            <a:off x="1409090" y="1882750"/>
            <a:ext cx="274320" cy="274320"/>
          </a:xfrm>
          <a:prstGeom prst="ellipse">
            <a:avLst/>
          </a:prstGeom>
          <a:solidFill>
            <a:srgbClr val="C8102E"/>
          </a:solidFill>
          <a:ln w="12700">
            <a:solidFill>
              <a:srgbClr val="FFFFFF"/>
            </a:solidFill>
            <a:prstDash val="solid"/>
          </a:ln>
        </p:spPr>
        <p:txBody>
          <a:bodyPr/>
          <a:lstStyle/>
          <a:p>
            <a:endParaRPr lang="en-US"/>
          </a:p>
        </p:txBody>
      </p:sp>
      <p:sp>
        <p:nvSpPr>
          <p:cNvPr id="25" name="Text 23"/>
          <p:cNvSpPr txBox="1"/>
          <p:nvPr/>
        </p:nvSpPr>
        <p:spPr>
          <a:xfrm>
            <a:off x="1409090" y="1882750"/>
            <a:ext cx="27432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26" name="Shape 24"/>
          <p:cNvSpPr/>
          <p:nvPr/>
        </p:nvSpPr>
        <p:spPr>
          <a:xfrm>
            <a:off x="2569464" y="2387498"/>
            <a:ext cx="274320" cy="274320"/>
          </a:xfrm>
          <a:prstGeom prst="ellipse">
            <a:avLst/>
          </a:prstGeom>
          <a:solidFill>
            <a:srgbClr val="1F4E9A"/>
          </a:solidFill>
          <a:ln w="12700">
            <a:solidFill>
              <a:srgbClr val="FFFFFF"/>
            </a:solidFill>
            <a:prstDash val="solid"/>
          </a:ln>
        </p:spPr>
        <p:txBody>
          <a:bodyPr/>
          <a:lstStyle/>
          <a:p>
            <a:endParaRPr lang="en-US"/>
          </a:p>
        </p:txBody>
      </p:sp>
      <p:sp>
        <p:nvSpPr>
          <p:cNvPr id="27" name="Text 25"/>
          <p:cNvSpPr txBox="1"/>
          <p:nvPr/>
        </p:nvSpPr>
        <p:spPr>
          <a:xfrm>
            <a:off x="2569464" y="2387498"/>
            <a:ext cx="27432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28" name="Shape 26"/>
          <p:cNvSpPr/>
          <p:nvPr/>
        </p:nvSpPr>
        <p:spPr>
          <a:xfrm>
            <a:off x="1088136" y="2387498"/>
            <a:ext cx="274320" cy="274320"/>
          </a:xfrm>
          <a:prstGeom prst="ellipse">
            <a:avLst/>
          </a:prstGeom>
          <a:solidFill>
            <a:srgbClr val="C8102E"/>
          </a:solidFill>
          <a:ln w="12700">
            <a:solidFill>
              <a:srgbClr val="FFFFFF"/>
            </a:solidFill>
            <a:prstDash val="solid"/>
          </a:ln>
        </p:spPr>
        <p:txBody>
          <a:bodyPr/>
          <a:lstStyle/>
          <a:p>
            <a:endParaRPr lang="en-US"/>
          </a:p>
        </p:txBody>
      </p:sp>
      <p:sp>
        <p:nvSpPr>
          <p:cNvPr id="29" name="Text 27"/>
          <p:cNvSpPr txBox="1"/>
          <p:nvPr/>
        </p:nvSpPr>
        <p:spPr>
          <a:xfrm>
            <a:off x="1088136" y="2387498"/>
            <a:ext cx="27432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4</a:t>
            </a:r>
            <a:endParaRPr lang="en-US" sz="900" dirty="0"/>
          </a:p>
        </p:txBody>
      </p:sp>
      <p:sp>
        <p:nvSpPr>
          <p:cNvPr id="30" name="Shape 28"/>
          <p:cNvSpPr/>
          <p:nvPr/>
        </p:nvSpPr>
        <p:spPr>
          <a:xfrm>
            <a:off x="2742286" y="2892247"/>
            <a:ext cx="274320" cy="274320"/>
          </a:xfrm>
          <a:prstGeom prst="ellipse">
            <a:avLst/>
          </a:prstGeom>
          <a:solidFill>
            <a:srgbClr val="1F4E9A"/>
          </a:solidFill>
          <a:ln w="12700">
            <a:solidFill>
              <a:srgbClr val="FFFFFF"/>
            </a:solidFill>
            <a:prstDash val="solid"/>
          </a:ln>
        </p:spPr>
        <p:txBody>
          <a:bodyPr/>
          <a:lstStyle/>
          <a:p>
            <a:endParaRPr lang="en-US"/>
          </a:p>
        </p:txBody>
      </p:sp>
      <p:sp>
        <p:nvSpPr>
          <p:cNvPr id="31" name="Text 29"/>
          <p:cNvSpPr txBox="1"/>
          <p:nvPr/>
        </p:nvSpPr>
        <p:spPr>
          <a:xfrm>
            <a:off x="2742286" y="2892247"/>
            <a:ext cx="27432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5</a:t>
            </a:r>
            <a:endParaRPr lang="en-US" sz="900" dirty="0"/>
          </a:p>
        </p:txBody>
      </p:sp>
      <p:sp>
        <p:nvSpPr>
          <p:cNvPr id="32" name="Shape 30"/>
          <p:cNvSpPr/>
          <p:nvPr/>
        </p:nvSpPr>
        <p:spPr>
          <a:xfrm>
            <a:off x="915314" y="2892247"/>
            <a:ext cx="274320" cy="274320"/>
          </a:xfrm>
          <a:prstGeom prst="ellipse">
            <a:avLst/>
          </a:prstGeom>
          <a:solidFill>
            <a:srgbClr val="C8102E"/>
          </a:solidFill>
          <a:ln w="12700">
            <a:solidFill>
              <a:srgbClr val="FFFFFF"/>
            </a:solidFill>
            <a:prstDash val="solid"/>
          </a:ln>
        </p:spPr>
        <p:txBody>
          <a:bodyPr/>
          <a:lstStyle/>
          <a:p>
            <a:endParaRPr lang="en-US"/>
          </a:p>
        </p:txBody>
      </p:sp>
      <p:sp>
        <p:nvSpPr>
          <p:cNvPr id="33" name="Text 31"/>
          <p:cNvSpPr txBox="1"/>
          <p:nvPr/>
        </p:nvSpPr>
        <p:spPr>
          <a:xfrm>
            <a:off x="915314" y="2892247"/>
            <a:ext cx="27432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6</a:t>
            </a:r>
            <a:endParaRPr lang="en-US" sz="900" dirty="0"/>
          </a:p>
        </p:txBody>
      </p:sp>
      <p:sp>
        <p:nvSpPr>
          <p:cNvPr id="34" name="Shape 32"/>
          <p:cNvSpPr/>
          <p:nvPr/>
        </p:nvSpPr>
        <p:spPr>
          <a:xfrm>
            <a:off x="2075688" y="2892247"/>
            <a:ext cx="274320" cy="274320"/>
          </a:xfrm>
          <a:prstGeom prst="ellipse">
            <a:avLst/>
          </a:prstGeom>
          <a:solidFill>
            <a:srgbClr val="1F4E9A"/>
          </a:solidFill>
          <a:ln w="12700">
            <a:solidFill>
              <a:srgbClr val="FFFFFF"/>
            </a:solidFill>
            <a:prstDash val="solid"/>
          </a:ln>
        </p:spPr>
        <p:txBody>
          <a:bodyPr/>
          <a:lstStyle/>
          <a:p>
            <a:endParaRPr lang="en-US"/>
          </a:p>
        </p:txBody>
      </p:sp>
      <p:sp>
        <p:nvSpPr>
          <p:cNvPr id="35" name="Text 33"/>
          <p:cNvSpPr txBox="1"/>
          <p:nvPr/>
        </p:nvSpPr>
        <p:spPr>
          <a:xfrm>
            <a:off x="2075688" y="2892247"/>
            <a:ext cx="27432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7</a:t>
            </a:r>
            <a:endParaRPr lang="en-US" sz="900" dirty="0"/>
          </a:p>
        </p:txBody>
      </p:sp>
      <p:sp>
        <p:nvSpPr>
          <p:cNvPr id="36" name="Shape 34"/>
          <p:cNvSpPr/>
          <p:nvPr/>
        </p:nvSpPr>
        <p:spPr>
          <a:xfrm>
            <a:off x="1581912" y="2892247"/>
            <a:ext cx="274320" cy="274320"/>
          </a:xfrm>
          <a:prstGeom prst="ellipse">
            <a:avLst/>
          </a:prstGeom>
          <a:solidFill>
            <a:srgbClr val="C8102E"/>
          </a:solidFill>
          <a:ln w="12700">
            <a:solidFill>
              <a:srgbClr val="FFFFFF"/>
            </a:solidFill>
            <a:prstDash val="solid"/>
          </a:ln>
        </p:spPr>
        <p:txBody>
          <a:bodyPr/>
          <a:lstStyle/>
          <a:p>
            <a:endParaRPr lang="en-US"/>
          </a:p>
        </p:txBody>
      </p:sp>
      <p:sp>
        <p:nvSpPr>
          <p:cNvPr id="37" name="Text 35"/>
          <p:cNvSpPr txBox="1"/>
          <p:nvPr/>
        </p:nvSpPr>
        <p:spPr>
          <a:xfrm>
            <a:off x="1581912" y="2892247"/>
            <a:ext cx="27432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8</a:t>
            </a:r>
            <a:endParaRPr lang="en-US" sz="900" dirty="0"/>
          </a:p>
        </p:txBody>
      </p:sp>
      <p:sp>
        <p:nvSpPr>
          <p:cNvPr id="38" name="Shape 36"/>
          <p:cNvSpPr/>
          <p:nvPr/>
        </p:nvSpPr>
        <p:spPr>
          <a:xfrm>
            <a:off x="2149754" y="3586277"/>
            <a:ext cx="274320" cy="274320"/>
          </a:xfrm>
          <a:prstGeom prst="ellipse">
            <a:avLst/>
          </a:prstGeom>
          <a:solidFill>
            <a:srgbClr val="1F4E9A"/>
          </a:solidFill>
          <a:ln w="12700">
            <a:solidFill>
              <a:srgbClr val="FFFFFF"/>
            </a:solidFill>
            <a:prstDash val="solid"/>
          </a:ln>
        </p:spPr>
        <p:txBody>
          <a:bodyPr/>
          <a:lstStyle/>
          <a:p>
            <a:endParaRPr lang="en-US"/>
          </a:p>
        </p:txBody>
      </p:sp>
      <p:sp>
        <p:nvSpPr>
          <p:cNvPr id="39" name="Text 37"/>
          <p:cNvSpPr txBox="1"/>
          <p:nvPr/>
        </p:nvSpPr>
        <p:spPr>
          <a:xfrm>
            <a:off x="2149754" y="3586277"/>
            <a:ext cx="27432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9</a:t>
            </a:r>
            <a:endParaRPr lang="en-US" sz="900" dirty="0"/>
          </a:p>
        </p:txBody>
      </p:sp>
      <p:sp>
        <p:nvSpPr>
          <p:cNvPr id="40" name="Shape 38"/>
          <p:cNvSpPr/>
          <p:nvPr/>
        </p:nvSpPr>
        <p:spPr>
          <a:xfrm>
            <a:off x="1507846" y="3586277"/>
            <a:ext cx="274320" cy="274320"/>
          </a:xfrm>
          <a:prstGeom prst="ellipse">
            <a:avLst/>
          </a:prstGeom>
          <a:solidFill>
            <a:srgbClr val="C8102E"/>
          </a:solidFill>
          <a:ln w="12700">
            <a:solidFill>
              <a:srgbClr val="FFFFFF"/>
            </a:solidFill>
            <a:prstDash val="solid"/>
          </a:ln>
        </p:spPr>
        <p:txBody>
          <a:bodyPr/>
          <a:lstStyle/>
          <a:p>
            <a:endParaRPr lang="en-US"/>
          </a:p>
        </p:txBody>
      </p:sp>
      <p:sp>
        <p:nvSpPr>
          <p:cNvPr id="41" name="Text 39"/>
          <p:cNvSpPr txBox="1"/>
          <p:nvPr/>
        </p:nvSpPr>
        <p:spPr>
          <a:xfrm>
            <a:off x="1507846" y="3586277"/>
            <a:ext cx="27432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10</a:t>
            </a:r>
            <a:endParaRPr lang="en-US" sz="900" dirty="0"/>
          </a:p>
        </p:txBody>
      </p:sp>
      <p:sp>
        <p:nvSpPr>
          <p:cNvPr id="42" name="Shape 40"/>
          <p:cNvSpPr/>
          <p:nvPr/>
        </p:nvSpPr>
        <p:spPr>
          <a:xfrm>
            <a:off x="2199132" y="4217213"/>
            <a:ext cx="274320" cy="274320"/>
          </a:xfrm>
          <a:prstGeom prst="ellipse">
            <a:avLst/>
          </a:prstGeom>
          <a:solidFill>
            <a:srgbClr val="1F4E9A"/>
          </a:solidFill>
          <a:ln w="12700">
            <a:solidFill>
              <a:srgbClr val="FFFFFF"/>
            </a:solidFill>
            <a:prstDash val="solid"/>
          </a:ln>
        </p:spPr>
        <p:txBody>
          <a:bodyPr/>
          <a:lstStyle/>
          <a:p>
            <a:endParaRPr lang="en-US"/>
          </a:p>
        </p:txBody>
      </p:sp>
      <p:sp>
        <p:nvSpPr>
          <p:cNvPr id="43" name="Text 41"/>
          <p:cNvSpPr txBox="1"/>
          <p:nvPr/>
        </p:nvSpPr>
        <p:spPr>
          <a:xfrm>
            <a:off x="2199132" y="4217213"/>
            <a:ext cx="27432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11</a:t>
            </a:r>
            <a:endParaRPr lang="en-US" sz="900" dirty="0"/>
          </a:p>
        </p:txBody>
      </p:sp>
      <p:sp>
        <p:nvSpPr>
          <p:cNvPr id="44" name="Shape 42"/>
          <p:cNvSpPr/>
          <p:nvPr/>
        </p:nvSpPr>
        <p:spPr>
          <a:xfrm>
            <a:off x="1458468" y="4217213"/>
            <a:ext cx="274320" cy="274320"/>
          </a:xfrm>
          <a:prstGeom prst="ellipse">
            <a:avLst/>
          </a:prstGeom>
          <a:solidFill>
            <a:srgbClr val="C8102E"/>
          </a:solidFill>
          <a:ln w="12700">
            <a:solidFill>
              <a:srgbClr val="FFFFFF"/>
            </a:solidFill>
            <a:prstDash val="solid"/>
          </a:ln>
        </p:spPr>
        <p:txBody>
          <a:bodyPr/>
          <a:lstStyle/>
          <a:p>
            <a:endParaRPr lang="en-US"/>
          </a:p>
        </p:txBody>
      </p:sp>
      <p:sp>
        <p:nvSpPr>
          <p:cNvPr id="45" name="Text 43"/>
          <p:cNvSpPr txBox="1"/>
          <p:nvPr/>
        </p:nvSpPr>
        <p:spPr>
          <a:xfrm>
            <a:off x="1458468" y="4217213"/>
            <a:ext cx="27432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12</a:t>
            </a:r>
            <a:endParaRPr lang="en-US" sz="900" dirty="0"/>
          </a:p>
        </p:txBody>
      </p:sp>
      <p:graphicFrame>
        <p:nvGraphicFramePr>
          <p:cNvPr id="46" name="Table 0"/>
          <p:cNvGraphicFramePr>
            <a:graphicFrameLocks noGrp="1"/>
          </p:cNvGraphicFramePr>
          <p:nvPr>
            <p:extLst>
              <p:ext uri="{D42A27DB-BD31-4B8C-83A1-F6EECF244321}">
                <p14:modId xmlns:p14="http://schemas.microsoft.com/office/powerpoint/2010/main" val="1579011935"/>
              </p:ext>
            </p:extLst>
          </p:nvPr>
        </p:nvGraphicFramePr>
        <p:xfrm>
          <a:off x="3840480" y="1188720"/>
          <a:ext cx="4846320" cy="1920240"/>
        </p:xfrm>
        <a:graphic>
          <a:graphicData uri="http://schemas.openxmlformats.org/drawingml/2006/table">
            <a:tbl>
              <a:tblPr/>
              <a:tblGrid>
                <a:gridCol w="82296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gridCol w="2834640">
                  <a:extLst>
                    <a:ext uri="{9D8B030D-6E8A-4147-A177-3AD203B41FA5}">
                      <a16:colId xmlns:a16="http://schemas.microsoft.com/office/drawing/2014/main" val="20002"/>
                    </a:ext>
                  </a:extLst>
                </a:gridCol>
              </a:tblGrid>
              <a:tr h="384048">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Mảng</a:t>
                      </a:r>
                      <a:endParaRPr lang="en-US" sz="1150" dirty="0">
                        <a:latin typeface="Calibri" charset="0"/>
                        <a:ea typeface="Calibri" charset="0"/>
                        <a:cs typeface="Calibri" charset="0"/>
                      </a:endParaRPr>
                    </a:p>
                  </a:txBody>
                  <a:tcPr marL="54864" marR="54864" marT="54864" marB="54864"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15203B"/>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Kích thước</a:t>
                      </a:r>
                      <a:endParaRPr lang="en-US" sz="1150" dirty="0">
                        <a:latin typeface="Calibri" charset="0"/>
                        <a:ea typeface="Calibri" charset="0"/>
                        <a:cs typeface="Calibri" charset="0"/>
                      </a:endParaRPr>
                    </a:p>
                  </a:txBody>
                  <a:tcPr marL="54864" marR="54864" marT="54864" marB="54864"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15203B"/>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Ý nghĩa</a:t>
                      </a:r>
                      <a:endParaRPr lang="en-US" sz="1150" dirty="0">
                        <a:latin typeface="Calibri" charset="0"/>
                        <a:ea typeface="Calibri" charset="0"/>
                        <a:cs typeface="Calibri" charset="0"/>
                      </a:endParaRPr>
                    </a:p>
                  </a:txBody>
                  <a:tcPr marL="54864" marR="54864" marT="54864" marB="54864"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15203B"/>
                    </a:solidFill>
                  </a:tcPr>
                </a:tc>
                <a:extLst>
                  <a:ext uri="{0D108BD9-81ED-4DB2-BD59-A6C34878D82A}">
                    <a16:rowId xmlns:a16="http://schemas.microsoft.com/office/drawing/2014/main" val="10000"/>
                  </a:ext>
                </a:extLst>
              </a:tr>
              <a:tr h="384048">
                <a:tc>
                  <a:txBody>
                    <a:bodyPr/>
                    <a:lstStyle/>
                    <a:p>
                      <a:pPr marL="0" indent="0">
                        <a:buNone/>
                      </a:pPr>
                      <a:r>
                        <a:rPr lang="en-US" sz="1050" dirty="0">
                          <a:solidFill>
                            <a:srgbClr val="1E2533"/>
                          </a:solidFill>
                          <a:latin typeface="Courier New" pitchFamily="34" charset="0"/>
                          <a:ea typeface="Courier New" pitchFamily="34" charset="-122"/>
                          <a:cs typeface="Courier New" pitchFamily="34" charset="-120"/>
                        </a:rPr>
                        <a:t>kpts</a:t>
                      </a:r>
                      <a:endParaRPr lang="en-US" sz="1050" dirty="0">
                        <a:latin typeface="Courier New" charset="0"/>
                        <a:ea typeface="Courier New" charset="0"/>
                        <a:cs typeface="Courier New" charset="0"/>
                      </a:endParaRPr>
                    </a:p>
                  </a:txBody>
                  <a:tcPr marL="54864" marR="54864" marT="54864" marB="54864"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tcPr>
                </a:tc>
                <a:tc>
                  <a:txBody>
                    <a:bodyPr/>
                    <a:lstStyle/>
                    <a:p>
                      <a:pPr marL="0" indent="0">
                        <a:buNone/>
                      </a:pPr>
                      <a:r>
                        <a:rPr lang="en-US" sz="1050" dirty="0">
                          <a:solidFill>
                            <a:srgbClr val="1E2533"/>
                          </a:solidFill>
                          <a:latin typeface="Courier New" pitchFamily="34" charset="0"/>
                          <a:ea typeface="Courier New" pitchFamily="34" charset="-122"/>
                          <a:cs typeface="Courier New" pitchFamily="34" charset="-120"/>
                        </a:rPr>
                        <a:t>(T, 13, 2)</a:t>
                      </a:r>
                      <a:endParaRPr lang="en-US" sz="1050" dirty="0">
                        <a:latin typeface="Courier New" charset="0"/>
                        <a:ea typeface="Courier New" charset="0"/>
                        <a:cs typeface="Courier New" charset="0"/>
                      </a:endParaRPr>
                    </a:p>
                  </a:txBody>
                  <a:tcPr marL="54864" marR="54864" marT="54864" marB="54864"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tcPr>
                </a:tc>
                <a:tc>
                  <a:txBody>
                    <a:bodyPr/>
                    <a:lstStyle/>
                    <a:p>
                      <a:pPr marL="0" indent="0">
                        <a:buNone/>
                      </a:pPr>
                      <a:r>
                        <a:rPr lang="en-US" sz="1150" dirty="0">
                          <a:solidFill>
                            <a:srgbClr val="1E2533"/>
                          </a:solidFill>
                          <a:latin typeface="Calibri" pitchFamily="34" charset="0"/>
                          <a:ea typeface="Calibri" pitchFamily="34" charset="-122"/>
                          <a:cs typeface="Calibri" pitchFamily="34" charset="-120"/>
                        </a:rPr>
                        <a:t>Tọa độ trên ảnh (pixel)</a:t>
                      </a:r>
                      <a:endParaRPr lang="en-US" sz="1150" dirty="0">
                        <a:latin typeface="Calibri" charset="0"/>
                        <a:ea typeface="Calibri" charset="0"/>
                        <a:cs typeface="Calibri" charset="0"/>
                      </a:endParaRPr>
                    </a:p>
                  </a:txBody>
                  <a:tcPr marL="54864" marR="54864" marT="54864" marB="54864"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tcPr>
                </a:tc>
                <a:extLst>
                  <a:ext uri="{0D108BD9-81ED-4DB2-BD59-A6C34878D82A}">
                    <a16:rowId xmlns:a16="http://schemas.microsoft.com/office/drawing/2014/main" val="10001"/>
                  </a:ext>
                </a:extLst>
              </a:tr>
              <a:tr h="384048">
                <a:tc>
                  <a:txBody>
                    <a:bodyPr/>
                    <a:lstStyle/>
                    <a:p>
                      <a:pPr marL="0" indent="0">
                        <a:buNone/>
                      </a:pPr>
                      <a:r>
                        <a:rPr lang="en-US" sz="1050" dirty="0">
                          <a:solidFill>
                            <a:srgbClr val="1E2533"/>
                          </a:solidFill>
                          <a:latin typeface="Courier New" pitchFamily="34" charset="0"/>
                          <a:ea typeface="Courier New" pitchFamily="34" charset="-122"/>
                          <a:cs typeface="Courier New" pitchFamily="34" charset="-120"/>
                        </a:rPr>
                        <a:t>vis</a:t>
                      </a:r>
                      <a:endParaRPr lang="en-US" sz="1050" dirty="0">
                        <a:latin typeface="Courier New" charset="0"/>
                        <a:ea typeface="Courier New" charset="0"/>
                        <a:cs typeface="Courier New" charset="0"/>
                      </a:endParaRPr>
                    </a:p>
                  </a:txBody>
                  <a:tcPr marL="54864" marR="54864" marT="54864" marB="54864"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tcPr>
                </a:tc>
                <a:tc>
                  <a:txBody>
                    <a:bodyPr/>
                    <a:lstStyle/>
                    <a:p>
                      <a:pPr marL="0" indent="0">
                        <a:buNone/>
                      </a:pPr>
                      <a:r>
                        <a:rPr lang="en-US" sz="1050" dirty="0">
                          <a:solidFill>
                            <a:srgbClr val="1E2533"/>
                          </a:solidFill>
                          <a:latin typeface="Courier New" pitchFamily="34" charset="0"/>
                          <a:ea typeface="Courier New" pitchFamily="34" charset="-122"/>
                          <a:cs typeface="Courier New" pitchFamily="34" charset="-120"/>
                        </a:rPr>
                        <a:t>(T, 13)</a:t>
                      </a:r>
                      <a:endParaRPr lang="en-US" sz="1050" dirty="0">
                        <a:latin typeface="Courier New" charset="0"/>
                        <a:ea typeface="Courier New" charset="0"/>
                        <a:cs typeface="Courier New" charset="0"/>
                      </a:endParaRPr>
                    </a:p>
                  </a:txBody>
                  <a:tcPr marL="54864" marR="54864" marT="54864" marB="54864"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tcPr>
                </a:tc>
                <a:tc>
                  <a:txBody>
                    <a:bodyPr/>
                    <a:lstStyle/>
                    <a:p>
                      <a:pPr marL="0" indent="0">
                        <a:buNone/>
                      </a:pPr>
                      <a:r>
                        <a:rPr lang="en-US" sz="1150" dirty="0">
                          <a:solidFill>
                            <a:srgbClr val="1E2533"/>
                          </a:solidFill>
                          <a:latin typeface="Calibri" pitchFamily="34" charset="0"/>
                          <a:ea typeface="Calibri" pitchFamily="34" charset="-122"/>
                          <a:cs typeface="Calibri" pitchFamily="34" charset="-120"/>
                        </a:rPr>
                        <a:t>Độ tin cậy 0–1 (dưới 0,2 coi như mất)</a:t>
                      </a:r>
                      <a:endParaRPr lang="en-US" sz="1150" dirty="0">
                        <a:latin typeface="Calibri" charset="0"/>
                        <a:ea typeface="Calibri" charset="0"/>
                        <a:cs typeface="Calibri" charset="0"/>
                      </a:endParaRPr>
                    </a:p>
                  </a:txBody>
                  <a:tcPr marL="54864" marR="54864" marT="54864" marB="54864"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tcPr>
                </a:tc>
                <a:extLst>
                  <a:ext uri="{0D108BD9-81ED-4DB2-BD59-A6C34878D82A}">
                    <a16:rowId xmlns:a16="http://schemas.microsoft.com/office/drawing/2014/main" val="10002"/>
                  </a:ext>
                </a:extLst>
              </a:tr>
              <a:tr h="384048">
                <a:tc>
                  <a:txBody>
                    <a:bodyPr/>
                    <a:lstStyle/>
                    <a:p>
                      <a:pPr marL="0" indent="0">
                        <a:buNone/>
                      </a:pPr>
                      <a:r>
                        <a:rPr lang="en-US" sz="1050" dirty="0">
                          <a:solidFill>
                            <a:srgbClr val="1E2533"/>
                          </a:solidFill>
                          <a:latin typeface="Courier New" pitchFamily="34" charset="0"/>
                          <a:ea typeface="Courier New" pitchFamily="34" charset="-122"/>
                          <a:cs typeface="Courier New" pitchFamily="34" charset="-120"/>
                        </a:rPr>
                        <a:t>world</a:t>
                      </a:r>
                      <a:endParaRPr lang="en-US" sz="1050" dirty="0">
                        <a:latin typeface="Courier New" charset="0"/>
                        <a:ea typeface="Courier New" charset="0"/>
                        <a:cs typeface="Courier New" charset="0"/>
                      </a:endParaRPr>
                    </a:p>
                  </a:txBody>
                  <a:tcPr marL="54864" marR="54864" marT="54864" marB="54864"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tcPr>
                </a:tc>
                <a:tc>
                  <a:txBody>
                    <a:bodyPr/>
                    <a:lstStyle/>
                    <a:p>
                      <a:pPr marL="0" indent="0">
                        <a:buNone/>
                      </a:pPr>
                      <a:r>
                        <a:rPr lang="en-US" sz="1050" dirty="0">
                          <a:solidFill>
                            <a:srgbClr val="1E2533"/>
                          </a:solidFill>
                          <a:latin typeface="Courier New" pitchFamily="34" charset="0"/>
                          <a:ea typeface="Courier New" pitchFamily="34" charset="-122"/>
                          <a:cs typeface="Courier New" pitchFamily="34" charset="-120"/>
                        </a:rPr>
                        <a:t>(T, 13, 3)</a:t>
                      </a:r>
                      <a:endParaRPr lang="en-US" sz="1050" dirty="0">
                        <a:latin typeface="Courier New" charset="0"/>
                        <a:ea typeface="Courier New" charset="0"/>
                        <a:cs typeface="Courier New" charset="0"/>
                      </a:endParaRPr>
                    </a:p>
                  </a:txBody>
                  <a:tcPr marL="54864" marR="54864" marT="54864" marB="54864"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tcPr>
                </a:tc>
                <a:tc>
                  <a:txBody>
                    <a:bodyPr/>
                    <a:lstStyle/>
                    <a:p>
                      <a:pPr marL="0" indent="0">
                        <a:buNone/>
                      </a:pPr>
                      <a:r>
                        <a:rPr lang="en-US" sz="1150" dirty="0">
                          <a:solidFill>
                            <a:srgbClr val="1E2533"/>
                          </a:solidFill>
                          <a:latin typeface="Calibri" pitchFamily="34" charset="0"/>
                          <a:ea typeface="Calibri" pitchFamily="34" charset="-122"/>
                          <a:cs typeface="Calibri" pitchFamily="34" charset="-120"/>
                        </a:rPr>
                        <a:t>Tọa độ 3D (mét), gốc tại hông</a:t>
                      </a:r>
                      <a:endParaRPr lang="en-US" sz="1150" dirty="0">
                        <a:latin typeface="Calibri" charset="0"/>
                        <a:ea typeface="Calibri" charset="0"/>
                        <a:cs typeface="Calibri" charset="0"/>
                      </a:endParaRPr>
                    </a:p>
                  </a:txBody>
                  <a:tcPr marL="54864" marR="54864" marT="54864" marB="54864"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tcPr>
                </a:tc>
                <a:extLst>
                  <a:ext uri="{0D108BD9-81ED-4DB2-BD59-A6C34878D82A}">
                    <a16:rowId xmlns:a16="http://schemas.microsoft.com/office/drawing/2014/main" val="10003"/>
                  </a:ext>
                </a:extLst>
              </a:tr>
              <a:tr h="384048">
                <a:tc>
                  <a:txBody>
                    <a:bodyPr/>
                    <a:lstStyle/>
                    <a:p>
                      <a:pPr marL="0" indent="0">
                        <a:buNone/>
                      </a:pPr>
                      <a:r>
                        <a:rPr lang="en-US" sz="1050" dirty="0">
                          <a:solidFill>
                            <a:srgbClr val="1E2533"/>
                          </a:solidFill>
                          <a:latin typeface="Courier New" pitchFamily="34" charset="0"/>
                          <a:ea typeface="Courier New" pitchFamily="34" charset="-122"/>
                          <a:cs typeface="Courier New" pitchFamily="34" charset="-120"/>
                        </a:rPr>
                        <a:t>fps</a:t>
                      </a:r>
                      <a:endParaRPr lang="en-US" sz="1050" dirty="0">
                        <a:latin typeface="Courier New" charset="0"/>
                        <a:ea typeface="Courier New" charset="0"/>
                        <a:cs typeface="Courier New" charset="0"/>
                      </a:endParaRPr>
                    </a:p>
                  </a:txBody>
                  <a:tcPr marL="54864" marR="54864" marT="54864" marB="54864"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tcPr>
                </a:tc>
                <a:tc>
                  <a:txBody>
                    <a:bodyPr/>
                    <a:lstStyle/>
                    <a:p>
                      <a:pPr marL="0" indent="0">
                        <a:buNone/>
                      </a:pPr>
                      <a:r>
                        <a:rPr lang="en-US" sz="1050" dirty="0">
                          <a:solidFill>
                            <a:srgbClr val="1E2533"/>
                          </a:solidFill>
                          <a:latin typeface="Courier New" pitchFamily="34" charset="0"/>
                          <a:ea typeface="Courier New" pitchFamily="34" charset="-122"/>
                          <a:cs typeface="Courier New" pitchFamily="34" charset="-120"/>
                        </a:rPr>
                        <a:t>số</a:t>
                      </a:r>
                      <a:endParaRPr lang="en-US" sz="1050" dirty="0">
                        <a:latin typeface="Courier New" charset="0"/>
                        <a:ea typeface="Courier New" charset="0"/>
                        <a:cs typeface="Courier New" charset="0"/>
                      </a:endParaRPr>
                    </a:p>
                  </a:txBody>
                  <a:tcPr marL="54864" marR="54864" marT="54864" marB="54864"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tcPr>
                </a:tc>
                <a:tc>
                  <a:txBody>
                    <a:bodyPr/>
                    <a:lstStyle/>
                    <a:p>
                      <a:pPr marL="0" indent="0">
                        <a:buNone/>
                      </a:pPr>
                      <a:r>
                        <a:rPr lang="en-US" sz="1150" dirty="0">
                          <a:solidFill>
                            <a:srgbClr val="1E2533"/>
                          </a:solidFill>
                          <a:latin typeface="Calibri" pitchFamily="34" charset="0"/>
                          <a:ea typeface="Calibri" pitchFamily="34" charset="-122"/>
                          <a:cs typeface="Calibri" pitchFamily="34" charset="-120"/>
                        </a:rPr>
                        <a:t>Số khung hình mỗi giây</a:t>
                      </a:r>
                      <a:endParaRPr lang="en-US" sz="1150" dirty="0">
                        <a:latin typeface="Calibri" charset="0"/>
                        <a:ea typeface="Calibri" charset="0"/>
                        <a:cs typeface="Calibri" charset="0"/>
                      </a:endParaRPr>
                    </a:p>
                  </a:txBody>
                  <a:tcPr marL="54864" marR="54864" marT="54864" marB="54864"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47" name="Text 44"/>
          <p:cNvSpPr txBox="1"/>
          <p:nvPr/>
        </p:nvSpPr>
        <p:spPr>
          <a:xfrm>
            <a:off x="3840480" y="3291840"/>
            <a:ext cx="4846320" cy="777240"/>
          </a:xfrm>
          <a:prstGeom prst="rect">
            <a:avLst/>
          </a:prstGeom>
          <a:noFill/>
          <a:ln/>
        </p:spPr>
        <p:txBody>
          <a:bodyPr wrap="square" lIns="0" tIns="0" rIns="0" bIns="0" rtlCol="0" anchor="t"/>
          <a:lstStyle/>
          <a:p>
            <a:pPr marL="0" indent="0">
              <a:spcAft>
                <a:spcPts val="400"/>
              </a:spcAft>
              <a:buNone/>
            </a:pPr>
            <a:r>
              <a:rPr lang="en-US" sz="1150" b="1" dirty="0">
                <a:solidFill>
                  <a:srgbClr val="1E2533"/>
                </a:solidFill>
                <a:latin typeface="Calibri" pitchFamily="34" charset="0"/>
                <a:ea typeface="Calibri" pitchFamily="34" charset="-122"/>
                <a:cs typeface="Calibri" pitchFamily="34" charset="-120"/>
              </a:rPr>
              <a:t>Chỉ số khớp: </a:t>
            </a:r>
            <a:r>
              <a:rPr lang="en-US" sz="1150" dirty="0">
                <a:solidFill>
                  <a:srgbClr val="1E2533"/>
                </a:solidFill>
                <a:latin typeface="Calibri" pitchFamily="34" charset="0"/>
                <a:ea typeface="Calibri" pitchFamily="34" charset="-122"/>
                <a:cs typeface="Calibri" pitchFamily="34" charset="-120"/>
              </a:rPr>
              <a:t>0 mũi · 1/2 vai · 3/4 khuỷu · 5/6 cổ tay · 7/8 hông · 9/10 gối · 11/12 cổ chân (số lẻ = trái, xanh; số chẵn = phải, đỏ)</a:t>
            </a:r>
            <a:endParaRPr lang="en-US" sz="1150" dirty="0"/>
          </a:p>
          <a:p>
            <a:pPr marL="0" indent="0">
              <a:spcAft>
                <a:spcPts val="400"/>
              </a:spcAft>
              <a:buNone/>
            </a:pPr>
            <a:r>
              <a:rPr lang="en-US" sz="1150" dirty="0">
                <a:solidFill>
                  <a:srgbClr val="5B6475"/>
                </a:solidFill>
                <a:latin typeface="Calibri" pitchFamily="34" charset="0"/>
                <a:ea typeface="Calibri" pitchFamily="34" charset="-122"/>
                <a:cs typeface="Calibri" pitchFamily="34" charset="-120"/>
              </a:rPr>
              <a:t>T = số khung hình. 13 khớp rút gọn từ 33 điểm của MediaPipe.</a:t>
            </a:r>
            <a:endParaRPr lang="en-US" sz="1150" dirty="0"/>
          </a:p>
        </p:txBody>
      </p:sp>
      <p:sp>
        <p:nvSpPr>
          <p:cNvPr id="48" name="Shape 45"/>
          <p:cNvSpPr/>
          <p:nvPr/>
        </p:nvSpPr>
        <p:spPr>
          <a:xfrm>
            <a:off x="3840480" y="4114800"/>
            <a:ext cx="4846320" cy="594360"/>
          </a:xfrm>
          <a:prstGeom prst="roundRect">
            <a:avLst>
              <a:gd name="adj" fmla="val 12308"/>
            </a:avLst>
          </a:prstGeom>
          <a:solidFill>
            <a:srgbClr val="FDECEF"/>
          </a:solidFill>
          <a:ln w="12700">
            <a:solidFill>
              <a:srgbClr val="FDECEF"/>
            </a:solidFill>
            <a:prstDash val="solid"/>
          </a:ln>
        </p:spPr>
        <p:txBody>
          <a:bodyPr/>
          <a:lstStyle/>
          <a:p>
            <a:endParaRPr lang="en-US"/>
          </a:p>
        </p:txBody>
      </p:sp>
      <p:sp>
        <p:nvSpPr>
          <p:cNvPr id="49" name="Text 46"/>
          <p:cNvSpPr txBox="1"/>
          <p:nvPr/>
        </p:nvSpPr>
        <p:spPr>
          <a:xfrm>
            <a:off x="3977640" y="4114800"/>
            <a:ext cx="4617720" cy="594360"/>
          </a:xfrm>
          <a:prstGeom prst="rect">
            <a:avLst/>
          </a:prstGeom>
          <a:noFill/>
          <a:ln/>
        </p:spPr>
        <p:txBody>
          <a:bodyPr wrap="square" lIns="0" tIns="0" rIns="0" bIns="0" rtlCol="0" anchor="ctr"/>
          <a:lstStyle/>
          <a:p>
            <a:pPr marL="0" indent="0">
              <a:buNone/>
            </a:pPr>
            <a:r>
              <a:rPr lang="en-US" sz="1100" dirty="0">
                <a:solidFill>
                  <a:srgbClr val="1E2533"/>
                </a:solidFill>
                <a:latin typeface="Calibri" pitchFamily="34" charset="0"/>
                <a:ea typeface="Calibri" pitchFamily="34" charset="-122"/>
                <a:cs typeface="Calibri" pitchFamily="34" charset="-120"/>
              </a:rPr>
              <a:t>Vì sao cần 3D: quay chính diện, góc khuỷu đo trên ảnh 2D nhảy 20–150° trong một cú đấm; tọa độ 3D ổn định hơn nhiều.</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56032"/>
            <a:ext cx="8229600" cy="237744"/>
          </a:xfrm>
          <a:prstGeom prst="rect">
            <a:avLst/>
          </a:prstGeom>
          <a:noFill/>
          <a:ln/>
        </p:spPr>
        <p:txBody>
          <a:bodyPr wrap="square" lIns="0" tIns="0" rIns="0" bIns="0" rtlCol="0" anchor="t"/>
          <a:lstStyle/>
          <a:p>
            <a:pPr marL="0" indent="0">
              <a:buNone/>
            </a:pPr>
            <a:r>
              <a:rPr lang="en-US" sz="1100" b="1" kern="0" spc="200" dirty="0">
                <a:solidFill>
                  <a:srgbClr val="C8102E"/>
                </a:solidFill>
                <a:latin typeface="Calibri" pitchFamily="34" charset="0"/>
                <a:ea typeface="Calibri" pitchFamily="34" charset="-122"/>
                <a:cs typeface="Calibri" pitchFamily="34" charset="-120"/>
              </a:rPr>
              <a:t>THUẬT TOÁN 1</a:t>
            </a:r>
            <a:endParaRPr lang="en-US" sz="1100" dirty="0"/>
          </a:p>
        </p:txBody>
      </p:sp>
      <p:sp>
        <p:nvSpPr>
          <p:cNvPr id="3" name="Text 1"/>
          <p:cNvSpPr txBox="1"/>
          <p:nvPr/>
        </p:nvSpPr>
        <p:spPr>
          <a:xfrm>
            <a:off x="457200" y="502920"/>
            <a:ext cx="8229600" cy="548640"/>
          </a:xfrm>
          <a:prstGeom prst="rect">
            <a:avLst/>
          </a:prstGeom>
          <a:noFill/>
          <a:ln/>
        </p:spPr>
        <p:txBody>
          <a:bodyPr wrap="square" lIns="0" tIns="0" rIns="0" bIns="0" rtlCol="0" anchor="ctr"/>
          <a:lstStyle/>
          <a:p>
            <a:pPr marL="0" indent="0">
              <a:buNone/>
            </a:pPr>
            <a:r>
              <a:rPr lang="en-US" sz="2800" b="1" dirty="0">
                <a:solidFill>
                  <a:srgbClr val="15203B"/>
                </a:solidFill>
                <a:latin typeface="Cambria" pitchFamily="34" charset="0"/>
                <a:ea typeface="Cambria" pitchFamily="34" charset="-122"/>
                <a:cs typeface="Cambria" pitchFamily="34" charset="-120"/>
              </a:rPr>
              <a:t>Trích khung xương &amp; chọn người ra đòn</a:t>
            </a:r>
            <a:endParaRPr lang="en-US" sz="2800" dirty="0"/>
          </a:p>
        </p:txBody>
      </p:sp>
      <p:sp>
        <p:nvSpPr>
          <p:cNvPr id="4" name="Text 2"/>
          <p:cNvSpPr txBox="1"/>
          <p:nvPr/>
        </p:nvSpPr>
        <p:spPr>
          <a:xfrm>
            <a:off x="8229600" y="4800600"/>
            <a:ext cx="457200" cy="201168"/>
          </a:xfrm>
          <a:prstGeom prst="rect">
            <a:avLst/>
          </a:prstGeom>
          <a:noFill/>
          <a:ln/>
        </p:spPr>
        <p:txBody>
          <a:bodyPr wrap="square" lIns="0" tIns="0" rIns="0" bIns="0" rtlCol="0" anchor="t"/>
          <a:lstStyle/>
          <a:p>
            <a:pPr marL="0" indent="0" algn="r">
              <a:buNone/>
            </a:pPr>
            <a:r>
              <a:rPr lang="en-US" sz="900" dirty="0">
                <a:solidFill>
                  <a:srgbClr val="5B6475"/>
                </a:solidFill>
                <a:latin typeface="Calibri" pitchFamily="34" charset="0"/>
                <a:ea typeface="Calibri" pitchFamily="34" charset="-122"/>
                <a:cs typeface="Calibri" pitchFamily="34" charset="-120"/>
              </a:rPr>
              <a:t>7</a:t>
            </a:r>
            <a:endParaRPr lang="en-US" sz="900" dirty="0"/>
          </a:p>
        </p:txBody>
      </p:sp>
      <p:sp>
        <p:nvSpPr>
          <p:cNvPr id="5" name="Shape 3"/>
          <p:cNvSpPr/>
          <p:nvPr/>
        </p:nvSpPr>
        <p:spPr>
          <a:xfrm>
            <a:off x="457200" y="1234440"/>
            <a:ext cx="457200" cy="457200"/>
          </a:xfrm>
          <a:prstGeom prst="ellipse">
            <a:avLst/>
          </a:prstGeom>
          <a:solidFill>
            <a:srgbClr val="C8102E"/>
          </a:solidFill>
          <a:ln w="12700">
            <a:solidFill>
              <a:srgbClr val="C8102E"/>
            </a:solidFill>
            <a:prstDash val="solid"/>
          </a:ln>
        </p:spPr>
        <p:txBody>
          <a:bodyPr/>
          <a:lstStyle/>
          <a:p>
            <a:endParaRPr lang="en-US"/>
          </a:p>
        </p:txBody>
      </p:sp>
      <p:sp>
        <p:nvSpPr>
          <p:cNvPr id="6" name="Text 4"/>
          <p:cNvSpPr txBox="1"/>
          <p:nvPr/>
        </p:nvSpPr>
        <p:spPr>
          <a:xfrm>
            <a:off x="457200" y="1234440"/>
            <a:ext cx="457200"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p:cNvSpPr txBox="1"/>
          <p:nvPr/>
        </p:nvSpPr>
        <p:spPr>
          <a:xfrm>
            <a:off x="1097280" y="1216152"/>
            <a:ext cx="4480560" cy="292608"/>
          </a:xfrm>
          <a:prstGeom prst="rect">
            <a:avLst/>
          </a:prstGeom>
          <a:noFill/>
          <a:ln/>
        </p:spPr>
        <p:txBody>
          <a:bodyPr wrap="square" lIns="0" tIns="0" rIns="0" bIns="0" rtlCol="0" anchor="t"/>
          <a:lstStyle/>
          <a:p>
            <a:pPr marL="0" indent="0">
              <a:buNone/>
            </a:pPr>
            <a:r>
              <a:rPr lang="en-US" sz="1400" b="1" dirty="0">
                <a:solidFill>
                  <a:srgbClr val="15203B"/>
                </a:solidFill>
                <a:latin typeface="Calibri" pitchFamily="34" charset="0"/>
                <a:ea typeface="Calibri" pitchFamily="34" charset="-122"/>
                <a:cs typeface="Calibri" pitchFamily="34" charset="-120"/>
              </a:rPr>
              <a:t>BlazePose (MediaPipe)</a:t>
            </a:r>
            <a:endParaRPr lang="en-US" sz="1400" dirty="0"/>
          </a:p>
        </p:txBody>
      </p:sp>
      <p:sp>
        <p:nvSpPr>
          <p:cNvPr id="8" name="Text 6"/>
          <p:cNvSpPr txBox="1"/>
          <p:nvPr/>
        </p:nvSpPr>
        <p:spPr>
          <a:xfrm>
            <a:off x="1097280" y="1508760"/>
            <a:ext cx="4480560" cy="502920"/>
          </a:xfrm>
          <a:prstGeom prst="rect">
            <a:avLst/>
          </a:prstGeom>
          <a:noFill/>
          <a:ln/>
        </p:spPr>
        <p:txBody>
          <a:bodyPr wrap="square" lIns="0" tIns="0" rIns="0" bIns="0" rtlCol="0" anchor="t"/>
          <a:lstStyle/>
          <a:p>
            <a:pPr marL="0" indent="0">
              <a:buNone/>
            </a:pPr>
            <a:r>
              <a:rPr lang="en-US" sz="1150" dirty="0">
                <a:solidFill>
                  <a:srgbClr val="5B6475"/>
                </a:solidFill>
                <a:latin typeface="Calibri" pitchFamily="34" charset="0"/>
                <a:ea typeface="Calibri" pitchFamily="34" charset="-122"/>
                <a:cs typeface="Calibri" pitchFamily="34" charset="-120"/>
              </a:rPr>
              <a:t>Mỗi khung hình → 33 điểm 2D (x, y, visibility) và 33 điểm 3D (mét).</a:t>
            </a:r>
            <a:endParaRPr lang="en-US" sz="1150" dirty="0"/>
          </a:p>
        </p:txBody>
      </p:sp>
      <p:sp>
        <p:nvSpPr>
          <p:cNvPr id="9" name="Shape 7"/>
          <p:cNvSpPr/>
          <p:nvPr/>
        </p:nvSpPr>
        <p:spPr>
          <a:xfrm>
            <a:off x="457200" y="2103120"/>
            <a:ext cx="457200" cy="457200"/>
          </a:xfrm>
          <a:prstGeom prst="ellipse">
            <a:avLst/>
          </a:prstGeom>
          <a:solidFill>
            <a:srgbClr val="C8102E"/>
          </a:solidFill>
          <a:ln w="12700">
            <a:solidFill>
              <a:srgbClr val="C8102E"/>
            </a:solidFill>
            <a:prstDash val="solid"/>
          </a:ln>
        </p:spPr>
        <p:txBody>
          <a:bodyPr/>
          <a:lstStyle/>
          <a:p>
            <a:endParaRPr lang="en-US"/>
          </a:p>
        </p:txBody>
      </p:sp>
      <p:sp>
        <p:nvSpPr>
          <p:cNvPr id="10" name="Text 8"/>
          <p:cNvSpPr txBox="1"/>
          <p:nvPr/>
        </p:nvSpPr>
        <p:spPr>
          <a:xfrm>
            <a:off x="457200" y="2103120"/>
            <a:ext cx="457200"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1" name="Text 9"/>
          <p:cNvSpPr txBox="1"/>
          <p:nvPr/>
        </p:nvSpPr>
        <p:spPr>
          <a:xfrm>
            <a:off x="1097280" y="2084832"/>
            <a:ext cx="4480560" cy="292608"/>
          </a:xfrm>
          <a:prstGeom prst="rect">
            <a:avLst/>
          </a:prstGeom>
          <a:noFill/>
          <a:ln/>
        </p:spPr>
        <p:txBody>
          <a:bodyPr wrap="square" lIns="0" tIns="0" rIns="0" bIns="0" rtlCol="0" anchor="t"/>
          <a:lstStyle/>
          <a:p>
            <a:pPr marL="0" indent="0">
              <a:buNone/>
            </a:pPr>
            <a:r>
              <a:rPr lang="en-US" sz="1400" b="1" dirty="0">
                <a:solidFill>
                  <a:srgbClr val="15203B"/>
                </a:solidFill>
                <a:latin typeface="Calibri" pitchFamily="34" charset="0"/>
                <a:ea typeface="Calibri" pitchFamily="34" charset="-122"/>
                <a:cs typeface="Calibri" pitchFamily="34" charset="-120"/>
              </a:rPr>
              <a:t>Rút gọn 33 → 13 khớp</a:t>
            </a:r>
            <a:endParaRPr lang="en-US" sz="1400" dirty="0"/>
          </a:p>
        </p:txBody>
      </p:sp>
      <p:sp>
        <p:nvSpPr>
          <p:cNvPr id="12" name="Text 10"/>
          <p:cNvSpPr txBox="1"/>
          <p:nvPr/>
        </p:nvSpPr>
        <p:spPr>
          <a:xfrm>
            <a:off x="1097280" y="2377440"/>
            <a:ext cx="4480560" cy="502920"/>
          </a:xfrm>
          <a:prstGeom prst="rect">
            <a:avLst/>
          </a:prstGeom>
          <a:noFill/>
          <a:ln/>
        </p:spPr>
        <p:txBody>
          <a:bodyPr wrap="square" lIns="0" tIns="0" rIns="0" bIns="0" rtlCol="0" anchor="t"/>
          <a:lstStyle/>
          <a:p>
            <a:pPr marL="0" indent="0">
              <a:buNone/>
            </a:pPr>
            <a:r>
              <a:rPr lang="en-US" sz="1150" dirty="0">
                <a:solidFill>
                  <a:srgbClr val="5B6475"/>
                </a:solidFill>
                <a:latin typeface="Calibri" pitchFamily="34" charset="0"/>
                <a:ea typeface="Calibri" pitchFamily="34" charset="-122"/>
                <a:cs typeface="Calibri" pitchFamily="34" charset="-120"/>
              </a:rPr>
              <a:t>Mũi, vai, khuỷu, cổ tay, hông, gối, cổ chân — đủ cho cả đá và đấm.</a:t>
            </a:r>
            <a:endParaRPr lang="en-US" sz="1150" dirty="0"/>
          </a:p>
        </p:txBody>
      </p:sp>
      <p:sp>
        <p:nvSpPr>
          <p:cNvPr id="13" name="Shape 11"/>
          <p:cNvSpPr/>
          <p:nvPr/>
        </p:nvSpPr>
        <p:spPr>
          <a:xfrm>
            <a:off x="457200" y="2971800"/>
            <a:ext cx="457200" cy="457200"/>
          </a:xfrm>
          <a:prstGeom prst="ellipse">
            <a:avLst/>
          </a:prstGeom>
          <a:solidFill>
            <a:srgbClr val="C8102E"/>
          </a:solidFill>
          <a:ln w="12700">
            <a:solidFill>
              <a:srgbClr val="C8102E"/>
            </a:solidFill>
            <a:prstDash val="solid"/>
          </a:ln>
        </p:spPr>
        <p:txBody>
          <a:bodyPr/>
          <a:lstStyle/>
          <a:p>
            <a:endParaRPr lang="en-US"/>
          </a:p>
        </p:txBody>
      </p:sp>
      <p:sp>
        <p:nvSpPr>
          <p:cNvPr id="14" name="Text 12"/>
          <p:cNvSpPr txBox="1"/>
          <p:nvPr/>
        </p:nvSpPr>
        <p:spPr>
          <a:xfrm>
            <a:off x="457200" y="2971800"/>
            <a:ext cx="457200"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5" name="Text 13"/>
          <p:cNvSpPr txBox="1"/>
          <p:nvPr/>
        </p:nvSpPr>
        <p:spPr>
          <a:xfrm>
            <a:off x="1097280" y="2953512"/>
            <a:ext cx="4480560" cy="292608"/>
          </a:xfrm>
          <a:prstGeom prst="rect">
            <a:avLst/>
          </a:prstGeom>
          <a:noFill/>
          <a:ln/>
        </p:spPr>
        <p:txBody>
          <a:bodyPr wrap="square" lIns="0" tIns="0" rIns="0" bIns="0" rtlCol="0" anchor="t"/>
          <a:lstStyle/>
          <a:p>
            <a:pPr marL="0" indent="0">
              <a:buNone/>
            </a:pPr>
            <a:r>
              <a:rPr lang="en-US" sz="1400" b="1" dirty="0">
                <a:solidFill>
                  <a:srgbClr val="15203B"/>
                </a:solidFill>
                <a:latin typeface="Calibri" pitchFamily="34" charset="0"/>
                <a:ea typeface="Calibri" pitchFamily="34" charset="-122"/>
                <a:cs typeface="Calibri" pitchFamily="34" charset="-120"/>
              </a:rPr>
              <a:t>Theo dõi nhiều người</a:t>
            </a:r>
            <a:endParaRPr lang="en-US" sz="1400" dirty="0"/>
          </a:p>
        </p:txBody>
      </p:sp>
      <p:sp>
        <p:nvSpPr>
          <p:cNvPr id="16" name="Text 14"/>
          <p:cNvSpPr txBox="1"/>
          <p:nvPr/>
        </p:nvSpPr>
        <p:spPr>
          <a:xfrm>
            <a:off x="1097280" y="3246120"/>
            <a:ext cx="4480560" cy="502920"/>
          </a:xfrm>
          <a:prstGeom prst="rect">
            <a:avLst/>
          </a:prstGeom>
          <a:noFill/>
          <a:ln/>
        </p:spPr>
        <p:txBody>
          <a:bodyPr wrap="square" lIns="0" tIns="0" rIns="0" bIns="0" rtlCol="0" anchor="t"/>
          <a:lstStyle/>
          <a:p>
            <a:pPr marL="0" indent="0">
              <a:buNone/>
            </a:pPr>
            <a:r>
              <a:rPr lang="en-US" sz="1150" dirty="0">
                <a:solidFill>
                  <a:srgbClr val="5B6475"/>
                </a:solidFill>
                <a:latin typeface="Calibri" pitchFamily="34" charset="0"/>
                <a:ea typeface="Calibri" pitchFamily="34" charset="-122"/>
                <a:cs typeface="Calibri" pitchFamily="34" charset="-120"/>
              </a:rPr>
              <a:t>Ghép người giữa các khung theo tâm hông gần nhất (thuật toán tham lam).</a:t>
            </a:r>
            <a:endParaRPr lang="en-US" sz="1150" dirty="0"/>
          </a:p>
        </p:txBody>
      </p:sp>
      <p:sp>
        <p:nvSpPr>
          <p:cNvPr id="17" name="Shape 15"/>
          <p:cNvSpPr/>
          <p:nvPr/>
        </p:nvSpPr>
        <p:spPr>
          <a:xfrm>
            <a:off x="457200" y="3840480"/>
            <a:ext cx="457200" cy="457200"/>
          </a:xfrm>
          <a:prstGeom prst="ellipse">
            <a:avLst/>
          </a:prstGeom>
          <a:solidFill>
            <a:srgbClr val="C8102E"/>
          </a:solidFill>
          <a:ln w="12700">
            <a:solidFill>
              <a:srgbClr val="C8102E"/>
            </a:solidFill>
            <a:prstDash val="solid"/>
          </a:ln>
        </p:spPr>
        <p:txBody>
          <a:bodyPr/>
          <a:lstStyle/>
          <a:p>
            <a:endParaRPr lang="en-US"/>
          </a:p>
        </p:txBody>
      </p:sp>
      <p:sp>
        <p:nvSpPr>
          <p:cNvPr id="18" name="Text 16"/>
          <p:cNvSpPr txBox="1"/>
          <p:nvPr/>
        </p:nvSpPr>
        <p:spPr>
          <a:xfrm>
            <a:off x="457200" y="3840480"/>
            <a:ext cx="457200"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9" name="Text 17"/>
          <p:cNvSpPr txBox="1"/>
          <p:nvPr/>
        </p:nvSpPr>
        <p:spPr>
          <a:xfrm>
            <a:off x="1097280" y="3822192"/>
            <a:ext cx="4480560" cy="292608"/>
          </a:xfrm>
          <a:prstGeom prst="rect">
            <a:avLst/>
          </a:prstGeom>
          <a:noFill/>
          <a:ln/>
        </p:spPr>
        <p:txBody>
          <a:bodyPr wrap="square" lIns="0" tIns="0" rIns="0" bIns="0" rtlCol="0" anchor="t"/>
          <a:lstStyle/>
          <a:p>
            <a:pPr marL="0" indent="0">
              <a:buNone/>
            </a:pPr>
            <a:r>
              <a:rPr lang="en-US" sz="1400" b="1" dirty="0">
                <a:solidFill>
                  <a:srgbClr val="15203B"/>
                </a:solidFill>
                <a:latin typeface="Calibri" pitchFamily="34" charset="0"/>
                <a:ea typeface="Calibri" pitchFamily="34" charset="-122"/>
                <a:cs typeface="Calibri" pitchFamily="34" charset="-120"/>
              </a:rPr>
              <a:t>Chọn người ra đòn</a:t>
            </a:r>
            <a:endParaRPr lang="en-US" sz="1400" dirty="0"/>
          </a:p>
        </p:txBody>
      </p:sp>
      <p:sp>
        <p:nvSpPr>
          <p:cNvPr id="20" name="Text 18"/>
          <p:cNvSpPr txBox="1"/>
          <p:nvPr/>
        </p:nvSpPr>
        <p:spPr>
          <a:xfrm>
            <a:off x="1097280" y="4114800"/>
            <a:ext cx="4480560" cy="502920"/>
          </a:xfrm>
          <a:prstGeom prst="rect">
            <a:avLst/>
          </a:prstGeom>
          <a:noFill/>
          <a:ln/>
        </p:spPr>
        <p:txBody>
          <a:bodyPr wrap="square" lIns="0" tIns="0" rIns="0" bIns="0" rtlCol="0" anchor="t"/>
          <a:lstStyle/>
          <a:p>
            <a:pPr marL="0" indent="0">
              <a:buNone/>
            </a:pPr>
            <a:r>
              <a:rPr lang="en-US" sz="1150" dirty="0">
                <a:solidFill>
                  <a:srgbClr val="5B6475"/>
                </a:solidFill>
                <a:latin typeface="Calibri" pitchFamily="34" charset="0"/>
                <a:ea typeface="Calibri" pitchFamily="34" charset="-122"/>
                <a:cs typeface="Calibri" pitchFamily="34" charset="-120"/>
              </a:rPr>
              <a:t>Track có cổ tay / cổ chân di chuyển nhiều nhất × tỉ lệ khung có mặt; hai người ngang nhau → cảnh báo.</a:t>
            </a:r>
            <a:endParaRPr lang="en-US" sz="1150" dirty="0"/>
          </a:p>
        </p:txBody>
      </p:sp>
      <p:sp>
        <p:nvSpPr>
          <p:cNvPr id="21" name="Shape 19"/>
          <p:cNvSpPr/>
          <p:nvPr/>
        </p:nvSpPr>
        <p:spPr>
          <a:xfrm>
            <a:off x="5852160" y="1188720"/>
            <a:ext cx="2834640" cy="3520440"/>
          </a:xfrm>
          <a:prstGeom prst="roundRect">
            <a:avLst>
              <a:gd name="adj" fmla="val 2581"/>
            </a:avLst>
          </a:prstGeom>
          <a:solidFill>
            <a:srgbClr val="15203B"/>
          </a:solidFill>
          <a:ln w="12700">
            <a:solidFill>
              <a:srgbClr val="15203B"/>
            </a:solidFill>
            <a:prstDash val="solid"/>
          </a:ln>
        </p:spPr>
        <p:txBody>
          <a:bodyPr/>
          <a:lstStyle/>
          <a:p>
            <a:endParaRPr lang="en-US"/>
          </a:p>
        </p:txBody>
      </p:sp>
      <p:sp>
        <p:nvSpPr>
          <p:cNvPr id="22" name="Shape 20"/>
          <p:cNvSpPr/>
          <p:nvPr/>
        </p:nvSpPr>
        <p:spPr>
          <a:xfrm>
            <a:off x="6080760" y="1371600"/>
            <a:ext cx="502920" cy="502920"/>
          </a:xfrm>
          <a:prstGeom prst="ellipse">
            <a:avLst/>
          </a:prstGeom>
          <a:solidFill>
            <a:srgbClr val="C8102E"/>
          </a:solidFill>
          <a:ln w="12700">
            <a:solidFill>
              <a:srgbClr val="C8102E"/>
            </a:solidFill>
            <a:prstDash val="solid"/>
          </a:ln>
        </p:spPr>
        <p:txBody>
          <a:bodyPr/>
          <a:lstStyle/>
          <a:p>
            <a:endParaRPr lang="en-US"/>
          </a:p>
        </p:txBody>
      </p:sp>
      <p:pic>
        <p:nvPicPr>
          <p:cNvPr id="23" name="Image 0" descr="preencoded.png"/>
          <p:cNvPicPr>
            <a:picLocks noChangeAspect="1"/>
          </p:cNvPicPr>
          <p:nvPr/>
        </p:nvPicPr>
        <p:blipFill>
          <a:blip r:embed="rId3"/>
          <a:stretch>
            <a:fillRect/>
          </a:stretch>
        </p:blipFill>
        <p:spPr>
          <a:xfrm>
            <a:off x="6191402" y="1482242"/>
            <a:ext cx="281635" cy="281635"/>
          </a:xfrm>
          <a:prstGeom prst="rect">
            <a:avLst/>
          </a:prstGeom>
        </p:spPr>
      </p:pic>
      <p:sp>
        <p:nvSpPr>
          <p:cNvPr id="24" name="Text 21"/>
          <p:cNvSpPr txBox="1"/>
          <p:nvPr/>
        </p:nvSpPr>
        <p:spPr>
          <a:xfrm>
            <a:off x="6720840" y="1371600"/>
            <a:ext cx="1828800" cy="502920"/>
          </a:xfrm>
          <a:prstGeom prst="rect">
            <a:avLst/>
          </a:prstGeom>
          <a:noFill/>
          <a:ln/>
        </p:spPr>
        <p:txBody>
          <a:bodyPr wrap="square" lIns="0" tIns="0" rIns="0" bIns="0" rtlCol="0" anchor="ctr"/>
          <a:lstStyle/>
          <a:p>
            <a:pPr marL="0" indent="0">
              <a:buNone/>
            </a:pPr>
            <a:r>
              <a:rPr lang="en-US" sz="1600" b="1" dirty="0">
                <a:solidFill>
                  <a:srgbClr val="FFFFFF"/>
                </a:solidFill>
                <a:latin typeface="Cambria" pitchFamily="34" charset="0"/>
                <a:ea typeface="Cambria" pitchFamily="34" charset="-122"/>
                <a:cs typeface="Cambria" pitchFamily="34" charset="-120"/>
              </a:rPr>
              <a:t>Thông số</a:t>
            </a:r>
            <a:endParaRPr lang="en-US" sz="1600" dirty="0"/>
          </a:p>
        </p:txBody>
      </p:sp>
      <p:sp>
        <p:nvSpPr>
          <p:cNvPr id="25" name="Text 22"/>
          <p:cNvSpPr txBox="1"/>
          <p:nvPr/>
        </p:nvSpPr>
        <p:spPr>
          <a:xfrm>
            <a:off x="6080760" y="2057400"/>
            <a:ext cx="2468880" cy="2560320"/>
          </a:xfrm>
          <a:prstGeom prst="rect">
            <a:avLst/>
          </a:prstGeom>
          <a:noFill/>
          <a:ln/>
        </p:spPr>
        <p:txBody>
          <a:bodyPr wrap="square" lIns="0" tIns="0" rIns="0" bIns="0" rtlCol="0" anchor="t"/>
          <a:lstStyle/>
          <a:p>
            <a:pPr marL="342900" indent="-342900">
              <a:spcAft>
                <a:spcPts val="600"/>
              </a:spcAft>
              <a:buSzPct val="100000"/>
              <a:buChar char="•"/>
            </a:pPr>
            <a:r>
              <a:rPr lang="en-US" sz="1150" dirty="0">
                <a:solidFill>
                  <a:srgbClr val="FFFFFF"/>
                </a:solidFill>
                <a:latin typeface="Calibri" pitchFamily="34" charset="0"/>
                <a:ea typeface="Calibri" pitchFamily="34" charset="-122"/>
                <a:cs typeface="Calibri" pitchFamily="34" charset="-120"/>
              </a:rPr>
              <a:t>Model pose_landmarker_full.task (float16)</a:t>
            </a:r>
            <a:endParaRPr lang="en-US" sz="1150" dirty="0"/>
          </a:p>
          <a:p>
            <a:pPr marL="342900" indent="-342900">
              <a:spcAft>
                <a:spcPts val="600"/>
              </a:spcAft>
              <a:buSzPct val="100000"/>
              <a:buChar char="•"/>
            </a:pPr>
            <a:r>
              <a:rPr lang="en-US" sz="1150" dirty="0">
                <a:solidFill>
                  <a:srgbClr val="FFFFFF"/>
                </a:solidFill>
                <a:latin typeface="Calibri" pitchFamily="34" charset="0"/>
                <a:ea typeface="Calibri" pitchFamily="34" charset="-122"/>
                <a:cs typeface="Calibri" pitchFamily="34" charset="-120"/>
              </a:rPr>
              <a:t>Chế độ VIDEO, tối đa 4 người</a:t>
            </a:r>
            <a:endParaRPr lang="en-US" sz="1150" dirty="0"/>
          </a:p>
          <a:p>
            <a:pPr marL="342900" indent="-342900">
              <a:spcAft>
                <a:spcPts val="600"/>
              </a:spcAft>
              <a:buSzPct val="100000"/>
              <a:buChar char="•"/>
            </a:pPr>
            <a:r>
              <a:rPr lang="en-US" sz="1150" dirty="0">
                <a:solidFill>
                  <a:srgbClr val="FFFFFF"/>
                </a:solidFill>
                <a:latin typeface="Calibri" pitchFamily="34" charset="0"/>
                <a:ea typeface="Calibri" pitchFamily="34" charset="-122"/>
                <a:cs typeface="Calibri" pitchFamily="34" charset="-120"/>
              </a:rPr>
              <a:t>Ngưỡng phát hiện / hiện diện / theo dõi: 0,5</a:t>
            </a:r>
            <a:endParaRPr lang="en-US" sz="1150" dirty="0"/>
          </a:p>
          <a:p>
            <a:pPr marL="342900" indent="-342900">
              <a:spcAft>
                <a:spcPts val="600"/>
              </a:spcAft>
              <a:buSzPct val="100000"/>
              <a:buChar char="•"/>
            </a:pPr>
            <a:r>
              <a:rPr lang="en-US" sz="1150" dirty="0">
                <a:solidFill>
                  <a:srgbClr val="FFFFFF"/>
                </a:solidFill>
                <a:latin typeface="Calibri" pitchFamily="34" charset="0"/>
                <a:ea typeface="Calibri" pitchFamily="34" charset="-122"/>
                <a:cs typeface="Calibri" pitchFamily="34" charset="-120"/>
              </a:rPr>
              <a:t>Ghép track: khoảng cách ≤ 15% kích thước khung</a:t>
            </a:r>
            <a:endParaRPr lang="en-US" sz="1150" dirty="0"/>
          </a:p>
          <a:p>
            <a:pPr marL="342900" indent="-342900">
              <a:spcAft>
                <a:spcPts val="600"/>
              </a:spcAft>
              <a:buSzPct val="100000"/>
              <a:buChar char="•"/>
            </a:pPr>
            <a:r>
              <a:rPr lang="en-US" sz="1150" dirty="0">
                <a:solidFill>
                  <a:srgbClr val="FFFFFF"/>
                </a:solidFill>
                <a:latin typeface="Calibri" pitchFamily="34" charset="0"/>
                <a:ea typeface="Calibri" pitchFamily="34" charset="-122"/>
                <a:cs typeface="Calibri" pitchFamily="34" charset="-120"/>
              </a:rPr>
              <a:t>Làm mượt trung bình trượt 5 khung (luật đấm)</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56032"/>
            <a:ext cx="8229600" cy="237744"/>
          </a:xfrm>
          <a:prstGeom prst="rect">
            <a:avLst/>
          </a:prstGeom>
          <a:noFill/>
          <a:ln/>
        </p:spPr>
        <p:txBody>
          <a:bodyPr wrap="square" lIns="0" tIns="0" rIns="0" bIns="0" rtlCol="0" anchor="t"/>
          <a:lstStyle/>
          <a:p>
            <a:pPr marL="0" indent="0">
              <a:buNone/>
            </a:pPr>
            <a:r>
              <a:rPr lang="en-US" sz="1100" b="1" kern="0" spc="200" dirty="0">
                <a:solidFill>
                  <a:srgbClr val="C8102E"/>
                </a:solidFill>
                <a:latin typeface="Calibri" pitchFamily="34" charset="0"/>
                <a:ea typeface="Calibri" pitchFamily="34" charset="-122"/>
                <a:cs typeface="Calibri" pitchFamily="34" charset="-120"/>
              </a:rPr>
              <a:t>THUẬT TOÁN 2</a:t>
            </a:r>
            <a:endParaRPr lang="en-US" sz="1100" dirty="0"/>
          </a:p>
        </p:txBody>
      </p:sp>
      <p:sp>
        <p:nvSpPr>
          <p:cNvPr id="3" name="Text 1"/>
          <p:cNvSpPr txBox="1"/>
          <p:nvPr/>
        </p:nvSpPr>
        <p:spPr>
          <a:xfrm>
            <a:off x="457200" y="502920"/>
            <a:ext cx="8229600" cy="548640"/>
          </a:xfrm>
          <a:prstGeom prst="rect">
            <a:avLst/>
          </a:prstGeom>
          <a:noFill/>
          <a:ln/>
        </p:spPr>
        <p:txBody>
          <a:bodyPr wrap="square" lIns="0" tIns="0" rIns="0" bIns="0" rtlCol="0" anchor="ctr"/>
          <a:lstStyle/>
          <a:p>
            <a:pPr marL="0" indent="0">
              <a:buNone/>
            </a:pPr>
            <a:r>
              <a:rPr lang="en-US" sz="2800" b="1" dirty="0">
                <a:solidFill>
                  <a:srgbClr val="15203B"/>
                </a:solidFill>
                <a:latin typeface="Cambria" pitchFamily="34" charset="0"/>
                <a:ea typeface="Cambria" pitchFamily="34" charset="-122"/>
                <a:cs typeface="Cambria" pitchFamily="34" charset="-120"/>
              </a:rPr>
              <a:t>Cắt đoạn chuyển động</a:t>
            </a:r>
            <a:endParaRPr lang="en-US" sz="2800" dirty="0"/>
          </a:p>
        </p:txBody>
      </p:sp>
      <p:sp>
        <p:nvSpPr>
          <p:cNvPr id="4" name="Text 2"/>
          <p:cNvSpPr txBox="1"/>
          <p:nvPr/>
        </p:nvSpPr>
        <p:spPr>
          <a:xfrm>
            <a:off x="8229600" y="4800600"/>
            <a:ext cx="457200" cy="201168"/>
          </a:xfrm>
          <a:prstGeom prst="rect">
            <a:avLst/>
          </a:prstGeom>
          <a:noFill/>
          <a:ln/>
        </p:spPr>
        <p:txBody>
          <a:bodyPr wrap="square" lIns="0" tIns="0" rIns="0" bIns="0" rtlCol="0" anchor="t"/>
          <a:lstStyle/>
          <a:p>
            <a:pPr marL="0" indent="0" algn="r">
              <a:buNone/>
            </a:pPr>
            <a:r>
              <a:rPr lang="en-US" sz="900" dirty="0">
                <a:solidFill>
                  <a:srgbClr val="5B6475"/>
                </a:solidFill>
                <a:latin typeface="Calibri" pitchFamily="34" charset="0"/>
                <a:ea typeface="Calibri" pitchFamily="34" charset="-122"/>
                <a:cs typeface="Calibri" pitchFamily="34" charset="-120"/>
              </a:rPr>
              <a:t>8</a:t>
            </a:r>
            <a:endParaRPr lang="en-US" sz="900" dirty="0"/>
          </a:p>
        </p:txBody>
      </p:sp>
      <p:sp>
        <p:nvSpPr>
          <p:cNvPr id="5" name="Shape 3"/>
          <p:cNvSpPr/>
          <p:nvPr/>
        </p:nvSpPr>
        <p:spPr>
          <a:xfrm>
            <a:off x="457200" y="1234440"/>
            <a:ext cx="1828800" cy="1783080"/>
          </a:xfrm>
          <a:prstGeom prst="roundRect">
            <a:avLst>
              <a:gd name="adj" fmla="val 4103"/>
            </a:avLst>
          </a:prstGeom>
          <a:solidFill>
            <a:srgbClr val="EEF2F8"/>
          </a:solidFill>
          <a:ln w="12700">
            <a:solidFill>
              <a:srgbClr val="EEF2F8"/>
            </a:solidFill>
            <a:prstDash val="solid"/>
          </a:ln>
        </p:spPr>
        <p:txBody>
          <a:bodyPr/>
          <a:lstStyle/>
          <a:p>
            <a:endParaRPr lang="en-US"/>
          </a:p>
        </p:txBody>
      </p:sp>
      <p:sp>
        <p:nvSpPr>
          <p:cNvPr id="6" name="Shape 4"/>
          <p:cNvSpPr/>
          <p:nvPr/>
        </p:nvSpPr>
        <p:spPr>
          <a:xfrm>
            <a:off x="640080" y="1389888"/>
            <a:ext cx="411480" cy="411480"/>
          </a:xfrm>
          <a:prstGeom prst="ellipse">
            <a:avLst/>
          </a:prstGeom>
          <a:solidFill>
            <a:srgbClr val="15203B"/>
          </a:solidFill>
          <a:ln w="12700">
            <a:solidFill>
              <a:srgbClr val="15203B"/>
            </a:solidFill>
            <a:prstDash val="solid"/>
          </a:ln>
        </p:spPr>
        <p:txBody>
          <a:bodyPr/>
          <a:lstStyle/>
          <a:p>
            <a:endParaRPr lang="en-US"/>
          </a:p>
        </p:txBody>
      </p:sp>
      <p:sp>
        <p:nvSpPr>
          <p:cNvPr id="7" name="Text 5"/>
          <p:cNvSpPr txBox="1"/>
          <p:nvPr/>
        </p:nvSpPr>
        <p:spPr>
          <a:xfrm>
            <a:off x="640080" y="1389888"/>
            <a:ext cx="411480" cy="41148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8" name="Text 6"/>
          <p:cNvSpPr txBox="1"/>
          <p:nvPr/>
        </p:nvSpPr>
        <p:spPr>
          <a:xfrm>
            <a:off x="640080" y="1874520"/>
            <a:ext cx="1508760" cy="292608"/>
          </a:xfrm>
          <a:prstGeom prst="rect">
            <a:avLst/>
          </a:prstGeom>
          <a:noFill/>
          <a:ln/>
        </p:spPr>
        <p:txBody>
          <a:bodyPr wrap="square" lIns="0" tIns="0" rIns="0" bIns="0" rtlCol="0" anchor="t"/>
          <a:lstStyle/>
          <a:p>
            <a:pPr marL="0" indent="0">
              <a:buNone/>
            </a:pPr>
            <a:r>
              <a:rPr lang="en-US" sz="1300" b="1" dirty="0">
                <a:solidFill>
                  <a:srgbClr val="15203B"/>
                </a:solidFill>
                <a:latin typeface="Calibri" pitchFamily="34" charset="0"/>
                <a:ea typeface="Calibri" pitchFamily="34" charset="-122"/>
                <a:cs typeface="Calibri" pitchFamily="34" charset="-120"/>
              </a:rPr>
              <a:t>Tín hiệu tốc độ</a:t>
            </a:r>
            <a:endParaRPr lang="en-US" sz="1300" dirty="0"/>
          </a:p>
        </p:txBody>
      </p:sp>
      <p:sp>
        <p:nvSpPr>
          <p:cNvPr id="9" name="Text 7"/>
          <p:cNvSpPr txBox="1"/>
          <p:nvPr/>
        </p:nvSpPr>
        <p:spPr>
          <a:xfrm>
            <a:off x="640080" y="2194560"/>
            <a:ext cx="1508760" cy="777240"/>
          </a:xfrm>
          <a:prstGeom prst="rect">
            <a:avLst/>
          </a:prstGeom>
          <a:noFill/>
          <a:ln/>
        </p:spPr>
        <p:txBody>
          <a:bodyPr wrap="square" lIns="0" tIns="0" rIns="0" bIns="0" rtlCol="0" anchor="t"/>
          <a:lstStyle/>
          <a:p>
            <a:pPr marL="0" indent="0">
              <a:buNone/>
            </a:pPr>
            <a:r>
              <a:rPr lang="en-US" sz="1050" dirty="0">
                <a:solidFill>
                  <a:srgbClr val="5B6475"/>
                </a:solidFill>
                <a:latin typeface="Calibri" pitchFamily="34" charset="0"/>
                <a:ea typeface="Calibri" pitchFamily="34" charset="-122"/>
                <a:cs typeface="Calibri" pitchFamily="34" charset="-120"/>
              </a:rPr>
              <a:t>Tốc độ cổ chân so với tâm hông (chân di chuyển nhiều hơn)</a:t>
            </a:r>
            <a:endParaRPr lang="en-US" sz="1050" dirty="0"/>
          </a:p>
        </p:txBody>
      </p:sp>
      <p:sp>
        <p:nvSpPr>
          <p:cNvPr id="10" name="Shape 8"/>
          <p:cNvSpPr/>
          <p:nvPr/>
        </p:nvSpPr>
        <p:spPr>
          <a:xfrm>
            <a:off x="2322576" y="2121408"/>
            <a:ext cx="228600" cy="0"/>
          </a:xfrm>
          <a:prstGeom prst="line">
            <a:avLst/>
          </a:prstGeom>
          <a:noFill/>
          <a:ln w="19050">
            <a:solidFill>
              <a:srgbClr val="5B6475"/>
            </a:solidFill>
            <a:prstDash val="solid"/>
            <a:tailEnd type="triangle"/>
          </a:ln>
        </p:spPr>
        <p:txBody>
          <a:bodyPr/>
          <a:lstStyle/>
          <a:p>
            <a:endParaRPr lang="en-US"/>
          </a:p>
        </p:txBody>
      </p:sp>
      <p:sp>
        <p:nvSpPr>
          <p:cNvPr id="11" name="Shape 9"/>
          <p:cNvSpPr/>
          <p:nvPr/>
        </p:nvSpPr>
        <p:spPr>
          <a:xfrm>
            <a:off x="2587752" y="1234440"/>
            <a:ext cx="1828800" cy="1783080"/>
          </a:xfrm>
          <a:prstGeom prst="roundRect">
            <a:avLst>
              <a:gd name="adj" fmla="val 4103"/>
            </a:avLst>
          </a:prstGeom>
          <a:solidFill>
            <a:srgbClr val="EEF2F8"/>
          </a:solidFill>
          <a:ln w="12700">
            <a:solidFill>
              <a:srgbClr val="EEF2F8"/>
            </a:solidFill>
            <a:prstDash val="solid"/>
          </a:ln>
        </p:spPr>
        <p:txBody>
          <a:bodyPr/>
          <a:lstStyle/>
          <a:p>
            <a:endParaRPr lang="en-US"/>
          </a:p>
        </p:txBody>
      </p:sp>
      <p:sp>
        <p:nvSpPr>
          <p:cNvPr id="12" name="Shape 10"/>
          <p:cNvSpPr/>
          <p:nvPr/>
        </p:nvSpPr>
        <p:spPr>
          <a:xfrm>
            <a:off x="2770632" y="1389888"/>
            <a:ext cx="411480" cy="411480"/>
          </a:xfrm>
          <a:prstGeom prst="ellipse">
            <a:avLst/>
          </a:prstGeom>
          <a:solidFill>
            <a:srgbClr val="15203B"/>
          </a:solidFill>
          <a:ln w="12700">
            <a:solidFill>
              <a:srgbClr val="15203B"/>
            </a:solidFill>
            <a:prstDash val="solid"/>
          </a:ln>
        </p:spPr>
        <p:txBody>
          <a:bodyPr/>
          <a:lstStyle/>
          <a:p>
            <a:endParaRPr lang="en-US"/>
          </a:p>
        </p:txBody>
      </p:sp>
      <p:sp>
        <p:nvSpPr>
          <p:cNvPr id="13" name="Text 11"/>
          <p:cNvSpPr txBox="1"/>
          <p:nvPr/>
        </p:nvSpPr>
        <p:spPr>
          <a:xfrm>
            <a:off x="2770632" y="1389888"/>
            <a:ext cx="411480" cy="41148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4" name="Text 12"/>
          <p:cNvSpPr txBox="1"/>
          <p:nvPr/>
        </p:nvSpPr>
        <p:spPr>
          <a:xfrm>
            <a:off x="2770632" y="1874520"/>
            <a:ext cx="1508760" cy="292608"/>
          </a:xfrm>
          <a:prstGeom prst="rect">
            <a:avLst/>
          </a:prstGeom>
          <a:noFill/>
          <a:ln/>
        </p:spPr>
        <p:txBody>
          <a:bodyPr wrap="square" lIns="0" tIns="0" rIns="0" bIns="0" rtlCol="0" anchor="t"/>
          <a:lstStyle/>
          <a:p>
            <a:pPr marL="0" indent="0">
              <a:buNone/>
            </a:pPr>
            <a:r>
              <a:rPr lang="en-US" sz="1300" b="1" dirty="0">
                <a:solidFill>
                  <a:srgbClr val="15203B"/>
                </a:solidFill>
                <a:latin typeface="Calibri" pitchFamily="34" charset="0"/>
                <a:ea typeface="Calibri" pitchFamily="34" charset="-122"/>
                <a:cs typeface="Calibri" pitchFamily="34" charset="-120"/>
              </a:rPr>
              <a:t>Làm mượt</a:t>
            </a:r>
            <a:endParaRPr lang="en-US" sz="1300" dirty="0"/>
          </a:p>
        </p:txBody>
      </p:sp>
      <p:sp>
        <p:nvSpPr>
          <p:cNvPr id="15" name="Text 13"/>
          <p:cNvSpPr txBox="1"/>
          <p:nvPr/>
        </p:nvSpPr>
        <p:spPr>
          <a:xfrm>
            <a:off x="2770632" y="2194560"/>
            <a:ext cx="1508760" cy="777240"/>
          </a:xfrm>
          <a:prstGeom prst="rect">
            <a:avLst/>
          </a:prstGeom>
          <a:noFill/>
          <a:ln/>
        </p:spPr>
        <p:txBody>
          <a:bodyPr wrap="square" lIns="0" tIns="0" rIns="0" bIns="0" rtlCol="0" anchor="t"/>
          <a:lstStyle/>
          <a:p>
            <a:pPr marL="0" indent="0">
              <a:buNone/>
            </a:pPr>
            <a:r>
              <a:rPr lang="en-US" sz="1050" dirty="0">
                <a:solidFill>
                  <a:srgbClr val="5B6475"/>
                </a:solidFill>
                <a:latin typeface="Calibri" pitchFamily="34" charset="0"/>
                <a:ea typeface="Calibri" pitchFamily="34" charset="-122"/>
                <a:cs typeface="Calibri" pitchFamily="34" charset="-120"/>
              </a:rPr>
              <a:t>Trung bình trượt 7 khung, tìm đỉnh tốc độ</a:t>
            </a:r>
            <a:endParaRPr lang="en-US" sz="1050" dirty="0"/>
          </a:p>
        </p:txBody>
      </p:sp>
      <p:sp>
        <p:nvSpPr>
          <p:cNvPr id="16" name="Shape 14"/>
          <p:cNvSpPr/>
          <p:nvPr/>
        </p:nvSpPr>
        <p:spPr>
          <a:xfrm>
            <a:off x="4453128" y="2121408"/>
            <a:ext cx="228600" cy="0"/>
          </a:xfrm>
          <a:prstGeom prst="line">
            <a:avLst/>
          </a:prstGeom>
          <a:noFill/>
          <a:ln w="19050">
            <a:solidFill>
              <a:srgbClr val="5B6475"/>
            </a:solidFill>
            <a:prstDash val="solid"/>
            <a:tailEnd type="triangle"/>
          </a:ln>
        </p:spPr>
        <p:txBody>
          <a:bodyPr/>
          <a:lstStyle/>
          <a:p>
            <a:endParaRPr lang="en-US"/>
          </a:p>
        </p:txBody>
      </p:sp>
      <p:sp>
        <p:nvSpPr>
          <p:cNvPr id="17" name="Shape 15"/>
          <p:cNvSpPr/>
          <p:nvPr/>
        </p:nvSpPr>
        <p:spPr>
          <a:xfrm>
            <a:off x="4718304" y="1234440"/>
            <a:ext cx="1828800" cy="1783080"/>
          </a:xfrm>
          <a:prstGeom prst="roundRect">
            <a:avLst>
              <a:gd name="adj" fmla="val 4103"/>
            </a:avLst>
          </a:prstGeom>
          <a:solidFill>
            <a:srgbClr val="EEF2F8"/>
          </a:solidFill>
          <a:ln w="12700">
            <a:solidFill>
              <a:srgbClr val="EEF2F8"/>
            </a:solidFill>
            <a:prstDash val="solid"/>
          </a:ln>
        </p:spPr>
        <p:txBody>
          <a:bodyPr/>
          <a:lstStyle/>
          <a:p>
            <a:endParaRPr lang="en-US"/>
          </a:p>
        </p:txBody>
      </p:sp>
      <p:sp>
        <p:nvSpPr>
          <p:cNvPr id="18" name="Shape 16"/>
          <p:cNvSpPr/>
          <p:nvPr/>
        </p:nvSpPr>
        <p:spPr>
          <a:xfrm>
            <a:off x="4901184" y="1389888"/>
            <a:ext cx="411480" cy="411480"/>
          </a:xfrm>
          <a:prstGeom prst="ellipse">
            <a:avLst/>
          </a:prstGeom>
          <a:solidFill>
            <a:srgbClr val="15203B"/>
          </a:solidFill>
          <a:ln w="12700">
            <a:solidFill>
              <a:srgbClr val="15203B"/>
            </a:solidFill>
            <a:prstDash val="solid"/>
          </a:ln>
        </p:spPr>
        <p:txBody>
          <a:bodyPr/>
          <a:lstStyle/>
          <a:p>
            <a:endParaRPr lang="en-US"/>
          </a:p>
        </p:txBody>
      </p:sp>
      <p:sp>
        <p:nvSpPr>
          <p:cNvPr id="19" name="Text 17"/>
          <p:cNvSpPr txBox="1"/>
          <p:nvPr/>
        </p:nvSpPr>
        <p:spPr>
          <a:xfrm>
            <a:off x="4901184" y="1389888"/>
            <a:ext cx="411480" cy="41148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0" name="Text 18"/>
          <p:cNvSpPr txBox="1"/>
          <p:nvPr/>
        </p:nvSpPr>
        <p:spPr>
          <a:xfrm>
            <a:off x="4901184" y="1874520"/>
            <a:ext cx="1508760" cy="292608"/>
          </a:xfrm>
          <a:prstGeom prst="rect">
            <a:avLst/>
          </a:prstGeom>
          <a:noFill/>
          <a:ln/>
        </p:spPr>
        <p:txBody>
          <a:bodyPr wrap="square" lIns="0" tIns="0" rIns="0" bIns="0" rtlCol="0" anchor="t"/>
          <a:lstStyle/>
          <a:p>
            <a:pPr marL="0" indent="0">
              <a:buNone/>
            </a:pPr>
            <a:r>
              <a:rPr lang="en-US" sz="1300" b="1" dirty="0">
                <a:solidFill>
                  <a:srgbClr val="15203B"/>
                </a:solidFill>
                <a:latin typeface="Calibri" pitchFamily="34" charset="0"/>
                <a:ea typeface="Calibri" pitchFamily="34" charset="-122"/>
                <a:cs typeface="Calibri" pitchFamily="34" charset="-120"/>
              </a:rPr>
              <a:t>Hai ngưỡng</a:t>
            </a:r>
            <a:endParaRPr lang="en-US" sz="1300" dirty="0"/>
          </a:p>
        </p:txBody>
      </p:sp>
      <p:sp>
        <p:nvSpPr>
          <p:cNvPr id="21" name="Text 19"/>
          <p:cNvSpPr txBox="1"/>
          <p:nvPr/>
        </p:nvSpPr>
        <p:spPr>
          <a:xfrm>
            <a:off x="4901184" y="2194560"/>
            <a:ext cx="1508760" cy="777240"/>
          </a:xfrm>
          <a:prstGeom prst="rect">
            <a:avLst/>
          </a:prstGeom>
          <a:noFill/>
          <a:ln/>
        </p:spPr>
        <p:txBody>
          <a:bodyPr wrap="square" lIns="0" tIns="0" rIns="0" bIns="0" rtlCol="0" anchor="t"/>
          <a:lstStyle/>
          <a:p>
            <a:pPr marL="0" indent="0">
              <a:buNone/>
            </a:pPr>
            <a:r>
              <a:rPr lang="en-US" sz="1050" dirty="0">
                <a:solidFill>
                  <a:srgbClr val="5B6475"/>
                </a:solidFill>
                <a:latin typeface="Calibri" pitchFamily="34" charset="0"/>
                <a:ea typeface="Calibri" pitchFamily="34" charset="-122"/>
                <a:cs typeface="Calibri" pitchFamily="34" charset="-120"/>
              </a:rPr>
              <a:t>Cao = max(phân vị 85%, 2 px); thấp = 0,55 × cao</a:t>
            </a:r>
            <a:endParaRPr lang="en-US" sz="1050" dirty="0"/>
          </a:p>
        </p:txBody>
      </p:sp>
      <p:sp>
        <p:nvSpPr>
          <p:cNvPr id="22" name="Shape 20"/>
          <p:cNvSpPr/>
          <p:nvPr/>
        </p:nvSpPr>
        <p:spPr>
          <a:xfrm>
            <a:off x="6583680" y="2121408"/>
            <a:ext cx="228600" cy="0"/>
          </a:xfrm>
          <a:prstGeom prst="line">
            <a:avLst/>
          </a:prstGeom>
          <a:noFill/>
          <a:ln w="19050">
            <a:solidFill>
              <a:srgbClr val="5B6475"/>
            </a:solidFill>
            <a:prstDash val="solid"/>
            <a:tailEnd type="triangle"/>
          </a:ln>
        </p:spPr>
        <p:txBody>
          <a:bodyPr/>
          <a:lstStyle/>
          <a:p>
            <a:endParaRPr lang="en-US"/>
          </a:p>
        </p:txBody>
      </p:sp>
      <p:sp>
        <p:nvSpPr>
          <p:cNvPr id="23" name="Shape 21"/>
          <p:cNvSpPr/>
          <p:nvPr/>
        </p:nvSpPr>
        <p:spPr>
          <a:xfrm>
            <a:off x="6848856" y="1234440"/>
            <a:ext cx="1828800" cy="1783080"/>
          </a:xfrm>
          <a:prstGeom prst="roundRect">
            <a:avLst>
              <a:gd name="adj" fmla="val 4103"/>
            </a:avLst>
          </a:prstGeom>
          <a:solidFill>
            <a:srgbClr val="EEF2F8"/>
          </a:solidFill>
          <a:ln w="12700">
            <a:solidFill>
              <a:srgbClr val="EEF2F8"/>
            </a:solidFill>
            <a:prstDash val="solid"/>
          </a:ln>
        </p:spPr>
        <p:txBody>
          <a:bodyPr/>
          <a:lstStyle/>
          <a:p>
            <a:endParaRPr lang="en-US"/>
          </a:p>
        </p:txBody>
      </p:sp>
      <p:sp>
        <p:nvSpPr>
          <p:cNvPr id="24" name="Shape 22"/>
          <p:cNvSpPr/>
          <p:nvPr/>
        </p:nvSpPr>
        <p:spPr>
          <a:xfrm>
            <a:off x="7031736" y="1389888"/>
            <a:ext cx="411480" cy="411480"/>
          </a:xfrm>
          <a:prstGeom prst="ellipse">
            <a:avLst/>
          </a:prstGeom>
          <a:solidFill>
            <a:srgbClr val="15203B"/>
          </a:solidFill>
          <a:ln w="12700">
            <a:solidFill>
              <a:srgbClr val="15203B"/>
            </a:solidFill>
            <a:prstDash val="solid"/>
          </a:ln>
        </p:spPr>
        <p:txBody>
          <a:bodyPr/>
          <a:lstStyle/>
          <a:p>
            <a:endParaRPr lang="en-US"/>
          </a:p>
        </p:txBody>
      </p:sp>
      <p:sp>
        <p:nvSpPr>
          <p:cNvPr id="25" name="Text 23"/>
          <p:cNvSpPr txBox="1"/>
          <p:nvPr/>
        </p:nvSpPr>
        <p:spPr>
          <a:xfrm>
            <a:off x="7031736" y="1389888"/>
            <a:ext cx="411480" cy="41148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6" name="Text 24"/>
          <p:cNvSpPr txBox="1"/>
          <p:nvPr/>
        </p:nvSpPr>
        <p:spPr>
          <a:xfrm>
            <a:off x="7031736" y="1874520"/>
            <a:ext cx="1508760" cy="292608"/>
          </a:xfrm>
          <a:prstGeom prst="rect">
            <a:avLst/>
          </a:prstGeom>
          <a:noFill/>
          <a:ln/>
        </p:spPr>
        <p:txBody>
          <a:bodyPr wrap="square" lIns="0" tIns="0" rIns="0" bIns="0" rtlCol="0" anchor="t"/>
          <a:lstStyle/>
          <a:p>
            <a:pPr marL="0" indent="0">
              <a:buNone/>
            </a:pPr>
            <a:r>
              <a:rPr lang="en-US" sz="1300" b="1" dirty="0">
                <a:solidFill>
                  <a:srgbClr val="15203B"/>
                </a:solidFill>
                <a:latin typeface="Calibri" pitchFamily="34" charset="0"/>
                <a:ea typeface="Calibri" pitchFamily="34" charset="-122"/>
                <a:cs typeface="Calibri" pitchFamily="34" charset="-120"/>
              </a:rPr>
              <a:t>Mở rộng từ đỉnh</a:t>
            </a:r>
            <a:endParaRPr lang="en-US" sz="1300" dirty="0"/>
          </a:p>
        </p:txBody>
      </p:sp>
      <p:sp>
        <p:nvSpPr>
          <p:cNvPr id="27" name="Text 25"/>
          <p:cNvSpPr txBox="1"/>
          <p:nvPr/>
        </p:nvSpPr>
        <p:spPr>
          <a:xfrm>
            <a:off x="7031736" y="2194560"/>
            <a:ext cx="1508760" cy="777240"/>
          </a:xfrm>
          <a:prstGeom prst="rect">
            <a:avLst/>
          </a:prstGeom>
          <a:noFill/>
          <a:ln/>
        </p:spPr>
        <p:txBody>
          <a:bodyPr wrap="square" lIns="0" tIns="0" rIns="0" bIns="0" rtlCol="0" anchor="t"/>
          <a:lstStyle/>
          <a:p>
            <a:pPr marL="0" indent="0">
              <a:buNone/>
            </a:pPr>
            <a:r>
              <a:rPr lang="en-US" sz="1050" dirty="0">
                <a:solidFill>
                  <a:srgbClr val="5B6475"/>
                </a:solidFill>
                <a:latin typeface="Calibri" pitchFamily="34" charset="0"/>
                <a:ea typeface="Calibri" pitchFamily="34" charset="-122"/>
                <a:cs typeface="Calibri" pitchFamily="34" charset="-120"/>
              </a:rPr>
              <a:t>Lấy đoạn liên tục ≥ ngưỡng thấp, ép dài 0,6 – 2,0 s</a:t>
            </a:r>
            <a:endParaRPr lang="en-US" sz="1050" dirty="0"/>
          </a:p>
        </p:txBody>
      </p:sp>
      <p:sp>
        <p:nvSpPr>
          <p:cNvPr id="28" name="Shape 26"/>
          <p:cNvSpPr/>
          <p:nvPr/>
        </p:nvSpPr>
        <p:spPr>
          <a:xfrm>
            <a:off x="457200" y="3291840"/>
            <a:ext cx="3977640" cy="1417320"/>
          </a:xfrm>
          <a:prstGeom prst="roundRect">
            <a:avLst>
              <a:gd name="adj" fmla="val 5161"/>
            </a:avLst>
          </a:prstGeom>
          <a:solidFill>
            <a:srgbClr val="EEF2F8"/>
          </a:solidFill>
          <a:ln w="12700">
            <a:solidFill>
              <a:srgbClr val="EEF2F8"/>
            </a:solidFill>
            <a:prstDash val="solid"/>
          </a:ln>
        </p:spPr>
        <p:txBody>
          <a:bodyPr/>
          <a:lstStyle/>
          <a:p>
            <a:endParaRPr lang="en-US"/>
          </a:p>
        </p:txBody>
      </p:sp>
      <p:sp>
        <p:nvSpPr>
          <p:cNvPr id="29" name="Text 27"/>
          <p:cNvSpPr txBox="1"/>
          <p:nvPr/>
        </p:nvSpPr>
        <p:spPr>
          <a:xfrm>
            <a:off x="640080" y="3401568"/>
            <a:ext cx="3657600" cy="292608"/>
          </a:xfrm>
          <a:prstGeom prst="rect">
            <a:avLst/>
          </a:prstGeom>
          <a:noFill/>
          <a:ln/>
        </p:spPr>
        <p:txBody>
          <a:bodyPr wrap="square" lIns="0" tIns="0" rIns="0" bIns="0" rtlCol="0" anchor="t"/>
          <a:lstStyle/>
          <a:p>
            <a:pPr marL="0" indent="0">
              <a:buNone/>
            </a:pPr>
            <a:r>
              <a:rPr lang="en-US" sz="1350" b="1" dirty="0">
                <a:solidFill>
                  <a:srgbClr val="15203B"/>
                </a:solidFill>
                <a:latin typeface="Calibri" pitchFamily="34" charset="0"/>
                <a:ea typeface="Calibri" pitchFamily="34" charset="-122"/>
                <a:cs typeface="Calibri" pitchFamily="34" charset="-120"/>
              </a:rPr>
              <a:t>Dùng cho model nhận dạng đòn đá</a:t>
            </a:r>
            <a:endParaRPr lang="en-US" sz="1350" dirty="0"/>
          </a:p>
        </p:txBody>
      </p:sp>
      <p:sp>
        <p:nvSpPr>
          <p:cNvPr id="30" name="Text 28"/>
          <p:cNvSpPr txBox="1"/>
          <p:nvPr/>
        </p:nvSpPr>
        <p:spPr>
          <a:xfrm>
            <a:off x="640080" y="3721608"/>
            <a:ext cx="3657600" cy="914400"/>
          </a:xfrm>
          <a:prstGeom prst="rect">
            <a:avLst/>
          </a:prstGeom>
          <a:noFill/>
          <a:ln/>
        </p:spPr>
        <p:txBody>
          <a:bodyPr wrap="square" lIns="0" tIns="0" rIns="0" bIns="0" rtlCol="0" anchor="t"/>
          <a:lstStyle/>
          <a:p>
            <a:pPr marL="0" indent="0">
              <a:buNone/>
            </a:pPr>
            <a:r>
              <a:rPr lang="en-US" sz="1150" dirty="0">
                <a:solidFill>
                  <a:srgbClr val="1E2533"/>
                </a:solidFill>
                <a:latin typeface="Calibri" pitchFamily="34" charset="0"/>
                <a:ea typeface="Calibri" pitchFamily="34" charset="-122"/>
                <a:cs typeface="Calibri" pitchFamily="34" charset="-120"/>
              </a:rPr>
              <a:t>Đúng hàm _compute_rel_speed_window của tác giả, nên model LSTM nhận đúng dạng dữ liệu đã train; bỏ đoạn đi lại, cầm điện thoại.</a:t>
            </a:r>
            <a:endParaRPr lang="en-US" sz="1150" dirty="0"/>
          </a:p>
        </p:txBody>
      </p:sp>
      <p:sp>
        <p:nvSpPr>
          <p:cNvPr id="31" name="Shape 29"/>
          <p:cNvSpPr/>
          <p:nvPr/>
        </p:nvSpPr>
        <p:spPr>
          <a:xfrm>
            <a:off x="4709160" y="3291840"/>
            <a:ext cx="3977640" cy="1417320"/>
          </a:xfrm>
          <a:prstGeom prst="roundRect">
            <a:avLst>
              <a:gd name="adj" fmla="val 5161"/>
            </a:avLst>
          </a:prstGeom>
          <a:solidFill>
            <a:srgbClr val="EEF2F8"/>
          </a:solidFill>
          <a:ln w="12700">
            <a:solidFill>
              <a:srgbClr val="EEF2F8"/>
            </a:solidFill>
            <a:prstDash val="solid"/>
          </a:ln>
        </p:spPr>
        <p:txBody>
          <a:bodyPr/>
          <a:lstStyle/>
          <a:p>
            <a:endParaRPr lang="en-US"/>
          </a:p>
        </p:txBody>
      </p:sp>
      <p:sp>
        <p:nvSpPr>
          <p:cNvPr id="32" name="Text 30"/>
          <p:cNvSpPr txBox="1"/>
          <p:nvPr/>
        </p:nvSpPr>
        <p:spPr>
          <a:xfrm>
            <a:off x="4892040" y="3401568"/>
            <a:ext cx="3657600" cy="292608"/>
          </a:xfrm>
          <a:prstGeom prst="rect">
            <a:avLst/>
          </a:prstGeom>
          <a:noFill/>
          <a:ln/>
        </p:spPr>
        <p:txBody>
          <a:bodyPr wrap="square" lIns="0" tIns="0" rIns="0" bIns="0" rtlCol="0" anchor="t"/>
          <a:lstStyle/>
          <a:p>
            <a:pPr marL="0" indent="0">
              <a:buNone/>
            </a:pPr>
            <a:r>
              <a:rPr lang="en-US" sz="1350" b="1" dirty="0">
                <a:solidFill>
                  <a:srgbClr val="15203B"/>
                </a:solidFill>
                <a:latin typeface="Calibri" pitchFamily="34" charset="0"/>
                <a:ea typeface="Calibri" pitchFamily="34" charset="-122"/>
                <a:cs typeface="Calibri" pitchFamily="34" charset="-120"/>
              </a:rPr>
              <a:t>Luật chấm đấm: không cắt</a:t>
            </a:r>
            <a:endParaRPr lang="en-US" sz="1350" dirty="0"/>
          </a:p>
        </p:txBody>
      </p:sp>
      <p:sp>
        <p:nvSpPr>
          <p:cNvPr id="33" name="Text 31"/>
          <p:cNvSpPr txBox="1"/>
          <p:nvPr/>
        </p:nvSpPr>
        <p:spPr>
          <a:xfrm>
            <a:off x="4892040" y="3721608"/>
            <a:ext cx="3657600" cy="914400"/>
          </a:xfrm>
          <a:prstGeom prst="rect">
            <a:avLst/>
          </a:prstGeom>
          <a:noFill/>
          <a:ln/>
        </p:spPr>
        <p:txBody>
          <a:bodyPr wrap="square" lIns="0" tIns="0" rIns="0" bIns="0" rtlCol="0" anchor="t"/>
          <a:lstStyle/>
          <a:p>
            <a:pPr marL="0" indent="0">
              <a:buNone/>
            </a:pPr>
            <a:r>
              <a:rPr lang="en-US" sz="1150" dirty="0">
                <a:solidFill>
                  <a:srgbClr val="1E2533"/>
                </a:solidFill>
                <a:latin typeface="Calibri" pitchFamily="34" charset="0"/>
                <a:ea typeface="Calibri" pitchFamily="34" charset="-122"/>
                <a:cs typeface="Calibri" pitchFamily="34" charset="-120"/>
              </a:rPr>
              <a:t>Giữ cả video để thấy tư thế thủ trước cú đấm và đoạn thu tay; các pha được tìm bằng tín hiệu riêng (thuật toán 5).</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56032"/>
            <a:ext cx="8229600" cy="237744"/>
          </a:xfrm>
          <a:prstGeom prst="rect">
            <a:avLst/>
          </a:prstGeom>
          <a:noFill/>
          <a:ln/>
        </p:spPr>
        <p:txBody>
          <a:bodyPr wrap="square" lIns="0" tIns="0" rIns="0" bIns="0" rtlCol="0" anchor="t"/>
          <a:lstStyle/>
          <a:p>
            <a:pPr marL="0" indent="0">
              <a:buNone/>
            </a:pPr>
            <a:r>
              <a:rPr lang="en-US" sz="1100" b="1" kern="0" spc="200" dirty="0">
                <a:solidFill>
                  <a:srgbClr val="C8102E"/>
                </a:solidFill>
                <a:latin typeface="Calibri" pitchFamily="34" charset="0"/>
                <a:ea typeface="Calibri" pitchFamily="34" charset="-122"/>
                <a:cs typeface="Calibri" pitchFamily="34" charset="-120"/>
              </a:rPr>
              <a:t>THUẬT TOÁN 3</a:t>
            </a:r>
            <a:endParaRPr lang="en-US" sz="1100" dirty="0"/>
          </a:p>
        </p:txBody>
      </p:sp>
      <p:sp>
        <p:nvSpPr>
          <p:cNvPr id="3" name="Text 1"/>
          <p:cNvSpPr txBox="1"/>
          <p:nvPr/>
        </p:nvSpPr>
        <p:spPr>
          <a:xfrm>
            <a:off x="457200" y="502920"/>
            <a:ext cx="8229600" cy="548640"/>
          </a:xfrm>
          <a:prstGeom prst="rect">
            <a:avLst/>
          </a:prstGeom>
          <a:noFill/>
          <a:ln/>
        </p:spPr>
        <p:txBody>
          <a:bodyPr wrap="square" lIns="0" tIns="0" rIns="0" bIns="0" rtlCol="0" anchor="ctr"/>
          <a:lstStyle/>
          <a:p>
            <a:pPr marL="0" indent="0">
              <a:buNone/>
            </a:pPr>
            <a:r>
              <a:rPr lang="en-US" sz="2800" b="1" dirty="0">
                <a:solidFill>
                  <a:srgbClr val="15203B"/>
                </a:solidFill>
                <a:latin typeface="Cambria" pitchFamily="34" charset="0"/>
                <a:ea typeface="Cambria" pitchFamily="34" charset="-122"/>
                <a:cs typeface="Cambria" pitchFamily="34" charset="-120"/>
              </a:rPr>
              <a:t>Nhận dạng đòn đá bằng LSTM</a:t>
            </a:r>
            <a:endParaRPr lang="en-US" sz="2800" dirty="0"/>
          </a:p>
        </p:txBody>
      </p:sp>
      <p:sp>
        <p:nvSpPr>
          <p:cNvPr id="4" name="Text 2"/>
          <p:cNvSpPr txBox="1"/>
          <p:nvPr/>
        </p:nvSpPr>
        <p:spPr>
          <a:xfrm>
            <a:off x="8229600" y="4800600"/>
            <a:ext cx="457200" cy="201168"/>
          </a:xfrm>
          <a:prstGeom prst="rect">
            <a:avLst/>
          </a:prstGeom>
          <a:noFill/>
          <a:ln/>
        </p:spPr>
        <p:txBody>
          <a:bodyPr wrap="square" lIns="0" tIns="0" rIns="0" bIns="0" rtlCol="0" anchor="t"/>
          <a:lstStyle/>
          <a:p>
            <a:pPr marL="0" indent="0" algn="r">
              <a:buNone/>
            </a:pPr>
            <a:r>
              <a:rPr lang="en-US" sz="900" dirty="0">
                <a:solidFill>
                  <a:srgbClr val="5B6475"/>
                </a:solidFill>
                <a:latin typeface="Calibri" pitchFamily="34" charset="0"/>
                <a:ea typeface="Calibri" pitchFamily="34" charset="-122"/>
                <a:cs typeface="Calibri" pitchFamily="34" charset="-120"/>
              </a:rPr>
              <a:t>9</a:t>
            </a:r>
            <a:endParaRPr lang="en-US" sz="900" dirty="0"/>
          </a:p>
        </p:txBody>
      </p:sp>
      <p:sp>
        <p:nvSpPr>
          <p:cNvPr id="5" name="Shape 3"/>
          <p:cNvSpPr/>
          <p:nvPr/>
        </p:nvSpPr>
        <p:spPr>
          <a:xfrm>
            <a:off x="457200" y="1188720"/>
            <a:ext cx="4480560" cy="493776"/>
          </a:xfrm>
          <a:prstGeom prst="roundRect">
            <a:avLst>
              <a:gd name="adj" fmla="val 14815"/>
            </a:avLst>
          </a:prstGeom>
          <a:solidFill>
            <a:srgbClr val="EEF2F8"/>
          </a:solidFill>
          <a:ln w="12700">
            <a:solidFill>
              <a:srgbClr val="EEF2F8"/>
            </a:solidFill>
            <a:prstDash val="solid"/>
          </a:ln>
        </p:spPr>
        <p:txBody>
          <a:bodyPr/>
          <a:lstStyle/>
          <a:p>
            <a:endParaRPr lang="en-US"/>
          </a:p>
        </p:txBody>
      </p:sp>
      <p:sp>
        <p:nvSpPr>
          <p:cNvPr id="6" name="Shape 4"/>
          <p:cNvSpPr/>
          <p:nvPr/>
        </p:nvSpPr>
        <p:spPr>
          <a:xfrm>
            <a:off x="566928" y="1266444"/>
            <a:ext cx="338328" cy="338328"/>
          </a:xfrm>
          <a:prstGeom prst="ellipse">
            <a:avLst/>
          </a:prstGeom>
          <a:solidFill>
            <a:srgbClr val="15203B"/>
          </a:solidFill>
          <a:ln w="12700">
            <a:solidFill>
              <a:srgbClr val="15203B"/>
            </a:solidFill>
            <a:prstDash val="solid"/>
          </a:ln>
        </p:spPr>
        <p:txBody>
          <a:bodyPr/>
          <a:lstStyle/>
          <a:p>
            <a:endParaRPr lang="en-US"/>
          </a:p>
        </p:txBody>
      </p:sp>
      <p:sp>
        <p:nvSpPr>
          <p:cNvPr id="7" name="Text 5"/>
          <p:cNvSpPr txBox="1"/>
          <p:nvPr/>
        </p:nvSpPr>
        <p:spPr>
          <a:xfrm>
            <a:off x="566928" y="1266444"/>
            <a:ext cx="338328" cy="33832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8" name="Text 6"/>
          <p:cNvSpPr txBox="1"/>
          <p:nvPr/>
        </p:nvSpPr>
        <p:spPr>
          <a:xfrm>
            <a:off x="1051560" y="1188720"/>
            <a:ext cx="3794760" cy="493776"/>
          </a:xfrm>
          <a:prstGeom prst="rect">
            <a:avLst/>
          </a:prstGeom>
          <a:noFill/>
          <a:ln/>
        </p:spPr>
        <p:txBody>
          <a:bodyPr wrap="square" lIns="0" tIns="0" rIns="0" bIns="0" rtlCol="0" anchor="ctr"/>
          <a:lstStyle/>
          <a:p>
            <a:pPr marL="0" indent="0">
              <a:buNone/>
            </a:pPr>
            <a:r>
              <a:rPr lang="en-US" sz="1150" dirty="0">
                <a:solidFill>
                  <a:srgbClr val="1E2533"/>
                </a:solidFill>
                <a:latin typeface="Calibri" pitchFamily="34" charset="0"/>
                <a:ea typeface="Calibri" pitchFamily="34" charset="-122"/>
                <a:cs typeface="Calibri" pitchFamily="34" charset="-120"/>
              </a:rPr>
              <a:t>Điền khớp bị che (visibility &lt; 0,5) bằng giá trị gần nhất</a:t>
            </a:r>
            <a:endParaRPr lang="en-US" sz="1150" dirty="0"/>
          </a:p>
        </p:txBody>
      </p:sp>
      <p:sp>
        <p:nvSpPr>
          <p:cNvPr id="9" name="Shape 7"/>
          <p:cNvSpPr/>
          <p:nvPr/>
        </p:nvSpPr>
        <p:spPr>
          <a:xfrm>
            <a:off x="457200" y="1792224"/>
            <a:ext cx="4480560" cy="493776"/>
          </a:xfrm>
          <a:prstGeom prst="roundRect">
            <a:avLst>
              <a:gd name="adj" fmla="val 14815"/>
            </a:avLst>
          </a:prstGeom>
          <a:solidFill>
            <a:srgbClr val="EEF2F8"/>
          </a:solidFill>
          <a:ln w="12700">
            <a:solidFill>
              <a:srgbClr val="EEF2F8"/>
            </a:solidFill>
            <a:prstDash val="solid"/>
          </a:ln>
        </p:spPr>
        <p:txBody>
          <a:bodyPr/>
          <a:lstStyle/>
          <a:p>
            <a:endParaRPr lang="en-US"/>
          </a:p>
        </p:txBody>
      </p:sp>
      <p:sp>
        <p:nvSpPr>
          <p:cNvPr id="10" name="Shape 8"/>
          <p:cNvSpPr/>
          <p:nvPr/>
        </p:nvSpPr>
        <p:spPr>
          <a:xfrm>
            <a:off x="566928" y="1869948"/>
            <a:ext cx="338328" cy="338328"/>
          </a:xfrm>
          <a:prstGeom prst="ellipse">
            <a:avLst/>
          </a:prstGeom>
          <a:solidFill>
            <a:srgbClr val="15203B"/>
          </a:solidFill>
          <a:ln w="12700">
            <a:solidFill>
              <a:srgbClr val="15203B"/>
            </a:solidFill>
            <a:prstDash val="solid"/>
          </a:ln>
        </p:spPr>
        <p:txBody>
          <a:bodyPr/>
          <a:lstStyle/>
          <a:p>
            <a:endParaRPr lang="en-US"/>
          </a:p>
        </p:txBody>
      </p:sp>
      <p:sp>
        <p:nvSpPr>
          <p:cNvPr id="11" name="Text 9"/>
          <p:cNvSpPr txBox="1"/>
          <p:nvPr/>
        </p:nvSpPr>
        <p:spPr>
          <a:xfrm>
            <a:off x="566928" y="1869948"/>
            <a:ext cx="338328" cy="33832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2" name="Text 10"/>
          <p:cNvSpPr txBox="1"/>
          <p:nvPr/>
        </p:nvSpPr>
        <p:spPr>
          <a:xfrm>
            <a:off x="1051560" y="1792224"/>
            <a:ext cx="3794760" cy="493776"/>
          </a:xfrm>
          <a:prstGeom prst="rect">
            <a:avLst/>
          </a:prstGeom>
          <a:noFill/>
          <a:ln/>
        </p:spPr>
        <p:txBody>
          <a:bodyPr wrap="square" lIns="0" tIns="0" rIns="0" bIns="0" rtlCol="0" anchor="ctr"/>
          <a:lstStyle/>
          <a:p>
            <a:pPr marL="0" indent="0">
              <a:buNone/>
            </a:pPr>
            <a:r>
              <a:rPr lang="en-US" sz="1150" dirty="0">
                <a:solidFill>
                  <a:srgbClr val="1E2533"/>
                </a:solidFill>
                <a:latin typeface="Calibri" pitchFamily="34" charset="0"/>
                <a:ea typeface="Calibri" pitchFamily="34" charset="-122"/>
                <a:cs typeface="Calibri" pitchFamily="34" charset="-120"/>
              </a:rPr>
              <a:t>Chuẩn hóa: trừ tâm hông, chia max(rộng vai, rộng hông)</a:t>
            </a:r>
            <a:endParaRPr lang="en-US" sz="1150" dirty="0"/>
          </a:p>
        </p:txBody>
      </p:sp>
      <p:sp>
        <p:nvSpPr>
          <p:cNvPr id="13" name="Shape 11"/>
          <p:cNvSpPr/>
          <p:nvPr/>
        </p:nvSpPr>
        <p:spPr>
          <a:xfrm>
            <a:off x="457200" y="2395728"/>
            <a:ext cx="4480560" cy="493776"/>
          </a:xfrm>
          <a:prstGeom prst="roundRect">
            <a:avLst>
              <a:gd name="adj" fmla="val 14815"/>
            </a:avLst>
          </a:prstGeom>
          <a:solidFill>
            <a:srgbClr val="EEF2F8"/>
          </a:solidFill>
          <a:ln w="12700">
            <a:solidFill>
              <a:srgbClr val="EEF2F8"/>
            </a:solidFill>
            <a:prstDash val="solid"/>
          </a:ln>
        </p:spPr>
        <p:txBody>
          <a:bodyPr/>
          <a:lstStyle/>
          <a:p>
            <a:endParaRPr lang="en-US"/>
          </a:p>
        </p:txBody>
      </p:sp>
      <p:sp>
        <p:nvSpPr>
          <p:cNvPr id="14" name="Shape 12"/>
          <p:cNvSpPr/>
          <p:nvPr/>
        </p:nvSpPr>
        <p:spPr>
          <a:xfrm>
            <a:off x="566928" y="2473452"/>
            <a:ext cx="338328" cy="338328"/>
          </a:xfrm>
          <a:prstGeom prst="ellipse">
            <a:avLst/>
          </a:prstGeom>
          <a:solidFill>
            <a:srgbClr val="15203B"/>
          </a:solidFill>
          <a:ln w="12700">
            <a:solidFill>
              <a:srgbClr val="15203B"/>
            </a:solidFill>
            <a:prstDash val="solid"/>
          </a:ln>
        </p:spPr>
        <p:txBody>
          <a:bodyPr/>
          <a:lstStyle/>
          <a:p>
            <a:endParaRPr lang="en-US"/>
          </a:p>
        </p:txBody>
      </p:sp>
      <p:sp>
        <p:nvSpPr>
          <p:cNvPr id="15" name="Text 13"/>
          <p:cNvSpPr txBox="1"/>
          <p:nvPr/>
        </p:nvSpPr>
        <p:spPr>
          <a:xfrm>
            <a:off x="566928" y="2473452"/>
            <a:ext cx="338328" cy="33832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6" name="Text 14"/>
          <p:cNvSpPr txBox="1"/>
          <p:nvPr/>
        </p:nvSpPr>
        <p:spPr>
          <a:xfrm>
            <a:off x="1051560" y="2395728"/>
            <a:ext cx="3794760" cy="493776"/>
          </a:xfrm>
          <a:prstGeom prst="rect">
            <a:avLst/>
          </a:prstGeom>
          <a:noFill/>
          <a:ln/>
        </p:spPr>
        <p:txBody>
          <a:bodyPr wrap="square" lIns="0" tIns="0" rIns="0" bIns="0" rtlCol="0" anchor="ctr"/>
          <a:lstStyle/>
          <a:p>
            <a:pPr marL="0" indent="0">
              <a:buNone/>
            </a:pPr>
            <a:r>
              <a:rPr lang="en-US" sz="1150" dirty="0">
                <a:solidFill>
                  <a:srgbClr val="1E2533"/>
                </a:solidFill>
                <a:latin typeface="Calibri" pitchFamily="34" charset="0"/>
                <a:ea typeface="Calibri" pitchFamily="34" charset="-122"/>
                <a:cs typeface="Calibri" pitchFamily="34" charset="-120"/>
              </a:rPr>
              <a:t>Lấy mẫu lại đều về T = 96 khung</a:t>
            </a:r>
            <a:endParaRPr lang="en-US" sz="1150" dirty="0"/>
          </a:p>
        </p:txBody>
      </p:sp>
      <p:sp>
        <p:nvSpPr>
          <p:cNvPr id="17" name="Shape 15"/>
          <p:cNvSpPr/>
          <p:nvPr/>
        </p:nvSpPr>
        <p:spPr>
          <a:xfrm>
            <a:off x="457200" y="2999232"/>
            <a:ext cx="4480560" cy="493776"/>
          </a:xfrm>
          <a:prstGeom prst="roundRect">
            <a:avLst>
              <a:gd name="adj" fmla="val 14815"/>
            </a:avLst>
          </a:prstGeom>
          <a:solidFill>
            <a:srgbClr val="EEF2F8"/>
          </a:solidFill>
          <a:ln w="12700">
            <a:solidFill>
              <a:srgbClr val="EEF2F8"/>
            </a:solidFill>
            <a:prstDash val="solid"/>
          </a:ln>
        </p:spPr>
        <p:txBody>
          <a:bodyPr/>
          <a:lstStyle/>
          <a:p>
            <a:endParaRPr lang="en-US"/>
          </a:p>
        </p:txBody>
      </p:sp>
      <p:sp>
        <p:nvSpPr>
          <p:cNvPr id="18" name="Shape 16"/>
          <p:cNvSpPr/>
          <p:nvPr/>
        </p:nvSpPr>
        <p:spPr>
          <a:xfrm>
            <a:off x="566928" y="3076956"/>
            <a:ext cx="338328" cy="338328"/>
          </a:xfrm>
          <a:prstGeom prst="ellipse">
            <a:avLst/>
          </a:prstGeom>
          <a:solidFill>
            <a:srgbClr val="15203B"/>
          </a:solidFill>
          <a:ln w="12700">
            <a:solidFill>
              <a:srgbClr val="15203B"/>
            </a:solidFill>
            <a:prstDash val="solid"/>
          </a:ln>
        </p:spPr>
        <p:txBody>
          <a:bodyPr/>
          <a:lstStyle/>
          <a:p>
            <a:endParaRPr lang="en-US"/>
          </a:p>
        </p:txBody>
      </p:sp>
      <p:sp>
        <p:nvSpPr>
          <p:cNvPr id="19" name="Text 17"/>
          <p:cNvSpPr txBox="1"/>
          <p:nvPr/>
        </p:nvSpPr>
        <p:spPr>
          <a:xfrm>
            <a:off x="566928" y="3076956"/>
            <a:ext cx="338328" cy="33832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0" name="Text 18"/>
          <p:cNvSpPr txBox="1"/>
          <p:nvPr/>
        </p:nvSpPr>
        <p:spPr>
          <a:xfrm>
            <a:off x="1051560" y="2999232"/>
            <a:ext cx="3794760" cy="493776"/>
          </a:xfrm>
          <a:prstGeom prst="rect">
            <a:avLst/>
          </a:prstGeom>
          <a:noFill/>
          <a:ln/>
        </p:spPr>
        <p:txBody>
          <a:bodyPr wrap="square" lIns="0" tIns="0" rIns="0" bIns="0" rtlCol="0" anchor="ctr"/>
          <a:lstStyle/>
          <a:p>
            <a:pPr marL="0" indent="0">
              <a:buNone/>
            </a:pPr>
            <a:r>
              <a:rPr lang="en-US" sz="1150" dirty="0">
                <a:solidFill>
                  <a:srgbClr val="1E2533"/>
                </a:solidFill>
                <a:latin typeface="Calibri" pitchFamily="34" charset="0"/>
                <a:ea typeface="Calibri" pitchFamily="34" charset="-122"/>
                <a:cs typeface="Calibri" pitchFamily="34" charset="-120"/>
              </a:rPr>
              <a:t>Đặc trưng 52 chiều/khung = 26 vị trí + 26 vận tốc</a:t>
            </a:r>
            <a:endParaRPr lang="en-US" sz="1150" dirty="0"/>
          </a:p>
        </p:txBody>
      </p:sp>
      <p:sp>
        <p:nvSpPr>
          <p:cNvPr id="21" name="Shape 19"/>
          <p:cNvSpPr/>
          <p:nvPr/>
        </p:nvSpPr>
        <p:spPr>
          <a:xfrm>
            <a:off x="457200" y="3602736"/>
            <a:ext cx="4480560" cy="493776"/>
          </a:xfrm>
          <a:prstGeom prst="roundRect">
            <a:avLst>
              <a:gd name="adj" fmla="val 14815"/>
            </a:avLst>
          </a:prstGeom>
          <a:solidFill>
            <a:srgbClr val="15203B"/>
          </a:solidFill>
          <a:ln w="12700">
            <a:solidFill>
              <a:srgbClr val="15203B"/>
            </a:solidFill>
            <a:prstDash val="solid"/>
          </a:ln>
        </p:spPr>
        <p:txBody>
          <a:bodyPr/>
          <a:lstStyle/>
          <a:p>
            <a:endParaRPr lang="en-US"/>
          </a:p>
        </p:txBody>
      </p:sp>
      <p:sp>
        <p:nvSpPr>
          <p:cNvPr id="22" name="Shape 20"/>
          <p:cNvSpPr/>
          <p:nvPr/>
        </p:nvSpPr>
        <p:spPr>
          <a:xfrm>
            <a:off x="566928" y="3680460"/>
            <a:ext cx="338328" cy="338328"/>
          </a:xfrm>
          <a:prstGeom prst="ellipse">
            <a:avLst/>
          </a:prstGeom>
          <a:solidFill>
            <a:srgbClr val="C8102E"/>
          </a:solidFill>
          <a:ln w="12700">
            <a:solidFill>
              <a:srgbClr val="C8102E"/>
            </a:solidFill>
            <a:prstDash val="solid"/>
          </a:ln>
        </p:spPr>
        <p:txBody>
          <a:bodyPr/>
          <a:lstStyle/>
          <a:p>
            <a:endParaRPr lang="en-US"/>
          </a:p>
        </p:txBody>
      </p:sp>
      <p:sp>
        <p:nvSpPr>
          <p:cNvPr id="23" name="Text 21"/>
          <p:cNvSpPr txBox="1"/>
          <p:nvPr/>
        </p:nvSpPr>
        <p:spPr>
          <a:xfrm>
            <a:off x="566928" y="3680460"/>
            <a:ext cx="338328" cy="33832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4" name="Text 22"/>
          <p:cNvSpPr txBox="1"/>
          <p:nvPr/>
        </p:nvSpPr>
        <p:spPr>
          <a:xfrm>
            <a:off x="1051560" y="3602736"/>
            <a:ext cx="3794760" cy="493776"/>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BiLSTM 2 lớp × 128 → trung bình theo thời gian → Linear → Softmax (3 lớp)</a:t>
            </a:r>
            <a:endParaRPr lang="en-US" sz="1150" dirty="0"/>
          </a:p>
        </p:txBody>
      </p:sp>
      <p:sp>
        <p:nvSpPr>
          <p:cNvPr id="25" name="Text 23"/>
          <p:cNvSpPr txBox="1"/>
          <p:nvPr/>
        </p:nvSpPr>
        <p:spPr>
          <a:xfrm>
            <a:off x="457200" y="4297680"/>
            <a:ext cx="4480560" cy="411480"/>
          </a:xfrm>
          <a:prstGeom prst="rect">
            <a:avLst/>
          </a:prstGeom>
          <a:noFill/>
          <a:ln/>
        </p:spPr>
        <p:txBody>
          <a:bodyPr wrap="square" lIns="0" tIns="0" rIns="0" bIns="0" rtlCol="0" anchor="t"/>
          <a:lstStyle/>
          <a:p>
            <a:pPr marL="0" indent="0">
              <a:buNone/>
            </a:pPr>
            <a:r>
              <a:rPr lang="en-US" sz="1150" i="1" dirty="0">
                <a:solidFill>
                  <a:srgbClr val="5B6475"/>
                </a:solidFill>
                <a:latin typeface="Calibri" pitchFamily="34" charset="0"/>
                <a:ea typeface="Calibri" pitchFamily="34" charset="-122"/>
                <a:cs typeface="Calibri" pitchFamily="34" charset="-120"/>
              </a:rPr>
              <a:t>Ensemble 3 seed: lấy trung bình xác suất của 3 model → đòn có xác suất cao nhất.</a:t>
            </a:r>
            <a:endParaRPr lang="en-US" sz="1150" dirty="0"/>
          </a:p>
        </p:txBody>
      </p:sp>
      <p:graphicFrame>
        <p:nvGraphicFramePr>
          <p:cNvPr id="26" name="Chart 0"/>
          <p:cNvGraphicFramePr/>
          <p:nvPr/>
        </p:nvGraphicFramePr>
        <p:xfrm>
          <a:off x="5212080" y="1143000"/>
          <a:ext cx="3474720" cy="3108960"/>
        </p:xfrm>
        <a:graphic>
          <a:graphicData uri="http://schemas.openxmlformats.org/drawingml/2006/chart">
            <c:chart xmlns:c="http://schemas.openxmlformats.org/drawingml/2006/chart" xmlns:r="http://schemas.openxmlformats.org/officeDocument/2006/relationships" r:id="rId3"/>
          </a:graphicData>
        </a:graphic>
      </p:graphicFrame>
      <p:sp>
        <p:nvSpPr>
          <p:cNvPr id="27" name="Text 24"/>
          <p:cNvSpPr txBox="1"/>
          <p:nvPr/>
        </p:nvSpPr>
        <p:spPr>
          <a:xfrm>
            <a:off x="5212080" y="4297680"/>
            <a:ext cx="3474720" cy="411480"/>
          </a:xfrm>
          <a:prstGeom prst="rect">
            <a:avLst/>
          </a:prstGeom>
          <a:noFill/>
          <a:ln/>
        </p:spPr>
        <p:txBody>
          <a:bodyPr wrap="square" lIns="0" tIns="0" rIns="0" bIns="0" rtlCol="0" anchor="t"/>
          <a:lstStyle/>
          <a:p>
            <a:pPr marL="0" indent="0">
              <a:buNone/>
            </a:pPr>
            <a:r>
              <a:rPr lang="en-US" sz="1000" dirty="0">
                <a:solidFill>
                  <a:srgbClr val="5B6475"/>
                </a:solidFill>
                <a:latin typeface="Calibri" pitchFamily="34" charset="0"/>
                <a:ea typeface="Calibri" pitchFamily="34" charset="-122"/>
                <a:cs typeface="Calibri" pitchFamily="34" charset="-120"/>
              </a:rPr>
              <a:t>Kết quả của tác giả trên tập val, trung bình 3 seed; chia mẫu ngẫu nhiên, chưa tách theo người.</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56032"/>
            <a:ext cx="8229600" cy="237744"/>
          </a:xfrm>
          <a:prstGeom prst="rect">
            <a:avLst/>
          </a:prstGeom>
          <a:noFill/>
          <a:ln/>
        </p:spPr>
        <p:txBody>
          <a:bodyPr wrap="square" lIns="0" tIns="0" rIns="0" bIns="0" rtlCol="0" anchor="t"/>
          <a:lstStyle/>
          <a:p>
            <a:pPr marL="0" indent="0">
              <a:buNone/>
            </a:pPr>
            <a:r>
              <a:rPr lang="en-US" sz="1100" b="1" kern="0" spc="200" dirty="0">
                <a:solidFill>
                  <a:srgbClr val="C8102E"/>
                </a:solidFill>
                <a:latin typeface="Calibri" pitchFamily="34" charset="0"/>
                <a:ea typeface="Calibri" pitchFamily="34" charset="-122"/>
                <a:cs typeface="Calibri" pitchFamily="34" charset="-120"/>
              </a:rPr>
              <a:t>THUẬT TOÁN 4</a:t>
            </a:r>
            <a:endParaRPr lang="en-US" sz="1100" dirty="0"/>
          </a:p>
        </p:txBody>
      </p:sp>
      <p:sp>
        <p:nvSpPr>
          <p:cNvPr id="3" name="Text 1"/>
          <p:cNvSpPr txBox="1"/>
          <p:nvPr/>
        </p:nvSpPr>
        <p:spPr>
          <a:xfrm>
            <a:off x="457200" y="502920"/>
            <a:ext cx="8229600" cy="548640"/>
          </a:xfrm>
          <a:prstGeom prst="rect">
            <a:avLst/>
          </a:prstGeom>
          <a:noFill/>
          <a:ln/>
        </p:spPr>
        <p:txBody>
          <a:bodyPr wrap="square" lIns="0" tIns="0" rIns="0" bIns="0" rtlCol="0" anchor="ctr"/>
          <a:lstStyle/>
          <a:p>
            <a:pPr marL="0" indent="0">
              <a:buNone/>
            </a:pPr>
            <a:r>
              <a:rPr lang="en-US" sz="2800" b="1" dirty="0">
                <a:solidFill>
                  <a:srgbClr val="15203B"/>
                </a:solidFill>
                <a:latin typeface="Cambria" pitchFamily="34" charset="0"/>
                <a:ea typeface="Cambria" pitchFamily="34" charset="-122"/>
                <a:cs typeface="Cambria" pitchFamily="34" charset="-120"/>
              </a:rPr>
              <a:t>Luật chấm đòn đá (của tác giả)</a:t>
            </a:r>
            <a:endParaRPr lang="en-US" sz="2800" dirty="0"/>
          </a:p>
        </p:txBody>
      </p:sp>
      <p:sp>
        <p:nvSpPr>
          <p:cNvPr id="4" name="Text 2"/>
          <p:cNvSpPr txBox="1"/>
          <p:nvPr/>
        </p:nvSpPr>
        <p:spPr>
          <a:xfrm>
            <a:off x="8229600" y="4800600"/>
            <a:ext cx="457200" cy="201168"/>
          </a:xfrm>
          <a:prstGeom prst="rect">
            <a:avLst/>
          </a:prstGeom>
          <a:noFill/>
          <a:ln/>
        </p:spPr>
        <p:txBody>
          <a:bodyPr wrap="square" lIns="0" tIns="0" rIns="0" bIns="0" rtlCol="0" anchor="t"/>
          <a:lstStyle/>
          <a:p>
            <a:pPr marL="0" indent="0" algn="r">
              <a:buNone/>
            </a:pPr>
            <a:r>
              <a:rPr lang="en-US" sz="900" dirty="0">
                <a:solidFill>
                  <a:srgbClr val="5B6475"/>
                </a:solidFill>
                <a:latin typeface="Calibri" pitchFamily="34" charset="0"/>
                <a:ea typeface="Calibri" pitchFamily="34" charset="-122"/>
                <a:cs typeface="Calibri" pitchFamily="34" charset="-120"/>
              </a:rPr>
              <a:t>10</a:t>
            </a:r>
            <a:endParaRPr lang="en-US" sz="900" dirty="0"/>
          </a:p>
        </p:txBody>
      </p:sp>
      <p:sp>
        <p:nvSpPr>
          <p:cNvPr id="5" name="Text 3"/>
          <p:cNvSpPr txBox="1"/>
          <p:nvPr/>
        </p:nvSpPr>
        <p:spPr>
          <a:xfrm>
            <a:off x="457200" y="1188720"/>
            <a:ext cx="3931920" cy="292608"/>
          </a:xfrm>
          <a:prstGeom prst="rect">
            <a:avLst/>
          </a:prstGeom>
          <a:noFill/>
          <a:ln/>
        </p:spPr>
        <p:txBody>
          <a:bodyPr wrap="square" lIns="0" tIns="0" rIns="0" bIns="0" rtlCol="0" anchor="t"/>
          <a:lstStyle/>
          <a:p>
            <a:pPr marL="0" indent="0">
              <a:buNone/>
            </a:pPr>
            <a:r>
              <a:rPr lang="en-US" sz="1350" b="1" dirty="0">
                <a:solidFill>
                  <a:srgbClr val="15203B"/>
                </a:solidFill>
                <a:latin typeface="Calibri" pitchFamily="34" charset="0"/>
                <a:ea typeface="Calibri" pitchFamily="34" charset="-122"/>
                <a:cs typeface="Calibri" pitchFamily="34" charset="-120"/>
              </a:rPr>
              <a:t>Chia pha theo khoảng cách cổ chân – hông</a:t>
            </a:r>
            <a:endParaRPr lang="en-US" sz="1350" dirty="0"/>
          </a:p>
        </p:txBody>
      </p:sp>
      <p:sp>
        <p:nvSpPr>
          <p:cNvPr id="6" name="Shape 4"/>
          <p:cNvSpPr/>
          <p:nvPr/>
        </p:nvSpPr>
        <p:spPr>
          <a:xfrm>
            <a:off x="731520" y="1874520"/>
            <a:ext cx="3383280" cy="0"/>
          </a:xfrm>
          <a:prstGeom prst="line">
            <a:avLst/>
          </a:prstGeom>
          <a:noFill/>
          <a:ln w="25400">
            <a:solidFill>
              <a:srgbClr val="5B6475"/>
            </a:solidFill>
            <a:prstDash val="solid"/>
          </a:ln>
        </p:spPr>
        <p:txBody>
          <a:bodyPr/>
          <a:lstStyle/>
          <a:p>
            <a:endParaRPr lang="en-US"/>
          </a:p>
        </p:txBody>
      </p:sp>
      <p:sp>
        <p:nvSpPr>
          <p:cNvPr id="7" name="Shape 5"/>
          <p:cNvSpPr/>
          <p:nvPr/>
        </p:nvSpPr>
        <p:spPr>
          <a:xfrm>
            <a:off x="603504" y="1746504"/>
            <a:ext cx="256032" cy="256032"/>
          </a:xfrm>
          <a:prstGeom prst="ellipse">
            <a:avLst/>
          </a:prstGeom>
          <a:solidFill>
            <a:srgbClr val="15203B"/>
          </a:solidFill>
          <a:ln w="12700">
            <a:solidFill>
              <a:srgbClr val="FFFFFF"/>
            </a:solidFill>
            <a:prstDash val="solid"/>
          </a:ln>
        </p:spPr>
        <p:txBody>
          <a:bodyPr/>
          <a:lstStyle/>
          <a:p>
            <a:endParaRPr lang="en-US"/>
          </a:p>
        </p:txBody>
      </p:sp>
      <p:sp>
        <p:nvSpPr>
          <p:cNvPr id="8" name="Text 6"/>
          <p:cNvSpPr txBox="1"/>
          <p:nvPr/>
        </p:nvSpPr>
        <p:spPr>
          <a:xfrm>
            <a:off x="182880" y="2057400"/>
            <a:ext cx="1097280" cy="457200"/>
          </a:xfrm>
          <a:prstGeom prst="rect">
            <a:avLst/>
          </a:prstGeom>
          <a:noFill/>
          <a:ln/>
        </p:spPr>
        <p:txBody>
          <a:bodyPr wrap="square" lIns="0" tIns="0" rIns="0" bIns="0" rtlCol="0" anchor="t"/>
          <a:lstStyle/>
          <a:p>
            <a:pPr marL="0" indent="0" algn="ctr">
              <a:buNone/>
            </a:pPr>
            <a:r>
              <a:rPr lang="en-US" sz="1050" b="1" dirty="0">
                <a:solidFill>
                  <a:srgbClr val="1E2533"/>
                </a:solidFill>
                <a:latin typeface="Courier New" pitchFamily="34" charset="0"/>
                <a:ea typeface="Courier New" pitchFamily="34" charset="-122"/>
                <a:cs typeface="Courier New" pitchFamily="34" charset="-120"/>
              </a:rPr>
              <a:t>t0</a:t>
            </a:r>
            <a:endParaRPr lang="en-US" sz="1050" dirty="0"/>
          </a:p>
          <a:p>
            <a:pPr marL="0" indent="0" algn="ctr">
              <a:buNone/>
            </a:pPr>
            <a:r>
              <a:rPr lang="en-US" sz="1050" dirty="0">
                <a:solidFill>
                  <a:srgbClr val="1E2533"/>
                </a:solidFill>
                <a:latin typeface="Calibri" pitchFamily="34" charset="0"/>
                <a:ea typeface="Calibri" pitchFamily="34" charset="-122"/>
                <a:cs typeface="Calibri" pitchFamily="34" charset="-120"/>
              </a:rPr>
              <a:t>Bắt đầu</a:t>
            </a:r>
            <a:endParaRPr lang="en-US" sz="1050" dirty="0"/>
          </a:p>
        </p:txBody>
      </p:sp>
      <p:sp>
        <p:nvSpPr>
          <p:cNvPr id="9" name="Shape 7"/>
          <p:cNvSpPr/>
          <p:nvPr/>
        </p:nvSpPr>
        <p:spPr>
          <a:xfrm>
            <a:off x="2295144" y="1746504"/>
            <a:ext cx="256032" cy="256032"/>
          </a:xfrm>
          <a:prstGeom prst="ellipse">
            <a:avLst/>
          </a:prstGeom>
          <a:solidFill>
            <a:srgbClr val="C8102E"/>
          </a:solidFill>
          <a:ln w="12700">
            <a:solidFill>
              <a:srgbClr val="FFFFFF"/>
            </a:solidFill>
            <a:prstDash val="solid"/>
          </a:ln>
        </p:spPr>
        <p:txBody>
          <a:bodyPr/>
          <a:lstStyle/>
          <a:p>
            <a:endParaRPr lang="en-US"/>
          </a:p>
        </p:txBody>
      </p:sp>
      <p:sp>
        <p:nvSpPr>
          <p:cNvPr id="10" name="Text 8"/>
          <p:cNvSpPr txBox="1"/>
          <p:nvPr/>
        </p:nvSpPr>
        <p:spPr>
          <a:xfrm>
            <a:off x="1874520" y="2057400"/>
            <a:ext cx="1097280" cy="457200"/>
          </a:xfrm>
          <a:prstGeom prst="rect">
            <a:avLst/>
          </a:prstGeom>
          <a:noFill/>
          <a:ln/>
        </p:spPr>
        <p:txBody>
          <a:bodyPr wrap="square" lIns="0" tIns="0" rIns="0" bIns="0" rtlCol="0" anchor="t"/>
          <a:lstStyle/>
          <a:p>
            <a:pPr marL="0" indent="0" algn="ctr">
              <a:buNone/>
            </a:pPr>
            <a:r>
              <a:rPr lang="en-US" sz="1050" b="1" dirty="0">
                <a:solidFill>
                  <a:srgbClr val="1E2533"/>
                </a:solidFill>
                <a:latin typeface="Courier New" pitchFamily="34" charset="0"/>
                <a:ea typeface="Courier New" pitchFamily="34" charset="-122"/>
                <a:cs typeface="Courier New" pitchFamily="34" charset="-120"/>
              </a:rPr>
              <a:t>t_peak</a:t>
            </a:r>
            <a:endParaRPr lang="en-US" sz="1050" dirty="0"/>
          </a:p>
          <a:p>
            <a:pPr marL="0" indent="0" algn="ctr">
              <a:buNone/>
            </a:pPr>
            <a:r>
              <a:rPr lang="en-US" sz="1050" dirty="0">
                <a:solidFill>
                  <a:srgbClr val="1E2533"/>
                </a:solidFill>
                <a:latin typeface="Calibri" pitchFamily="34" charset="0"/>
                <a:ea typeface="Calibri" pitchFamily="34" charset="-122"/>
                <a:cs typeface="Calibri" pitchFamily="34" charset="-120"/>
              </a:rPr>
              <a:t>Đỉnh đá</a:t>
            </a:r>
            <a:endParaRPr lang="en-US" sz="1050" dirty="0"/>
          </a:p>
        </p:txBody>
      </p:sp>
      <p:sp>
        <p:nvSpPr>
          <p:cNvPr id="11" name="Shape 9"/>
          <p:cNvSpPr/>
          <p:nvPr/>
        </p:nvSpPr>
        <p:spPr>
          <a:xfrm>
            <a:off x="3986784" y="1746504"/>
            <a:ext cx="256032" cy="256032"/>
          </a:xfrm>
          <a:prstGeom prst="ellipse">
            <a:avLst/>
          </a:prstGeom>
          <a:solidFill>
            <a:srgbClr val="15203B"/>
          </a:solidFill>
          <a:ln w="12700">
            <a:solidFill>
              <a:srgbClr val="FFFFFF"/>
            </a:solidFill>
            <a:prstDash val="solid"/>
          </a:ln>
        </p:spPr>
        <p:txBody>
          <a:bodyPr/>
          <a:lstStyle/>
          <a:p>
            <a:endParaRPr lang="en-US"/>
          </a:p>
        </p:txBody>
      </p:sp>
      <p:sp>
        <p:nvSpPr>
          <p:cNvPr id="12" name="Text 10"/>
          <p:cNvSpPr txBox="1"/>
          <p:nvPr/>
        </p:nvSpPr>
        <p:spPr>
          <a:xfrm>
            <a:off x="3566160" y="2057400"/>
            <a:ext cx="1097280" cy="457200"/>
          </a:xfrm>
          <a:prstGeom prst="rect">
            <a:avLst/>
          </a:prstGeom>
          <a:noFill/>
          <a:ln/>
        </p:spPr>
        <p:txBody>
          <a:bodyPr wrap="square" lIns="0" tIns="0" rIns="0" bIns="0" rtlCol="0" anchor="t"/>
          <a:lstStyle/>
          <a:p>
            <a:pPr marL="0" indent="0" algn="ctr">
              <a:buNone/>
            </a:pPr>
            <a:r>
              <a:rPr lang="en-US" sz="1050" b="1" dirty="0">
                <a:solidFill>
                  <a:srgbClr val="1E2533"/>
                </a:solidFill>
                <a:latin typeface="Courier New" pitchFamily="34" charset="0"/>
                <a:ea typeface="Courier New" pitchFamily="34" charset="-122"/>
                <a:cs typeface="Courier New" pitchFamily="34" charset="-120"/>
              </a:rPr>
              <a:t>t1</a:t>
            </a:r>
            <a:endParaRPr lang="en-US" sz="1050" dirty="0"/>
          </a:p>
          <a:p>
            <a:pPr marL="0" indent="0" algn="ctr">
              <a:buNone/>
            </a:pPr>
            <a:r>
              <a:rPr lang="en-US" sz="1050" dirty="0">
                <a:solidFill>
                  <a:srgbClr val="1E2533"/>
                </a:solidFill>
                <a:latin typeface="Calibri" pitchFamily="34" charset="0"/>
                <a:ea typeface="Calibri" pitchFamily="34" charset="-122"/>
                <a:cs typeface="Calibri" pitchFamily="34" charset="-120"/>
              </a:rPr>
              <a:t>Kết thúc</a:t>
            </a:r>
            <a:endParaRPr lang="en-US" sz="1050" dirty="0"/>
          </a:p>
        </p:txBody>
      </p:sp>
      <p:sp>
        <p:nvSpPr>
          <p:cNvPr id="13" name="Text 11"/>
          <p:cNvSpPr txBox="1"/>
          <p:nvPr/>
        </p:nvSpPr>
        <p:spPr>
          <a:xfrm>
            <a:off x="457200" y="2606040"/>
            <a:ext cx="3931920" cy="411480"/>
          </a:xfrm>
          <a:prstGeom prst="rect">
            <a:avLst/>
          </a:prstGeom>
          <a:noFill/>
          <a:ln/>
        </p:spPr>
        <p:txBody>
          <a:bodyPr wrap="square" lIns="0" tIns="0" rIns="0" bIns="0" rtlCol="0" anchor="t"/>
          <a:lstStyle/>
          <a:p>
            <a:pPr marL="0" indent="0">
              <a:buNone/>
            </a:pPr>
            <a:r>
              <a:rPr lang="en-US" sz="1100" dirty="0">
                <a:solidFill>
                  <a:srgbClr val="5B6475"/>
                </a:solidFill>
                <a:latin typeface="Calibri" pitchFamily="34" charset="0"/>
                <a:ea typeface="Calibri" pitchFamily="34" charset="-122"/>
                <a:cs typeface="Calibri" pitchFamily="34" charset="-120"/>
              </a:rPr>
              <a:t>Vượt 12% biên độ → bắt đầu; xa hông nhất → đỉnh; về dưới 10% → kết thúc.</a:t>
            </a:r>
            <a:endParaRPr lang="en-US" sz="1100" dirty="0"/>
          </a:p>
        </p:txBody>
      </p:sp>
      <p:sp>
        <p:nvSpPr>
          <p:cNvPr id="14" name="Text 12"/>
          <p:cNvSpPr txBox="1"/>
          <p:nvPr/>
        </p:nvSpPr>
        <p:spPr>
          <a:xfrm>
            <a:off x="457200" y="3063240"/>
            <a:ext cx="3931920" cy="274320"/>
          </a:xfrm>
          <a:prstGeom prst="rect">
            <a:avLst/>
          </a:prstGeom>
          <a:noFill/>
          <a:ln/>
        </p:spPr>
        <p:txBody>
          <a:bodyPr wrap="square" lIns="0" tIns="0" rIns="0" bIns="0" rtlCol="0" anchor="t"/>
          <a:lstStyle/>
          <a:p>
            <a:pPr marL="0" indent="0">
              <a:buNone/>
            </a:pPr>
            <a:r>
              <a:rPr lang="en-US" sz="1350" b="1" dirty="0">
                <a:solidFill>
                  <a:srgbClr val="15203B"/>
                </a:solidFill>
                <a:latin typeface="Calibri" pitchFamily="34" charset="0"/>
                <a:ea typeface="Calibri" pitchFamily="34" charset="-122"/>
                <a:cs typeface="Calibri" pitchFamily="34" charset="-120"/>
              </a:rPr>
              <a:t>Chỉ số đo</a:t>
            </a:r>
            <a:endParaRPr lang="en-US" sz="1350" dirty="0"/>
          </a:p>
        </p:txBody>
      </p:sp>
      <p:sp>
        <p:nvSpPr>
          <p:cNvPr id="15" name="Text 13"/>
          <p:cNvSpPr txBox="1"/>
          <p:nvPr/>
        </p:nvSpPr>
        <p:spPr>
          <a:xfrm>
            <a:off x="457200" y="3383280"/>
            <a:ext cx="3931920" cy="1325880"/>
          </a:xfrm>
          <a:prstGeom prst="rect">
            <a:avLst/>
          </a:prstGeom>
          <a:noFill/>
          <a:ln/>
        </p:spPr>
        <p:txBody>
          <a:bodyPr wrap="square" lIns="0" tIns="0" rIns="0" bIns="0" rtlCol="0" anchor="t"/>
          <a:lstStyle/>
          <a:p>
            <a:pPr marL="342900" indent="-342900">
              <a:spcAft>
                <a:spcPts val="300"/>
              </a:spcAft>
              <a:buSzPct val="100000"/>
              <a:buChar char="•"/>
            </a:pPr>
            <a:r>
              <a:rPr lang="en-US" sz="1150" dirty="0">
                <a:solidFill>
                  <a:srgbClr val="1E2533"/>
                </a:solidFill>
                <a:latin typeface="Calibri" pitchFamily="34" charset="0"/>
                <a:ea typeface="Calibri" pitchFamily="34" charset="-122"/>
                <a:cs typeface="Calibri" pitchFamily="34" charset="-120"/>
              </a:rPr>
              <a:t>Độ thẳng quỹ đạo, độ mượt (dao động gia tốc)</a:t>
            </a:r>
            <a:endParaRPr lang="en-US" sz="1150" dirty="0"/>
          </a:p>
          <a:p>
            <a:pPr marL="342900" indent="-342900">
              <a:spcAft>
                <a:spcPts val="300"/>
              </a:spcAft>
              <a:buSzPct val="100000"/>
              <a:buChar char="•"/>
            </a:pPr>
            <a:r>
              <a:rPr lang="en-US" sz="1150" dirty="0">
                <a:solidFill>
                  <a:srgbClr val="1E2533"/>
                </a:solidFill>
                <a:latin typeface="Calibri" pitchFamily="34" charset="0"/>
                <a:ea typeface="Calibri" pitchFamily="34" charset="-122"/>
                <a:cs typeface="Calibri" pitchFamily="34" charset="-120"/>
              </a:rPr>
              <a:t>Ổn định (lắc tâm hông), tỉ lệ thu chân</a:t>
            </a:r>
            <a:endParaRPr lang="en-US" sz="1150" dirty="0"/>
          </a:p>
          <a:p>
            <a:pPr marL="342900" indent="-342900">
              <a:spcAft>
                <a:spcPts val="300"/>
              </a:spcAft>
              <a:buSzPct val="100000"/>
              <a:buChar char="•"/>
            </a:pPr>
            <a:r>
              <a:rPr lang="en-US" sz="1150" dirty="0">
                <a:solidFill>
                  <a:srgbClr val="1E2533"/>
                </a:solidFill>
                <a:latin typeface="Calibri" pitchFamily="34" charset="0"/>
                <a:ea typeface="Calibri" pitchFamily="34" charset="-122"/>
                <a:cs typeface="Calibri" pitchFamily="34" charset="-120"/>
              </a:rPr>
              <a:t>Góc gối lớn nhất, độ cao cổ chân so với hông</a:t>
            </a:r>
            <a:endParaRPr lang="en-US" sz="1150" dirty="0"/>
          </a:p>
          <a:p>
            <a:pPr marL="342900" indent="-342900">
              <a:spcAft>
                <a:spcPts val="300"/>
              </a:spcAft>
              <a:buSzPct val="100000"/>
              <a:buChar char="•"/>
            </a:pPr>
            <a:r>
              <a:rPr lang="en-US" sz="1150" dirty="0">
                <a:solidFill>
                  <a:srgbClr val="1E2533"/>
                </a:solidFill>
                <a:latin typeface="Calibri" pitchFamily="34" charset="0"/>
                <a:ea typeface="Calibri" pitchFamily="34" charset="-122"/>
                <a:cs typeface="Calibri" pitchFamily="34" charset="-120"/>
              </a:rPr>
              <a:t>Tốc độ, tốc độ bổ xuống (đá bổ)</a:t>
            </a:r>
            <a:endParaRPr lang="en-US" sz="115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4663440" y="1188720"/>
          <a:ext cx="4023360" cy="3154680"/>
        </p:xfrm>
        <a:graphic>
          <a:graphicData uri="http://schemas.openxmlformats.org/drawingml/2006/table">
            <a:tbl>
              <a:tblPr/>
              <a:tblGrid>
                <a:gridCol w="3383280">
                  <a:extLst>
                    <a:ext uri="{9D8B030D-6E8A-4147-A177-3AD203B41FA5}">
                      <a16:colId xmlns:a16="http://schemas.microsoft.com/office/drawing/2014/main" val="20000"/>
                    </a:ext>
                  </a:extLst>
                </a:gridCol>
                <a:gridCol w="640080">
                  <a:extLst>
                    <a:ext uri="{9D8B030D-6E8A-4147-A177-3AD203B41FA5}">
                      <a16:colId xmlns:a16="http://schemas.microsoft.com/office/drawing/2014/main" val="20001"/>
                    </a:ext>
                  </a:extLst>
                </a:gridCol>
              </a:tblGrid>
              <a:tr h="274320">
                <a:tc>
                  <a:txBody>
                    <a:bodyPr/>
                    <a:lstStyle/>
                    <a:p>
                      <a:pPr marL="0" indent="0" algn="l">
                        <a:buNone/>
                      </a:pPr>
                      <a:r>
                        <a:rPr lang="en-US" sz="1050" b="1" dirty="0">
                          <a:solidFill>
                            <a:srgbClr val="FFFFFF"/>
                          </a:solidFill>
                          <a:latin typeface="Calibri" pitchFamily="34" charset="0"/>
                          <a:ea typeface="Calibri" pitchFamily="34" charset="-122"/>
                          <a:cs typeface="Calibri" pitchFamily="34" charset="-120"/>
                        </a:rPr>
                        <a:t>Hạng mục</a:t>
                      </a:r>
                      <a:endParaRPr lang="en-US" sz="1050" dirty="0">
                        <a:latin typeface="Calibri" charset="0"/>
                        <a:ea typeface="Calibri" charset="0"/>
                        <a:cs typeface="Calibri" charset="0"/>
                      </a:endParaRPr>
                    </a:p>
                  </a:txBody>
                  <a:tcPr marL="45720" marR="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15203B"/>
                    </a:solidFill>
                  </a:tcPr>
                </a:tc>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Điểm</a:t>
                      </a:r>
                      <a:endParaRPr lang="en-US" sz="1050" dirty="0">
                        <a:latin typeface="Calibri" charset="0"/>
                        <a:ea typeface="Calibri" charset="0"/>
                        <a:cs typeface="Calibri" charset="0"/>
                      </a:endParaRPr>
                    </a:p>
                  </a:txBody>
                  <a:tcPr marL="45720" marR="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15203B"/>
                    </a:solidFill>
                  </a:tcPr>
                </a:tc>
                <a:extLst>
                  <a:ext uri="{0D108BD9-81ED-4DB2-BD59-A6C34878D82A}">
                    <a16:rowId xmlns:a16="http://schemas.microsoft.com/office/drawing/2014/main" val="10000"/>
                  </a:ext>
                </a:extLst>
              </a:tr>
              <a:tr h="274320">
                <a:tc gridSpan="2">
                  <a:txBody>
                    <a:bodyPr/>
                    <a:lstStyle/>
                    <a:p>
                      <a:pPr marL="0" indent="0">
                        <a:buNone/>
                      </a:pPr>
                      <a:r>
                        <a:rPr lang="en-US" sz="1050" b="1" dirty="0">
                          <a:solidFill>
                            <a:srgbClr val="15203B"/>
                          </a:solidFill>
                          <a:latin typeface="Calibri" pitchFamily="34" charset="0"/>
                          <a:ea typeface="Calibri" pitchFamily="34" charset="-122"/>
                          <a:cs typeface="Calibri" pitchFamily="34" charset="-120"/>
                        </a:rPr>
                        <a:t>Chính xác — 4 điểm</a:t>
                      </a:r>
                      <a:endParaRPr lang="en-US" sz="1050" dirty="0">
                        <a:latin typeface="Calibri" charset="0"/>
                        <a:ea typeface="Calibri" charset="0"/>
                        <a:cs typeface="Calibri" charset="0"/>
                      </a:endParaRPr>
                    </a:p>
                  </a:txBody>
                  <a:tcPr marL="45720" marR="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EEF2F8"/>
                    </a:solidFill>
                  </a:tcPr>
                </a:tc>
                <a:tc hMerge="1">
                  <a:txBody>
                    <a:bodyPr/>
                    <a:lstStyle/>
                    <a:p>
                      <a:endParaRPr lang="en-US"/>
                    </a:p>
                  </a:txBody>
                  <a:tcPr/>
                </a:tc>
                <a:extLst>
                  <a:ext uri="{0D108BD9-81ED-4DB2-BD59-A6C34878D82A}">
                    <a16:rowId xmlns:a16="http://schemas.microsoft.com/office/drawing/2014/main" val="10001"/>
                  </a:ext>
                </a:extLst>
              </a:tr>
              <a:tr h="274320">
                <a:tc>
                  <a:txBody>
                    <a:bodyPr/>
                    <a:lstStyle/>
                    <a:p>
                      <a:pPr marL="0" indent="0">
                        <a:buNone/>
                      </a:pPr>
                      <a:r>
                        <a:rPr lang="en-US" sz="1050" dirty="0">
                          <a:solidFill>
                            <a:srgbClr val="1E2533"/>
                          </a:solidFill>
                          <a:latin typeface="Calibri" pitchFamily="34" charset="0"/>
                          <a:ea typeface="Calibri" pitchFamily="34" charset="-122"/>
                          <a:cs typeface="Calibri" pitchFamily="34" charset="-120"/>
                        </a:rPr>
                        <a:t>A1 Kỹ thuật riêng từng đòn (nâng gối, mặt phẳng vung, độ cao nâng)</a:t>
                      </a:r>
                      <a:endParaRPr lang="en-US" sz="1050" dirty="0">
                        <a:latin typeface="Calibri" charset="0"/>
                        <a:ea typeface="Calibri" charset="0"/>
                        <a:cs typeface="Calibri" charset="0"/>
                      </a:endParaRPr>
                    </a:p>
                  </a:txBody>
                  <a:tcPr marL="45720" marR="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tcPr>
                </a:tc>
                <a:tc>
                  <a:txBody>
                    <a:bodyPr/>
                    <a:lstStyle/>
                    <a:p>
                      <a:pPr marL="0" indent="0" algn="ctr">
                        <a:buNone/>
                      </a:pPr>
                      <a:r>
                        <a:rPr lang="en-US" sz="1050" dirty="0">
                          <a:solidFill>
                            <a:srgbClr val="1E2533"/>
                          </a:solidFill>
                          <a:latin typeface="Calibri" pitchFamily="34" charset="0"/>
                          <a:ea typeface="Calibri" pitchFamily="34" charset="-122"/>
                          <a:cs typeface="Calibri" pitchFamily="34" charset="-120"/>
                        </a:rPr>
                        <a:t>1,6</a:t>
                      </a:r>
                      <a:endParaRPr lang="en-US" sz="1050" dirty="0">
                        <a:latin typeface="Calibri" charset="0"/>
                        <a:ea typeface="Calibri" charset="0"/>
                        <a:cs typeface="Calibri" charset="0"/>
                      </a:endParaRPr>
                    </a:p>
                  </a:txBody>
                  <a:tcPr marL="45720" marR="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tcPr>
                </a:tc>
                <a:extLst>
                  <a:ext uri="{0D108BD9-81ED-4DB2-BD59-A6C34878D82A}">
                    <a16:rowId xmlns:a16="http://schemas.microsoft.com/office/drawing/2014/main" val="10002"/>
                  </a:ext>
                </a:extLst>
              </a:tr>
              <a:tr h="274320">
                <a:tc>
                  <a:txBody>
                    <a:bodyPr/>
                    <a:lstStyle/>
                    <a:p>
                      <a:pPr marL="0" indent="0">
                        <a:buNone/>
                      </a:pPr>
                      <a:r>
                        <a:rPr lang="en-US" sz="1050" dirty="0">
                          <a:solidFill>
                            <a:srgbClr val="1E2533"/>
                          </a:solidFill>
                          <a:latin typeface="Calibri" pitchFamily="34" charset="0"/>
                          <a:ea typeface="Calibri" pitchFamily="34" charset="-122"/>
                          <a:cs typeface="Calibri" pitchFamily="34" charset="-120"/>
                        </a:rPr>
                        <a:t>A2 Độ cao &amp; duỗi gối / tốc độ bổ xuống</a:t>
                      </a:r>
                      <a:endParaRPr lang="en-US" sz="1050" dirty="0">
                        <a:latin typeface="Calibri" charset="0"/>
                        <a:ea typeface="Calibri" charset="0"/>
                        <a:cs typeface="Calibri" charset="0"/>
                      </a:endParaRPr>
                    </a:p>
                  </a:txBody>
                  <a:tcPr marL="45720" marR="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tcPr>
                </a:tc>
                <a:tc>
                  <a:txBody>
                    <a:bodyPr/>
                    <a:lstStyle/>
                    <a:p>
                      <a:pPr marL="0" indent="0" algn="ctr">
                        <a:buNone/>
                      </a:pPr>
                      <a:r>
                        <a:rPr lang="en-US" sz="1050" dirty="0">
                          <a:solidFill>
                            <a:srgbClr val="1E2533"/>
                          </a:solidFill>
                          <a:latin typeface="Calibri" pitchFamily="34" charset="0"/>
                          <a:ea typeface="Calibri" pitchFamily="34" charset="-122"/>
                          <a:cs typeface="Calibri" pitchFamily="34" charset="-120"/>
                        </a:rPr>
                        <a:t>1,2</a:t>
                      </a:r>
                      <a:endParaRPr lang="en-US" sz="1050" dirty="0">
                        <a:latin typeface="Calibri" charset="0"/>
                        <a:ea typeface="Calibri" charset="0"/>
                        <a:cs typeface="Calibri" charset="0"/>
                      </a:endParaRPr>
                    </a:p>
                  </a:txBody>
                  <a:tcPr marL="45720" marR="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tcPr>
                </a:tc>
                <a:extLst>
                  <a:ext uri="{0D108BD9-81ED-4DB2-BD59-A6C34878D82A}">
                    <a16:rowId xmlns:a16="http://schemas.microsoft.com/office/drawing/2014/main" val="10003"/>
                  </a:ext>
                </a:extLst>
              </a:tr>
              <a:tr h="274320">
                <a:tc>
                  <a:txBody>
                    <a:bodyPr/>
                    <a:lstStyle/>
                    <a:p>
                      <a:pPr marL="0" indent="0">
                        <a:buNone/>
                      </a:pPr>
                      <a:r>
                        <a:rPr lang="en-US" sz="1050" dirty="0">
                          <a:solidFill>
                            <a:srgbClr val="1E2533"/>
                          </a:solidFill>
                          <a:latin typeface="Calibri" pitchFamily="34" charset="0"/>
                          <a:ea typeface="Calibri" pitchFamily="34" charset="-122"/>
                          <a:cs typeface="Calibri" pitchFamily="34" charset="-120"/>
                        </a:rPr>
                        <a:t>A3 Thu chân về</a:t>
                      </a:r>
                      <a:endParaRPr lang="en-US" sz="1050" dirty="0">
                        <a:latin typeface="Calibri" charset="0"/>
                        <a:ea typeface="Calibri" charset="0"/>
                        <a:cs typeface="Calibri" charset="0"/>
                      </a:endParaRPr>
                    </a:p>
                  </a:txBody>
                  <a:tcPr marL="45720" marR="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tcPr>
                </a:tc>
                <a:tc>
                  <a:txBody>
                    <a:bodyPr/>
                    <a:lstStyle/>
                    <a:p>
                      <a:pPr marL="0" indent="0" algn="ctr">
                        <a:buNone/>
                      </a:pPr>
                      <a:r>
                        <a:rPr lang="en-US" sz="1050" dirty="0">
                          <a:solidFill>
                            <a:srgbClr val="1E2533"/>
                          </a:solidFill>
                          <a:latin typeface="Calibri" pitchFamily="34" charset="0"/>
                          <a:ea typeface="Calibri" pitchFamily="34" charset="-122"/>
                          <a:cs typeface="Calibri" pitchFamily="34" charset="-120"/>
                        </a:rPr>
                        <a:t>0,8</a:t>
                      </a:r>
                      <a:endParaRPr lang="en-US" sz="1050" dirty="0">
                        <a:latin typeface="Calibri" charset="0"/>
                        <a:ea typeface="Calibri" charset="0"/>
                        <a:cs typeface="Calibri" charset="0"/>
                      </a:endParaRPr>
                    </a:p>
                  </a:txBody>
                  <a:tcPr marL="45720" marR="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tcPr>
                </a:tc>
                <a:extLst>
                  <a:ext uri="{0D108BD9-81ED-4DB2-BD59-A6C34878D82A}">
                    <a16:rowId xmlns:a16="http://schemas.microsoft.com/office/drawing/2014/main" val="10004"/>
                  </a:ext>
                </a:extLst>
              </a:tr>
              <a:tr h="274320">
                <a:tc>
                  <a:txBody>
                    <a:bodyPr/>
                    <a:lstStyle/>
                    <a:p>
                      <a:pPr marL="0" indent="0">
                        <a:buNone/>
                      </a:pPr>
                      <a:r>
                        <a:rPr lang="en-US" sz="1050" dirty="0">
                          <a:solidFill>
                            <a:srgbClr val="1E2533"/>
                          </a:solidFill>
                          <a:latin typeface="Calibri" pitchFamily="34" charset="0"/>
                          <a:ea typeface="Calibri" pitchFamily="34" charset="-122"/>
                          <a:cs typeface="Calibri" pitchFamily="34" charset="-120"/>
                        </a:rPr>
                        <a:t>A4 Trọng tâm &amp; tay thủ</a:t>
                      </a:r>
                      <a:endParaRPr lang="en-US" sz="1050" dirty="0">
                        <a:latin typeface="Calibri" charset="0"/>
                        <a:ea typeface="Calibri" charset="0"/>
                        <a:cs typeface="Calibri" charset="0"/>
                      </a:endParaRPr>
                    </a:p>
                  </a:txBody>
                  <a:tcPr marL="45720" marR="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tcPr>
                </a:tc>
                <a:tc>
                  <a:txBody>
                    <a:bodyPr/>
                    <a:lstStyle/>
                    <a:p>
                      <a:pPr marL="0" indent="0" algn="ctr">
                        <a:buNone/>
                      </a:pPr>
                      <a:r>
                        <a:rPr lang="en-US" sz="1050" dirty="0">
                          <a:solidFill>
                            <a:srgbClr val="1E2533"/>
                          </a:solidFill>
                          <a:latin typeface="Calibri" pitchFamily="34" charset="0"/>
                          <a:ea typeface="Calibri" pitchFamily="34" charset="-122"/>
                          <a:cs typeface="Calibri" pitchFamily="34" charset="-120"/>
                        </a:rPr>
                        <a:t>0,4</a:t>
                      </a:r>
                      <a:endParaRPr lang="en-US" sz="1050" dirty="0">
                        <a:latin typeface="Calibri" charset="0"/>
                        <a:ea typeface="Calibri" charset="0"/>
                        <a:cs typeface="Calibri" charset="0"/>
                      </a:endParaRPr>
                    </a:p>
                  </a:txBody>
                  <a:tcPr marL="45720" marR="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tcPr>
                </a:tc>
                <a:extLst>
                  <a:ext uri="{0D108BD9-81ED-4DB2-BD59-A6C34878D82A}">
                    <a16:rowId xmlns:a16="http://schemas.microsoft.com/office/drawing/2014/main" val="10005"/>
                  </a:ext>
                </a:extLst>
              </a:tr>
              <a:tr h="274320">
                <a:tc gridSpan="2">
                  <a:txBody>
                    <a:bodyPr/>
                    <a:lstStyle/>
                    <a:p>
                      <a:pPr marL="0" indent="0">
                        <a:buNone/>
                      </a:pPr>
                      <a:r>
                        <a:rPr lang="en-US" sz="1050" b="1" dirty="0">
                          <a:solidFill>
                            <a:srgbClr val="15203B"/>
                          </a:solidFill>
                          <a:latin typeface="Calibri" pitchFamily="34" charset="0"/>
                          <a:ea typeface="Calibri" pitchFamily="34" charset="-122"/>
                          <a:cs typeface="Calibri" pitchFamily="34" charset="-120"/>
                        </a:rPr>
                        <a:t>Biểu hiện — 6 điểm</a:t>
                      </a:r>
                      <a:endParaRPr lang="en-US" sz="1050" dirty="0">
                        <a:latin typeface="Calibri" charset="0"/>
                        <a:ea typeface="Calibri" charset="0"/>
                        <a:cs typeface="Calibri" charset="0"/>
                      </a:endParaRPr>
                    </a:p>
                  </a:txBody>
                  <a:tcPr marL="45720" marR="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EEF2F8"/>
                    </a:solidFill>
                  </a:tcPr>
                </a:tc>
                <a:tc hMerge="1">
                  <a:txBody>
                    <a:bodyPr/>
                    <a:lstStyle/>
                    <a:p>
                      <a:endParaRPr lang="en-US"/>
                    </a:p>
                  </a:txBody>
                  <a:tcPr/>
                </a:tc>
                <a:extLst>
                  <a:ext uri="{0D108BD9-81ED-4DB2-BD59-A6C34878D82A}">
                    <a16:rowId xmlns:a16="http://schemas.microsoft.com/office/drawing/2014/main" val="10006"/>
                  </a:ext>
                </a:extLst>
              </a:tr>
              <a:tr h="274320">
                <a:tc>
                  <a:txBody>
                    <a:bodyPr/>
                    <a:lstStyle/>
                    <a:p>
                      <a:pPr marL="0" indent="0">
                        <a:buNone/>
                      </a:pPr>
                      <a:r>
                        <a:rPr lang="en-US" sz="1050" dirty="0">
                          <a:solidFill>
                            <a:srgbClr val="1E2533"/>
                          </a:solidFill>
                          <a:latin typeface="Calibri" pitchFamily="34" charset="0"/>
                          <a:ea typeface="Calibri" pitchFamily="34" charset="-122"/>
                          <a:cs typeface="Calibri" pitchFamily="34" charset="-120"/>
                        </a:rPr>
                        <a:t>E1 Tốc độ</a:t>
                      </a:r>
                      <a:endParaRPr lang="en-US" sz="1050" dirty="0">
                        <a:latin typeface="Calibri" charset="0"/>
                        <a:ea typeface="Calibri" charset="0"/>
                        <a:cs typeface="Calibri" charset="0"/>
                      </a:endParaRPr>
                    </a:p>
                  </a:txBody>
                  <a:tcPr marL="45720" marR="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tcPr>
                </a:tc>
                <a:tc>
                  <a:txBody>
                    <a:bodyPr/>
                    <a:lstStyle/>
                    <a:p>
                      <a:pPr marL="0" indent="0" algn="ctr">
                        <a:buNone/>
                      </a:pPr>
                      <a:r>
                        <a:rPr lang="en-US" sz="1050" dirty="0">
                          <a:solidFill>
                            <a:srgbClr val="1E2533"/>
                          </a:solidFill>
                          <a:latin typeface="Calibri" pitchFamily="34" charset="0"/>
                          <a:ea typeface="Calibri" pitchFamily="34" charset="-122"/>
                          <a:cs typeface="Calibri" pitchFamily="34" charset="-120"/>
                        </a:rPr>
                        <a:t>2,0</a:t>
                      </a:r>
                      <a:endParaRPr lang="en-US" sz="1050" dirty="0">
                        <a:latin typeface="Calibri" charset="0"/>
                        <a:ea typeface="Calibri" charset="0"/>
                        <a:cs typeface="Calibri" charset="0"/>
                      </a:endParaRPr>
                    </a:p>
                  </a:txBody>
                  <a:tcPr marL="45720" marR="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tcPr>
                </a:tc>
                <a:extLst>
                  <a:ext uri="{0D108BD9-81ED-4DB2-BD59-A6C34878D82A}">
                    <a16:rowId xmlns:a16="http://schemas.microsoft.com/office/drawing/2014/main" val="10007"/>
                  </a:ext>
                </a:extLst>
              </a:tr>
              <a:tr h="274320">
                <a:tc>
                  <a:txBody>
                    <a:bodyPr/>
                    <a:lstStyle/>
                    <a:p>
                      <a:pPr marL="0" indent="0">
                        <a:buNone/>
                      </a:pPr>
                      <a:r>
                        <a:rPr lang="en-US" sz="1050" dirty="0">
                          <a:solidFill>
                            <a:srgbClr val="1E2533"/>
                          </a:solidFill>
                          <a:latin typeface="Calibri" pitchFamily="34" charset="0"/>
                          <a:ea typeface="Calibri" pitchFamily="34" charset="-122"/>
                          <a:cs typeface="Calibri" pitchFamily="34" charset="-120"/>
                        </a:rPr>
                        <a:t>E2 Lực (chỉ số động học)</a:t>
                      </a:r>
                      <a:endParaRPr lang="en-US" sz="1050" dirty="0">
                        <a:latin typeface="Calibri" charset="0"/>
                        <a:ea typeface="Calibri" charset="0"/>
                        <a:cs typeface="Calibri" charset="0"/>
                      </a:endParaRPr>
                    </a:p>
                  </a:txBody>
                  <a:tcPr marL="45720" marR="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tcPr>
                </a:tc>
                <a:tc>
                  <a:txBody>
                    <a:bodyPr/>
                    <a:lstStyle/>
                    <a:p>
                      <a:pPr marL="0" indent="0" algn="ctr">
                        <a:buNone/>
                      </a:pPr>
                      <a:r>
                        <a:rPr lang="en-US" sz="1050" dirty="0">
                          <a:solidFill>
                            <a:srgbClr val="1E2533"/>
                          </a:solidFill>
                          <a:latin typeface="Calibri" pitchFamily="34" charset="0"/>
                          <a:ea typeface="Calibri" pitchFamily="34" charset="-122"/>
                          <a:cs typeface="Calibri" pitchFamily="34" charset="-120"/>
                        </a:rPr>
                        <a:t>1,6</a:t>
                      </a:r>
                      <a:endParaRPr lang="en-US" sz="1050" dirty="0">
                        <a:latin typeface="Calibri" charset="0"/>
                        <a:ea typeface="Calibri" charset="0"/>
                        <a:cs typeface="Calibri" charset="0"/>
                      </a:endParaRPr>
                    </a:p>
                  </a:txBody>
                  <a:tcPr marL="45720" marR="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tcPr>
                </a:tc>
                <a:extLst>
                  <a:ext uri="{0D108BD9-81ED-4DB2-BD59-A6C34878D82A}">
                    <a16:rowId xmlns:a16="http://schemas.microsoft.com/office/drawing/2014/main" val="10008"/>
                  </a:ext>
                </a:extLst>
              </a:tr>
              <a:tr h="274320">
                <a:tc>
                  <a:txBody>
                    <a:bodyPr/>
                    <a:lstStyle/>
                    <a:p>
                      <a:pPr marL="0" indent="0">
                        <a:buNone/>
                      </a:pPr>
                      <a:r>
                        <a:rPr lang="en-US" sz="1050" dirty="0">
                          <a:solidFill>
                            <a:srgbClr val="1E2533"/>
                          </a:solidFill>
                          <a:latin typeface="Calibri" pitchFamily="34" charset="0"/>
                          <a:ea typeface="Calibri" pitchFamily="34" charset="-122"/>
                          <a:cs typeface="Calibri" pitchFamily="34" charset="-120"/>
                        </a:rPr>
                        <a:t>E3 Độ cao</a:t>
                      </a:r>
                      <a:endParaRPr lang="en-US" sz="1050" dirty="0">
                        <a:latin typeface="Calibri" charset="0"/>
                        <a:ea typeface="Calibri" charset="0"/>
                        <a:cs typeface="Calibri" charset="0"/>
                      </a:endParaRPr>
                    </a:p>
                  </a:txBody>
                  <a:tcPr marL="45720" marR="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tcPr>
                </a:tc>
                <a:tc>
                  <a:txBody>
                    <a:bodyPr/>
                    <a:lstStyle/>
                    <a:p>
                      <a:pPr marL="0" indent="0" algn="ctr">
                        <a:buNone/>
                      </a:pPr>
                      <a:r>
                        <a:rPr lang="en-US" sz="1050" dirty="0">
                          <a:solidFill>
                            <a:srgbClr val="1E2533"/>
                          </a:solidFill>
                          <a:latin typeface="Calibri" pitchFamily="34" charset="0"/>
                          <a:ea typeface="Calibri" pitchFamily="34" charset="-122"/>
                          <a:cs typeface="Calibri" pitchFamily="34" charset="-120"/>
                        </a:rPr>
                        <a:t>1,4</a:t>
                      </a:r>
                      <a:endParaRPr lang="en-US" sz="1050" dirty="0">
                        <a:latin typeface="Calibri" charset="0"/>
                        <a:ea typeface="Calibri" charset="0"/>
                        <a:cs typeface="Calibri" charset="0"/>
                      </a:endParaRPr>
                    </a:p>
                  </a:txBody>
                  <a:tcPr marL="45720" marR="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tcPr>
                </a:tc>
                <a:extLst>
                  <a:ext uri="{0D108BD9-81ED-4DB2-BD59-A6C34878D82A}">
                    <a16:rowId xmlns:a16="http://schemas.microsoft.com/office/drawing/2014/main" val="10009"/>
                  </a:ext>
                </a:extLst>
              </a:tr>
              <a:tr h="274320">
                <a:tc>
                  <a:txBody>
                    <a:bodyPr/>
                    <a:lstStyle/>
                    <a:p>
                      <a:pPr marL="0" indent="0">
                        <a:buNone/>
                      </a:pPr>
                      <a:r>
                        <a:rPr lang="en-US" sz="1050" dirty="0">
                          <a:solidFill>
                            <a:srgbClr val="1E2533"/>
                          </a:solidFill>
                          <a:latin typeface="Calibri" pitchFamily="34" charset="0"/>
                          <a:ea typeface="Calibri" pitchFamily="34" charset="-122"/>
                          <a:cs typeface="Calibri" pitchFamily="34" charset="-120"/>
                        </a:rPr>
                        <a:t>E4 Độ mượt</a:t>
                      </a:r>
                      <a:endParaRPr lang="en-US" sz="1050" dirty="0">
                        <a:latin typeface="Calibri" charset="0"/>
                        <a:ea typeface="Calibri" charset="0"/>
                        <a:cs typeface="Calibri" charset="0"/>
                      </a:endParaRPr>
                    </a:p>
                  </a:txBody>
                  <a:tcPr marL="45720" marR="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tcPr>
                </a:tc>
                <a:tc>
                  <a:txBody>
                    <a:bodyPr/>
                    <a:lstStyle/>
                    <a:p>
                      <a:pPr marL="0" indent="0" algn="ctr">
                        <a:buNone/>
                      </a:pPr>
                      <a:r>
                        <a:rPr lang="en-US" sz="1050" dirty="0">
                          <a:solidFill>
                            <a:srgbClr val="1E2533"/>
                          </a:solidFill>
                          <a:latin typeface="Calibri" pitchFamily="34" charset="0"/>
                          <a:ea typeface="Calibri" pitchFamily="34" charset="-122"/>
                          <a:cs typeface="Calibri" pitchFamily="34" charset="-120"/>
                        </a:rPr>
                        <a:t>1,0</a:t>
                      </a:r>
                      <a:endParaRPr lang="en-US" sz="1050" dirty="0">
                        <a:latin typeface="Calibri" charset="0"/>
                        <a:ea typeface="Calibri" charset="0"/>
                        <a:cs typeface="Calibri" charset="0"/>
                      </a:endParaRPr>
                    </a:p>
                  </a:txBody>
                  <a:tcPr marL="45720" marR="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tcPr>
                </a:tc>
                <a:extLst>
                  <a:ext uri="{0D108BD9-81ED-4DB2-BD59-A6C34878D82A}">
                    <a16:rowId xmlns:a16="http://schemas.microsoft.com/office/drawing/2014/main" val="10010"/>
                  </a:ext>
                </a:extLst>
              </a:tr>
            </a:tbl>
          </a:graphicData>
        </a:graphic>
      </p:graphicFrame>
      <p:sp>
        <p:nvSpPr>
          <p:cNvPr id="17" name="Text 14"/>
          <p:cNvSpPr txBox="1"/>
          <p:nvPr/>
        </p:nvSpPr>
        <p:spPr>
          <a:xfrm>
            <a:off x="4663440" y="4434840"/>
            <a:ext cx="4023360" cy="274320"/>
          </a:xfrm>
          <a:prstGeom prst="rect">
            <a:avLst/>
          </a:prstGeom>
          <a:noFill/>
          <a:ln/>
        </p:spPr>
        <p:txBody>
          <a:bodyPr wrap="square" lIns="0" tIns="0" rIns="0" bIns="0" rtlCol="0" anchor="t"/>
          <a:lstStyle/>
          <a:p>
            <a:pPr marL="0" indent="0">
              <a:buNone/>
            </a:pPr>
            <a:r>
              <a:rPr lang="en-US" sz="1000" i="1" dirty="0">
                <a:solidFill>
                  <a:srgbClr val="5B6475"/>
                </a:solidFill>
                <a:latin typeface="Calibri" pitchFamily="34" charset="0"/>
                <a:ea typeface="Calibri" pitchFamily="34" charset="-122"/>
                <a:cs typeface="Calibri" pitchFamily="34" charset="-120"/>
              </a:rPr>
              <a:t>Điểm mục = điểm tối đa × map(chỉ số, ngưỡng dưới, ngưỡng trên)</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56032"/>
            <a:ext cx="8229600" cy="237744"/>
          </a:xfrm>
          <a:prstGeom prst="rect">
            <a:avLst/>
          </a:prstGeom>
          <a:noFill/>
          <a:ln/>
        </p:spPr>
        <p:txBody>
          <a:bodyPr wrap="square" lIns="0" tIns="0" rIns="0" bIns="0" rtlCol="0" anchor="t"/>
          <a:lstStyle/>
          <a:p>
            <a:pPr marL="0" indent="0">
              <a:buNone/>
            </a:pPr>
            <a:r>
              <a:rPr lang="en-US" sz="1100" b="1" kern="0" spc="200" dirty="0">
                <a:solidFill>
                  <a:srgbClr val="C8102E"/>
                </a:solidFill>
                <a:latin typeface="Calibri" pitchFamily="34" charset="0"/>
                <a:ea typeface="Calibri" pitchFamily="34" charset="-122"/>
                <a:cs typeface="Calibri" pitchFamily="34" charset="-120"/>
              </a:rPr>
              <a:t>THUẬT TOÁN 5</a:t>
            </a:r>
            <a:endParaRPr lang="en-US" sz="1100" dirty="0"/>
          </a:p>
        </p:txBody>
      </p:sp>
      <p:sp>
        <p:nvSpPr>
          <p:cNvPr id="3" name="Text 1"/>
          <p:cNvSpPr txBox="1"/>
          <p:nvPr/>
        </p:nvSpPr>
        <p:spPr>
          <a:xfrm>
            <a:off x="457200" y="502920"/>
            <a:ext cx="8229600" cy="548640"/>
          </a:xfrm>
          <a:prstGeom prst="rect">
            <a:avLst/>
          </a:prstGeom>
          <a:noFill/>
          <a:ln/>
        </p:spPr>
        <p:txBody>
          <a:bodyPr wrap="square" lIns="0" tIns="0" rIns="0" bIns="0" rtlCol="0" anchor="ctr"/>
          <a:lstStyle/>
          <a:p>
            <a:pPr marL="0" indent="0">
              <a:buNone/>
            </a:pPr>
            <a:r>
              <a:rPr lang="en-US" sz="2800" b="1" dirty="0">
                <a:solidFill>
                  <a:srgbClr val="15203B"/>
                </a:solidFill>
                <a:latin typeface="Cambria" pitchFamily="34" charset="0"/>
                <a:ea typeface="Cambria" pitchFamily="34" charset="-122"/>
                <a:cs typeface="Cambria" pitchFamily="34" charset="-120"/>
              </a:rPr>
              <a:t>Chia pha cú đấm (luật đấm mở rộng)</a:t>
            </a:r>
            <a:endParaRPr lang="en-US" sz="2800" dirty="0"/>
          </a:p>
        </p:txBody>
      </p:sp>
      <p:sp>
        <p:nvSpPr>
          <p:cNvPr id="4" name="Text 2"/>
          <p:cNvSpPr txBox="1"/>
          <p:nvPr/>
        </p:nvSpPr>
        <p:spPr>
          <a:xfrm>
            <a:off x="8229600" y="4800600"/>
            <a:ext cx="457200" cy="201168"/>
          </a:xfrm>
          <a:prstGeom prst="rect">
            <a:avLst/>
          </a:prstGeom>
          <a:noFill/>
          <a:ln/>
        </p:spPr>
        <p:txBody>
          <a:bodyPr wrap="square" lIns="0" tIns="0" rIns="0" bIns="0" rtlCol="0" anchor="t"/>
          <a:lstStyle/>
          <a:p>
            <a:pPr marL="0" indent="0" algn="r">
              <a:buNone/>
            </a:pPr>
            <a:r>
              <a:rPr lang="en-US" sz="900" dirty="0">
                <a:solidFill>
                  <a:srgbClr val="5B6475"/>
                </a:solidFill>
                <a:latin typeface="Calibri" pitchFamily="34" charset="0"/>
                <a:ea typeface="Calibri" pitchFamily="34" charset="-122"/>
                <a:cs typeface="Calibri" pitchFamily="34" charset="-120"/>
              </a:rPr>
              <a:t>11</a:t>
            </a:r>
            <a:endParaRPr lang="en-US" sz="900" dirty="0"/>
          </a:p>
        </p:txBody>
      </p:sp>
      <p:graphicFrame>
        <p:nvGraphicFramePr>
          <p:cNvPr id="5" name="Chart 0"/>
          <p:cNvGraphicFramePr/>
          <p:nvPr/>
        </p:nvGraphicFramePr>
        <p:xfrm>
          <a:off x="457200" y="1143000"/>
          <a:ext cx="4846320" cy="3108960"/>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 3"/>
          <p:cNvSpPr txBox="1"/>
          <p:nvPr/>
        </p:nvSpPr>
        <p:spPr>
          <a:xfrm>
            <a:off x="457200" y="4343400"/>
            <a:ext cx="4846320" cy="320040"/>
          </a:xfrm>
          <a:prstGeom prst="rect">
            <a:avLst/>
          </a:prstGeom>
          <a:noFill/>
          <a:ln/>
        </p:spPr>
        <p:txBody>
          <a:bodyPr wrap="square" lIns="0" tIns="0" rIns="0" bIns="0" rtlCol="0" anchor="t"/>
          <a:lstStyle/>
          <a:p>
            <a:pPr marL="0" indent="0" algn="ctr">
              <a:buNone/>
            </a:pPr>
            <a:r>
              <a:rPr lang="en-US" sz="1200" b="1" dirty="0">
                <a:solidFill>
                  <a:srgbClr val="15203B"/>
                </a:solidFill>
                <a:latin typeface="Calibri" pitchFamily="34" charset="0"/>
                <a:ea typeface="Calibri" pitchFamily="34" charset="-122"/>
                <a:cs typeface="Calibri" pitchFamily="34" charset="-120"/>
              </a:rPr>
              <a:t>Bắt đầu f9  →  Điểm chạm f15  →  Về thủ f40</a:t>
            </a:r>
            <a:endParaRPr lang="en-US" sz="1200" dirty="0"/>
          </a:p>
        </p:txBody>
      </p:sp>
      <p:sp>
        <p:nvSpPr>
          <p:cNvPr id="7" name="Shape 4"/>
          <p:cNvSpPr/>
          <p:nvPr/>
        </p:nvSpPr>
        <p:spPr>
          <a:xfrm>
            <a:off x="5577840" y="1188720"/>
            <a:ext cx="384048" cy="384048"/>
          </a:xfrm>
          <a:prstGeom prst="ellipse">
            <a:avLst/>
          </a:prstGeom>
          <a:solidFill>
            <a:srgbClr val="C8102E"/>
          </a:solidFill>
          <a:ln w="12700">
            <a:solidFill>
              <a:srgbClr val="C8102E"/>
            </a:solidFill>
            <a:prstDash val="solid"/>
          </a:ln>
        </p:spPr>
        <p:txBody>
          <a:bodyPr/>
          <a:lstStyle/>
          <a:p>
            <a:endParaRPr lang="en-US"/>
          </a:p>
        </p:txBody>
      </p:sp>
      <p:sp>
        <p:nvSpPr>
          <p:cNvPr id="8" name="Text 5"/>
          <p:cNvSpPr txBox="1"/>
          <p:nvPr/>
        </p:nvSpPr>
        <p:spPr>
          <a:xfrm>
            <a:off x="5577840" y="1188720"/>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9" name="Text 6"/>
          <p:cNvSpPr txBox="1"/>
          <p:nvPr/>
        </p:nvSpPr>
        <p:spPr>
          <a:xfrm>
            <a:off x="6108192" y="1170432"/>
            <a:ext cx="2578608" cy="274320"/>
          </a:xfrm>
          <a:prstGeom prst="rect">
            <a:avLst/>
          </a:prstGeom>
          <a:noFill/>
          <a:ln/>
        </p:spPr>
        <p:txBody>
          <a:bodyPr wrap="square" lIns="0" tIns="0" rIns="0" bIns="0" rtlCol="0" anchor="t"/>
          <a:lstStyle/>
          <a:p>
            <a:pPr marL="0" indent="0">
              <a:buNone/>
            </a:pPr>
            <a:r>
              <a:rPr lang="en-US" sz="1300" b="1" dirty="0">
                <a:solidFill>
                  <a:srgbClr val="15203B"/>
                </a:solidFill>
                <a:latin typeface="Calibri" pitchFamily="34" charset="0"/>
                <a:ea typeface="Calibri" pitchFamily="34" charset="-122"/>
                <a:cs typeface="Calibri" pitchFamily="34" charset="-120"/>
              </a:rPr>
              <a:t>Điểm chạm</a:t>
            </a:r>
            <a:endParaRPr lang="en-US" sz="1300" dirty="0"/>
          </a:p>
        </p:txBody>
      </p:sp>
      <p:sp>
        <p:nvSpPr>
          <p:cNvPr id="10" name="Text 7"/>
          <p:cNvSpPr txBox="1"/>
          <p:nvPr/>
        </p:nvSpPr>
        <p:spPr>
          <a:xfrm>
            <a:off x="6108192" y="1444752"/>
            <a:ext cx="2578608" cy="548640"/>
          </a:xfrm>
          <a:prstGeom prst="rect">
            <a:avLst/>
          </a:prstGeom>
          <a:noFill/>
          <a:ln/>
        </p:spPr>
        <p:txBody>
          <a:bodyPr wrap="square" lIns="0" tIns="0" rIns="0" bIns="0" rtlCol="0" anchor="t"/>
          <a:lstStyle/>
          <a:p>
            <a:pPr marL="0" indent="0">
              <a:buNone/>
            </a:pPr>
            <a:r>
              <a:rPr lang="en-US" sz="1050" dirty="0">
                <a:solidFill>
                  <a:srgbClr val="5B6475"/>
                </a:solidFill>
                <a:latin typeface="Calibri" pitchFamily="34" charset="0"/>
                <a:ea typeface="Calibri" pitchFamily="34" charset="-122"/>
                <a:cs typeface="Calibri" pitchFamily="34" charset="-120"/>
              </a:rPr>
              <a:t>Móc: khuỷu nâng cao nhất (3D). Thẳng: tay vươn xa nhất.</a:t>
            </a:r>
            <a:endParaRPr lang="en-US" sz="1050" dirty="0"/>
          </a:p>
        </p:txBody>
      </p:sp>
      <p:sp>
        <p:nvSpPr>
          <p:cNvPr id="11" name="Shape 8"/>
          <p:cNvSpPr/>
          <p:nvPr/>
        </p:nvSpPr>
        <p:spPr>
          <a:xfrm>
            <a:off x="5577840" y="2057400"/>
            <a:ext cx="384048" cy="384048"/>
          </a:xfrm>
          <a:prstGeom prst="ellipse">
            <a:avLst/>
          </a:prstGeom>
          <a:solidFill>
            <a:srgbClr val="C8102E"/>
          </a:solidFill>
          <a:ln w="12700">
            <a:solidFill>
              <a:srgbClr val="C8102E"/>
            </a:solidFill>
            <a:prstDash val="solid"/>
          </a:ln>
        </p:spPr>
        <p:txBody>
          <a:bodyPr/>
          <a:lstStyle/>
          <a:p>
            <a:endParaRPr lang="en-US"/>
          </a:p>
        </p:txBody>
      </p:sp>
      <p:sp>
        <p:nvSpPr>
          <p:cNvPr id="12" name="Text 9"/>
          <p:cNvSpPr txBox="1"/>
          <p:nvPr/>
        </p:nvSpPr>
        <p:spPr>
          <a:xfrm>
            <a:off x="5577840" y="2057400"/>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3" name="Text 10"/>
          <p:cNvSpPr txBox="1"/>
          <p:nvPr/>
        </p:nvSpPr>
        <p:spPr>
          <a:xfrm>
            <a:off x="6108192" y="2039112"/>
            <a:ext cx="2578608" cy="274320"/>
          </a:xfrm>
          <a:prstGeom prst="rect">
            <a:avLst/>
          </a:prstGeom>
          <a:noFill/>
          <a:ln/>
        </p:spPr>
        <p:txBody>
          <a:bodyPr wrap="square" lIns="0" tIns="0" rIns="0" bIns="0" rtlCol="0" anchor="t"/>
          <a:lstStyle/>
          <a:p>
            <a:pPr marL="0" indent="0">
              <a:buNone/>
            </a:pPr>
            <a:r>
              <a:rPr lang="en-US" sz="1300" b="1" dirty="0">
                <a:solidFill>
                  <a:srgbClr val="15203B"/>
                </a:solidFill>
                <a:latin typeface="Calibri" pitchFamily="34" charset="0"/>
                <a:ea typeface="Calibri" pitchFamily="34" charset="-122"/>
                <a:cs typeface="Calibri" pitchFamily="34" charset="-120"/>
              </a:rPr>
              <a:t>Bắt đầu</a:t>
            </a:r>
            <a:endParaRPr lang="en-US" sz="1300" dirty="0"/>
          </a:p>
        </p:txBody>
      </p:sp>
      <p:sp>
        <p:nvSpPr>
          <p:cNvPr id="14" name="Text 11"/>
          <p:cNvSpPr txBox="1"/>
          <p:nvPr/>
        </p:nvSpPr>
        <p:spPr>
          <a:xfrm>
            <a:off x="6108192" y="2313432"/>
            <a:ext cx="2578608" cy="548640"/>
          </a:xfrm>
          <a:prstGeom prst="rect">
            <a:avLst/>
          </a:prstGeom>
          <a:noFill/>
          <a:ln/>
        </p:spPr>
        <p:txBody>
          <a:bodyPr wrap="square" lIns="0" tIns="0" rIns="0" bIns="0" rtlCol="0" anchor="t"/>
          <a:lstStyle/>
          <a:p>
            <a:pPr marL="0" indent="0">
              <a:buNone/>
            </a:pPr>
            <a:r>
              <a:rPr lang="en-US" sz="1050" dirty="0">
                <a:solidFill>
                  <a:srgbClr val="5B6475"/>
                </a:solidFill>
                <a:latin typeface="Calibri" pitchFamily="34" charset="0"/>
                <a:ea typeface="Calibri" pitchFamily="34" charset="-122"/>
                <a:cs typeface="Calibri" pitchFamily="34" charset="-120"/>
              </a:rPr>
              <a:t>Lùi từ đỉnh tốc độ tới khi tốc độ &lt; 20% đỉnh.</a:t>
            </a:r>
            <a:endParaRPr lang="en-US" sz="1050" dirty="0"/>
          </a:p>
        </p:txBody>
      </p:sp>
      <p:sp>
        <p:nvSpPr>
          <p:cNvPr id="15" name="Shape 12"/>
          <p:cNvSpPr/>
          <p:nvPr/>
        </p:nvSpPr>
        <p:spPr>
          <a:xfrm>
            <a:off x="5577840" y="2926080"/>
            <a:ext cx="384048" cy="384048"/>
          </a:xfrm>
          <a:prstGeom prst="ellipse">
            <a:avLst/>
          </a:prstGeom>
          <a:solidFill>
            <a:srgbClr val="C8102E"/>
          </a:solidFill>
          <a:ln w="12700">
            <a:solidFill>
              <a:srgbClr val="C8102E"/>
            </a:solidFill>
            <a:prstDash val="solid"/>
          </a:ln>
        </p:spPr>
        <p:txBody>
          <a:bodyPr/>
          <a:lstStyle/>
          <a:p>
            <a:endParaRPr lang="en-US"/>
          </a:p>
        </p:txBody>
      </p:sp>
      <p:sp>
        <p:nvSpPr>
          <p:cNvPr id="16" name="Text 13"/>
          <p:cNvSpPr txBox="1"/>
          <p:nvPr/>
        </p:nvSpPr>
        <p:spPr>
          <a:xfrm>
            <a:off x="5577840" y="2926080"/>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7" name="Text 14"/>
          <p:cNvSpPr txBox="1"/>
          <p:nvPr/>
        </p:nvSpPr>
        <p:spPr>
          <a:xfrm>
            <a:off x="6108192" y="2907792"/>
            <a:ext cx="2578608" cy="274320"/>
          </a:xfrm>
          <a:prstGeom prst="rect">
            <a:avLst/>
          </a:prstGeom>
          <a:noFill/>
          <a:ln/>
        </p:spPr>
        <p:txBody>
          <a:bodyPr wrap="square" lIns="0" tIns="0" rIns="0" bIns="0" rtlCol="0" anchor="t"/>
          <a:lstStyle/>
          <a:p>
            <a:pPr marL="0" indent="0">
              <a:buNone/>
            </a:pPr>
            <a:r>
              <a:rPr lang="en-US" sz="1300" b="1" dirty="0">
                <a:solidFill>
                  <a:srgbClr val="15203B"/>
                </a:solidFill>
                <a:latin typeface="Calibri" pitchFamily="34" charset="0"/>
                <a:ea typeface="Calibri" pitchFamily="34" charset="-122"/>
                <a:cs typeface="Calibri" pitchFamily="34" charset="-120"/>
              </a:rPr>
              <a:t>Thu về</a:t>
            </a:r>
            <a:endParaRPr lang="en-US" sz="1300" dirty="0"/>
          </a:p>
        </p:txBody>
      </p:sp>
      <p:sp>
        <p:nvSpPr>
          <p:cNvPr id="18" name="Text 15"/>
          <p:cNvSpPr txBox="1"/>
          <p:nvPr/>
        </p:nvSpPr>
        <p:spPr>
          <a:xfrm>
            <a:off x="6108192" y="3182112"/>
            <a:ext cx="2578608" cy="548640"/>
          </a:xfrm>
          <a:prstGeom prst="rect">
            <a:avLst/>
          </a:prstGeom>
          <a:noFill/>
          <a:ln/>
        </p:spPr>
        <p:txBody>
          <a:bodyPr wrap="square" lIns="0" tIns="0" rIns="0" bIns="0" rtlCol="0" anchor="t"/>
          <a:lstStyle/>
          <a:p>
            <a:pPr marL="0" indent="0">
              <a:buNone/>
            </a:pPr>
            <a:r>
              <a:rPr lang="en-US" sz="1050" dirty="0">
                <a:solidFill>
                  <a:srgbClr val="5B6475"/>
                </a:solidFill>
                <a:latin typeface="Calibri" pitchFamily="34" charset="0"/>
                <a:ea typeface="Calibri" pitchFamily="34" charset="-122"/>
                <a:cs typeface="Calibri" pitchFamily="34" charset="-120"/>
              </a:rPr>
              <a:t>Tín hiệu về gần mức thủ (≤ 30% biên độ) trong 1,2 s.</a:t>
            </a:r>
            <a:endParaRPr lang="en-US" sz="1050" dirty="0"/>
          </a:p>
        </p:txBody>
      </p:sp>
      <p:sp>
        <p:nvSpPr>
          <p:cNvPr id="19" name="Shape 16"/>
          <p:cNvSpPr/>
          <p:nvPr/>
        </p:nvSpPr>
        <p:spPr>
          <a:xfrm>
            <a:off x="5577840" y="3794760"/>
            <a:ext cx="384048" cy="384048"/>
          </a:xfrm>
          <a:prstGeom prst="ellipse">
            <a:avLst/>
          </a:prstGeom>
          <a:solidFill>
            <a:srgbClr val="C8102E"/>
          </a:solidFill>
          <a:ln w="12700">
            <a:solidFill>
              <a:srgbClr val="C8102E"/>
            </a:solidFill>
            <a:prstDash val="solid"/>
          </a:ln>
        </p:spPr>
        <p:txBody>
          <a:bodyPr/>
          <a:lstStyle/>
          <a:p>
            <a:endParaRPr lang="en-US"/>
          </a:p>
        </p:txBody>
      </p:sp>
      <p:sp>
        <p:nvSpPr>
          <p:cNvPr id="20" name="Text 17"/>
          <p:cNvSpPr txBox="1"/>
          <p:nvPr/>
        </p:nvSpPr>
        <p:spPr>
          <a:xfrm>
            <a:off x="5577840" y="3794760"/>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1" name="Text 18"/>
          <p:cNvSpPr txBox="1"/>
          <p:nvPr/>
        </p:nvSpPr>
        <p:spPr>
          <a:xfrm>
            <a:off x="6108192" y="3776472"/>
            <a:ext cx="2578608" cy="274320"/>
          </a:xfrm>
          <a:prstGeom prst="rect">
            <a:avLst/>
          </a:prstGeom>
          <a:noFill/>
          <a:ln/>
        </p:spPr>
        <p:txBody>
          <a:bodyPr wrap="square" lIns="0" tIns="0" rIns="0" bIns="0" rtlCol="0" anchor="t"/>
          <a:lstStyle/>
          <a:p>
            <a:pPr marL="0" indent="0">
              <a:buNone/>
            </a:pPr>
            <a:r>
              <a:rPr lang="en-US" sz="1300" b="1" dirty="0">
                <a:solidFill>
                  <a:srgbClr val="15203B"/>
                </a:solidFill>
                <a:latin typeface="Calibri" pitchFamily="34" charset="0"/>
                <a:ea typeface="Calibri" pitchFamily="34" charset="-122"/>
                <a:cs typeface="Calibri" pitchFamily="34" charset="-120"/>
              </a:rPr>
              <a:t>Thiếu dữ liệu</a:t>
            </a:r>
            <a:endParaRPr lang="en-US" sz="1300" dirty="0"/>
          </a:p>
        </p:txBody>
      </p:sp>
      <p:sp>
        <p:nvSpPr>
          <p:cNvPr id="22" name="Text 19"/>
          <p:cNvSpPr txBox="1"/>
          <p:nvPr/>
        </p:nvSpPr>
        <p:spPr>
          <a:xfrm>
            <a:off x="6108192" y="4050792"/>
            <a:ext cx="2578608" cy="548640"/>
          </a:xfrm>
          <a:prstGeom prst="rect">
            <a:avLst/>
          </a:prstGeom>
          <a:noFill/>
          <a:ln/>
        </p:spPr>
        <p:txBody>
          <a:bodyPr wrap="square" lIns="0" tIns="0" rIns="0" bIns="0" rtlCol="0" anchor="t"/>
          <a:lstStyle/>
          <a:p>
            <a:pPr marL="0" indent="0">
              <a:buNone/>
            </a:pPr>
            <a:r>
              <a:rPr lang="en-US" sz="1050" dirty="0">
                <a:solidFill>
                  <a:srgbClr val="5B6475"/>
                </a:solidFill>
                <a:latin typeface="Calibri" pitchFamily="34" charset="0"/>
                <a:ea typeface="Calibri" pitchFamily="34" charset="-122"/>
                <a:cs typeface="Calibri" pitchFamily="34" charset="-120"/>
              </a:rPr>
              <a:t>Video cắt sớm → mục đó "không đánh giá", điểm quy đổi theo tỉ lệ.</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56032"/>
            <a:ext cx="8229600" cy="237744"/>
          </a:xfrm>
          <a:prstGeom prst="rect">
            <a:avLst/>
          </a:prstGeom>
          <a:noFill/>
          <a:ln/>
        </p:spPr>
        <p:txBody>
          <a:bodyPr wrap="square" lIns="0" tIns="0" rIns="0" bIns="0" rtlCol="0" anchor="t"/>
          <a:lstStyle/>
          <a:p>
            <a:pPr marL="0" indent="0">
              <a:buNone/>
            </a:pPr>
            <a:r>
              <a:rPr lang="en-US" sz="1100" b="1" kern="0" spc="200" dirty="0">
                <a:solidFill>
                  <a:srgbClr val="C8102E"/>
                </a:solidFill>
                <a:latin typeface="Calibri" pitchFamily="34" charset="0"/>
                <a:ea typeface="Calibri" pitchFamily="34" charset="-122"/>
                <a:cs typeface="Calibri" pitchFamily="34" charset="-120"/>
              </a:rPr>
              <a:t>THUẬT TOÁN 5 (TIẾP)</a:t>
            </a:r>
            <a:endParaRPr lang="en-US" sz="1100" dirty="0"/>
          </a:p>
        </p:txBody>
      </p:sp>
      <p:sp>
        <p:nvSpPr>
          <p:cNvPr id="3" name="Text 1"/>
          <p:cNvSpPr txBox="1"/>
          <p:nvPr/>
        </p:nvSpPr>
        <p:spPr>
          <a:xfrm>
            <a:off x="457200" y="502920"/>
            <a:ext cx="8229600" cy="548640"/>
          </a:xfrm>
          <a:prstGeom prst="rect">
            <a:avLst/>
          </a:prstGeom>
          <a:noFill/>
          <a:ln/>
        </p:spPr>
        <p:txBody>
          <a:bodyPr wrap="square" lIns="0" tIns="0" rIns="0" bIns="0" rtlCol="0" anchor="ctr"/>
          <a:lstStyle/>
          <a:p>
            <a:pPr marL="0" indent="0">
              <a:buNone/>
            </a:pPr>
            <a:r>
              <a:rPr lang="en-US" sz="2800" b="1" dirty="0">
                <a:solidFill>
                  <a:srgbClr val="15203B"/>
                </a:solidFill>
                <a:latin typeface="Cambria" pitchFamily="34" charset="0"/>
                <a:ea typeface="Cambria" pitchFamily="34" charset="-122"/>
                <a:cs typeface="Cambria" pitchFamily="34" charset="-120"/>
              </a:rPr>
              <a:t>Bảng điểm đấm móc</a:t>
            </a:r>
            <a:endParaRPr lang="en-US" sz="2800" dirty="0"/>
          </a:p>
        </p:txBody>
      </p:sp>
      <p:sp>
        <p:nvSpPr>
          <p:cNvPr id="4" name="Text 2"/>
          <p:cNvSpPr txBox="1"/>
          <p:nvPr/>
        </p:nvSpPr>
        <p:spPr>
          <a:xfrm>
            <a:off x="8229600" y="4800600"/>
            <a:ext cx="457200" cy="201168"/>
          </a:xfrm>
          <a:prstGeom prst="rect">
            <a:avLst/>
          </a:prstGeom>
          <a:noFill/>
          <a:ln/>
        </p:spPr>
        <p:txBody>
          <a:bodyPr wrap="square" lIns="0" tIns="0" rIns="0" bIns="0" rtlCol="0" anchor="t"/>
          <a:lstStyle/>
          <a:p>
            <a:pPr marL="0" indent="0" algn="r">
              <a:buNone/>
            </a:pPr>
            <a:r>
              <a:rPr lang="en-US" sz="900" dirty="0">
                <a:solidFill>
                  <a:srgbClr val="5B6475"/>
                </a:solidFill>
                <a:latin typeface="Calibri" pitchFamily="34" charset="0"/>
                <a:ea typeface="Calibri" pitchFamily="34" charset="-122"/>
                <a:cs typeface="Calibri" pitchFamily="34" charset="-120"/>
              </a:rPr>
              <a:t>12</a:t>
            </a:r>
            <a:endParaRPr lang="en-US" sz="9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3044952"/>
        </p:xfrm>
        <a:graphic>
          <a:graphicData uri="http://schemas.openxmlformats.org/drawingml/2006/table">
            <a:tbl>
              <a:tblPr/>
              <a:tblGrid>
                <a:gridCol w="868680">
                  <a:extLst>
                    <a:ext uri="{9D8B030D-6E8A-4147-A177-3AD203B41FA5}">
                      <a16:colId xmlns:a16="http://schemas.microsoft.com/office/drawing/2014/main" val="20000"/>
                    </a:ext>
                  </a:extLst>
                </a:gridCol>
                <a:gridCol w="2240280">
                  <a:extLst>
                    <a:ext uri="{9D8B030D-6E8A-4147-A177-3AD203B41FA5}">
                      <a16:colId xmlns:a16="http://schemas.microsoft.com/office/drawing/2014/main" val="20001"/>
                    </a:ext>
                  </a:extLst>
                </a:gridCol>
                <a:gridCol w="640080">
                  <a:extLst>
                    <a:ext uri="{9D8B030D-6E8A-4147-A177-3AD203B41FA5}">
                      <a16:colId xmlns:a16="http://schemas.microsoft.com/office/drawing/2014/main" val="20002"/>
                    </a:ext>
                  </a:extLst>
                </a:gridCol>
                <a:gridCol w="4480560">
                  <a:extLst>
                    <a:ext uri="{9D8B030D-6E8A-4147-A177-3AD203B41FA5}">
                      <a16:colId xmlns:a16="http://schemas.microsoft.com/office/drawing/2014/main" val="20003"/>
                    </a:ext>
                  </a:extLst>
                </a:gridCol>
              </a:tblGrid>
              <a:tr h="338328">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Mã</a:t>
                      </a:r>
                      <a:endParaRPr lang="en-US" sz="1100" dirty="0">
                        <a:latin typeface="Calibri" charset="0"/>
                        <a:ea typeface="Calibri" charset="0"/>
                        <a:cs typeface="Calibri" charset="0"/>
                      </a:endParaRPr>
                    </a:p>
                  </a:txBody>
                  <a:tcPr marL="54864" marR="54864" marT="54864" marB="54864"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15203B"/>
                    </a:solidFill>
                  </a:tcPr>
                </a:tc>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Hạng mục</a:t>
                      </a:r>
                      <a:endParaRPr lang="en-US" sz="1100" dirty="0">
                        <a:latin typeface="Calibri" charset="0"/>
                        <a:ea typeface="Calibri" charset="0"/>
                        <a:cs typeface="Calibri" charset="0"/>
                      </a:endParaRPr>
                    </a:p>
                  </a:txBody>
                  <a:tcPr marL="54864" marR="54864" marT="54864" marB="54864"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15203B"/>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Điểm</a:t>
                      </a:r>
                      <a:endParaRPr lang="en-US" sz="1100" dirty="0">
                        <a:latin typeface="Calibri" charset="0"/>
                        <a:ea typeface="Calibri" charset="0"/>
                        <a:cs typeface="Calibri" charset="0"/>
                      </a:endParaRPr>
                    </a:p>
                  </a:txBody>
                  <a:tcPr marL="54864" marR="54864" marT="54864" marB="54864"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15203B"/>
                    </a:solidFill>
                  </a:tcPr>
                </a:tc>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Đo bằng (mức đạt tối đa)</a:t>
                      </a:r>
                      <a:endParaRPr lang="en-US" sz="1100" dirty="0">
                        <a:latin typeface="Calibri" charset="0"/>
                        <a:ea typeface="Calibri" charset="0"/>
                        <a:cs typeface="Calibri" charset="0"/>
                      </a:endParaRPr>
                    </a:p>
                  </a:txBody>
                  <a:tcPr marL="54864" marR="54864" marT="54864" marB="54864"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15203B"/>
                    </a:solidFill>
                  </a:tcPr>
                </a:tc>
                <a:extLst>
                  <a:ext uri="{0D108BD9-81ED-4DB2-BD59-A6C34878D82A}">
                    <a16:rowId xmlns:a16="http://schemas.microsoft.com/office/drawing/2014/main" val="10000"/>
                  </a:ext>
                </a:extLst>
              </a:tr>
              <a:tr h="338328">
                <a:tc>
                  <a:txBody>
                    <a:bodyPr/>
                    <a:lstStyle/>
                    <a:p>
                      <a:pPr marL="0" indent="0">
                        <a:buNone/>
                      </a:pPr>
                      <a:r>
                        <a:rPr lang="en-US" sz="1100" b="1" dirty="0">
                          <a:solidFill>
                            <a:srgbClr val="1F4E9A"/>
                          </a:solidFill>
                          <a:latin typeface="Courier New" pitchFamily="34" charset="0"/>
                          <a:ea typeface="Courier New" pitchFamily="34" charset="-122"/>
                          <a:cs typeface="Courier New" pitchFamily="34" charset="-120"/>
                        </a:rPr>
                        <a:t>HK_A1</a:t>
                      </a:r>
                      <a:endParaRPr lang="en-US" sz="1100" dirty="0">
                        <a:latin typeface="Courier New" charset="0"/>
                        <a:ea typeface="Courier New" charset="0"/>
                        <a:cs typeface="Courier New" charset="0"/>
                      </a:endParaRPr>
                    </a:p>
                  </a:txBody>
                  <a:tcPr marL="54864" marR="54864" marT="54864" marB="54864"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tcPr>
                </a:tc>
                <a:tc>
                  <a:txBody>
                    <a:bodyPr/>
                    <a:lstStyle/>
                    <a:p>
                      <a:pPr marL="0" indent="0">
                        <a:buNone/>
                      </a:pPr>
                      <a:r>
                        <a:rPr lang="en-US" sz="1100" dirty="0">
                          <a:solidFill>
                            <a:srgbClr val="1E2533"/>
                          </a:solidFill>
                          <a:latin typeface="Calibri" pitchFamily="34" charset="0"/>
                          <a:ea typeface="Calibri" pitchFamily="34" charset="-122"/>
                          <a:cs typeface="Calibri" pitchFamily="34" charset="-120"/>
                        </a:rPr>
                        <a:t>Hình dạng tay khi chạm</a:t>
                      </a:r>
                      <a:endParaRPr lang="en-US" sz="1100" dirty="0">
                        <a:latin typeface="Calibri" charset="0"/>
                        <a:ea typeface="Calibri" charset="0"/>
                        <a:cs typeface="Calibri" charset="0"/>
                      </a:endParaRPr>
                    </a:p>
                  </a:txBody>
                  <a:tcPr marL="54864" marR="54864" marT="54864" marB="54864"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tcPr>
                </a:tc>
                <a:tc>
                  <a:txBody>
                    <a:bodyPr/>
                    <a:lstStyle/>
                    <a:p>
                      <a:pPr marL="0" indent="0" algn="ctr">
                        <a:buNone/>
                      </a:pPr>
                      <a:r>
                        <a:rPr lang="en-US" sz="1100" b="1" dirty="0">
                          <a:solidFill>
                            <a:srgbClr val="1E2533"/>
                          </a:solidFill>
                          <a:latin typeface="Calibri" pitchFamily="34" charset="0"/>
                          <a:ea typeface="Calibri" pitchFamily="34" charset="-122"/>
                          <a:cs typeface="Calibri" pitchFamily="34" charset="-120"/>
                        </a:rPr>
                        <a:t>1,6</a:t>
                      </a:r>
                      <a:endParaRPr lang="en-US" sz="1100" dirty="0">
                        <a:latin typeface="Calibri" charset="0"/>
                        <a:ea typeface="Calibri" charset="0"/>
                        <a:cs typeface="Calibri" charset="0"/>
                      </a:endParaRPr>
                    </a:p>
                  </a:txBody>
                  <a:tcPr marL="54864" marR="54864" marT="54864" marB="54864"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tcPr>
                </a:tc>
                <a:tc>
                  <a:txBody>
                    <a:bodyPr/>
                    <a:lstStyle/>
                    <a:p>
                      <a:pPr marL="0" indent="0">
                        <a:buNone/>
                      </a:pPr>
                      <a:r>
                        <a:rPr lang="en-US" sz="1100" dirty="0">
                          <a:solidFill>
                            <a:srgbClr val="1E2533"/>
                          </a:solidFill>
                          <a:latin typeface="Calibri" pitchFamily="34" charset="0"/>
                          <a:ea typeface="Calibri" pitchFamily="34" charset="-122"/>
                          <a:cs typeface="Calibri" pitchFamily="34" charset="-120"/>
                        </a:rPr>
                        <a:t>Góc khuỷu 80–130°, khuỷu nâng 75–135°, nắm tay ở tầm đầu</a:t>
                      </a:r>
                      <a:endParaRPr lang="en-US" sz="1100" dirty="0">
                        <a:latin typeface="Calibri" charset="0"/>
                        <a:ea typeface="Calibri" charset="0"/>
                        <a:cs typeface="Calibri" charset="0"/>
                      </a:endParaRPr>
                    </a:p>
                  </a:txBody>
                  <a:tcPr marL="54864" marR="54864" marT="54864" marB="54864"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tcPr>
                </a:tc>
                <a:extLst>
                  <a:ext uri="{0D108BD9-81ED-4DB2-BD59-A6C34878D82A}">
                    <a16:rowId xmlns:a16="http://schemas.microsoft.com/office/drawing/2014/main" val="10001"/>
                  </a:ext>
                </a:extLst>
              </a:tr>
              <a:tr h="338328">
                <a:tc>
                  <a:txBody>
                    <a:bodyPr/>
                    <a:lstStyle/>
                    <a:p>
                      <a:pPr marL="0" indent="0">
                        <a:buNone/>
                      </a:pPr>
                      <a:r>
                        <a:rPr lang="en-US" sz="1100" b="1" dirty="0">
                          <a:solidFill>
                            <a:srgbClr val="1F4E9A"/>
                          </a:solidFill>
                          <a:latin typeface="Courier New" pitchFamily="34" charset="0"/>
                          <a:ea typeface="Courier New" pitchFamily="34" charset="-122"/>
                          <a:cs typeface="Courier New" pitchFamily="34" charset="-120"/>
                        </a:rPr>
                        <a:t>HK_A2</a:t>
                      </a:r>
                      <a:endParaRPr lang="en-US" sz="1100" dirty="0">
                        <a:latin typeface="Courier New" charset="0"/>
                        <a:ea typeface="Courier New" charset="0"/>
                        <a:cs typeface="Courier New" charset="0"/>
                      </a:endParaRPr>
                    </a:p>
                  </a:txBody>
                  <a:tcPr marL="54864" marR="54864" marT="54864" marB="54864"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tcPr>
                </a:tc>
                <a:tc>
                  <a:txBody>
                    <a:bodyPr/>
                    <a:lstStyle/>
                    <a:p>
                      <a:pPr marL="0" indent="0">
                        <a:buNone/>
                      </a:pPr>
                      <a:r>
                        <a:rPr lang="en-US" sz="1100" dirty="0">
                          <a:solidFill>
                            <a:srgbClr val="1E2533"/>
                          </a:solidFill>
                          <a:latin typeface="Calibri" pitchFamily="34" charset="0"/>
                          <a:ea typeface="Calibri" pitchFamily="34" charset="-122"/>
                          <a:cs typeface="Calibri" pitchFamily="34" charset="-120"/>
                        </a:rPr>
                        <a:t>Xoay hông – vai theo đòn</a:t>
                      </a:r>
                      <a:endParaRPr lang="en-US" sz="1100" dirty="0">
                        <a:latin typeface="Calibri" charset="0"/>
                        <a:ea typeface="Calibri" charset="0"/>
                        <a:cs typeface="Calibri" charset="0"/>
                      </a:endParaRPr>
                    </a:p>
                  </a:txBody>
                  <a:tcPr marL="54864" marR="54864" marT="54864" marB="54864"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tcPr>
                </a:tc>
                <a:tc>
                  <a:txBody>
                    <a:bodyPr/>
                    <a:lstStyle/>
                    <a:p>
                      <a:pPr marL="0" indent="0" algn="ctr">
                        <a:buNone/>
                      </a:pPr>
                      <a:r>
                        <a:rPr lang="en-US" sz="1100" b="1" dirty="0">
                          <a:solidFill>
                            <a:srgbClr val="1E2533"/>
                          </a:solidFill>
                          <a:latin typeface="Calibri" pitchFamily="34" charset="0"/>
                          <a:ea typeface="Calibri" pitchFamily="34" charset="-122"/>
                          <a:cs typeface="Calibri" pitchFamily="34" charset="-120"/>
                        </a:rPr>
                        <a:t>1,2</a:t>
                      </a:r>
                      <a:endParaRPr lang="en-US" sz="1100" dirty="0">
                        <a:latin typeface="Calibri" charset="0"/>
                        <a:ea typeface="Calibri" charset="0"/>
                        <a:cs typeface="Calibri" charset="0"/>
                      </a:endParaRPr>
                    </a:p>
                  </a:txBody>
                  <a:tcPr marL="54864" marR="54864" marT="54864" marB="54864"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tcPr>
                </a:tc>
                <a:tc>
                  <a:txBody>
                    <a:bodyPr/>
                    <a:lstStyle/>
                    <a:p>
                      <a:pPr marL="0" indent="0">
                        <a:buNone/>
                      </a:pPr>
                      <a:r>
                        <a:rPr lang="en-US" sz="1100" dirty="0">
                          <a:solidFill>
                            <a:srgbClr val="1E2533"/>
                          </a:solidFill>
                          <a:latin typeface="Calibri" pitchFamily="34" charset="0"/>
                          <a:ea typeface="Calibri" pitchFamily="34" charset="-122"/>
                          <a:cs typeface="Calibri" pitchFamily="34" charset="-120"/>
                        </a:rPr>
                        <a:t>Xoay vai 40–90°, xoay hông 30–90° (đo 3D)</a:t>
                      </a:r>
                      <a:endParaRPr lang="en-US" sz="1100" dirty="0">
                        <a:latin typeface="Calibri" charset="0"/>
                        <a:ea typeface="Calibri" charset="0"/>
                        <a:cs typeface="Calibri" charset="0"/>
                      </a:endParaRPr>
                    </a:p>
                  </a:txBody>
                  <a:tcPr marL="54864" marR="54864" marT="54864" marB="54864"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tcPr>
                </a:tc>
                <a:extLst>
                  <a:ext uri="{0D108BD9-81ED-4DB2-BD59-A6C34878D82A}">
                    <a16:rowId xmlns:a16="http://schemas.microsoft.com/office/drawing/2014/main" val="10002"/>
                  </a:ext>
                </a:extLst>
              </a:tr>
              <a:tr h="338328">
                <a:tc>
                  <a:txBody>
                    <a:bodyPr/>
                    <a:lstStyle/>
                    <a:p>
                      <a:pPr marL="0" indent="0">
                        <a:buNone/>
                      </a:pPr>
                      <a:r>
                        <a:rPr lang="en-US" sz="1100" b="1" dirty="0">
                          <a:solidFill>
                            <a:srgbClr val="1F4E9A"/>
                          </a:solidFill>
                          <a:latin typeface="Courier New" pitchFamily="34" charset="0"/>
                          <a:ea typeface="Courier New" pitchFamily="34" charset="-122"/>
                          <a:cs typeface="Courier New" pitchFamily="34" charset="-120"/>
                        </a:rPr>
                        <a:t>PU_A3</a:t>
                      </a:r>
                      <a:endParaRPr lang="en-US" sz="1100" dirty="0">
                        <a:latin typeface="Courier New" charset="0"/>
                        <a:ea typeface="Courier New" charset="0"/>
                        <a:cs typeface="Courier New" charset="0"/>
                      </a:endParaRPr>
                    </a:p>
                  </a:txBody>
                  <a:tcPr marL="54864" marR="54864" marT="54864" marB="54864"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tcPr>
                </a:tc>
                <a:tc>
                  <a:txBody>
                    <a:bodyPr/>
                    <a:lstStyle/>
                    <a:p>
                      <a:pPr marL="0" indent="0">
                        <a:buNone/>
                      </a:pPr>
                      <a:r>
                        <a:rPr lang="en-US" sz="1100" dirty="0">
                          <a:solidFill>
                            <a:srgbClr val="1E2533"/>
                          </a:solidFill>
                          <a:latin typeface="Calibri" pitchFamily="34" charset="0"/>
                          <a:ea typeface="Calibri" pitchFamily="34" charset="-122"/>
                          <a:cs typeface="Calibri" pitchFamily="34" charset="-120"/>
                        </a:rPr>
                        <a:t>Thu tay về thế thủ</a:t>
                      </a:r>
                      <a:endParaRPr lang="en-US" sz="1100" dirty="0">
                        <a:latin typeface="Calibri" charset="0"/>
                        <a:ea typeface="Calibri" charset="0"/>
                        <a:cs typeface="Calibri" charset="0"/>
                      </a:endParaRPr>
                    </a:p>
                  </a:txBody>
                  <a:tcPr marL="54864" marR="54864" marT="54864" marB="54864"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tcPr>
                </a:tc>
                <a:tc>
                  <a:txBody>
                    <a:bodyPr/>
                    <a:lstStyle/>
                    <a:p>
                      <a:pPr marL="0" indent="0" algn="ctr">
                        <a:buNone/>
                      </a:pPr>
                      <a:r>
                        <a:rPr lang="en-US" sz="1100" b="1" dirty="0">
                          <a:solidFill>
                            <a:srgbClr val="1E2533"/>
                          </a:solidFill>
                          <a:latin typeface="Calibri" pitchFamily="34" charset="0"/>
                          <a:ea typeface="Calibri" pitchFamily="34" charset="-122"/>
                          <a:cs typeface="Calibri" pitchFamily="34" charset="-120"/>
                        </a:rPr>
                        <a:t>0,8</a:t>
                      </a:r>
                      <a:endParaRPr lang="en-US" sz="1100" dirty="0">
                        <a:latin typeface="Calibri" charset="0"/>
                        <a:ea typeface="Calibri" charset="0"/>
                        <a:cs typeface="Calibri" charset="0"/>
                      </a:endParaRPr>
                    </a:p>
                  </a:txBody>
                  <a:tcPr marL="54864" marR="54864" marT="54864" marB="54864"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tcPr>
                </a:tc>
                <a:tc>
                  <a:txBody>
                    <a:bodyPr/>
                    <a:lstStyle/>
                    <a:p>
                      <a:pPr marL="0" indent="0">
                        <a:buNone/>
                      </a:pPr>
                      <a:r>
                        <a:rPr lang="en-US" sz="1100" dirty="0">
                          <a:solidFill>
                            <a:srgbClr val="1E2533"/>
                          </a:solidFill>
                          <a:latin typeface="Calibri" pitchFamily="34" charset="0"/>
                          <a:ea typeface="Calibri" pitchFamily="34" charset="-122"/>
                          <a:cs typeface="Calibri" pitchFamily="34" charset="-120"/>
                        </a:rPr>
                        <a:t>Tỉ lệ trở về mức thủ ≥ 80%</a:t>
                      </a:r>
                      <a:endParaRPr lang="en-US" sz="1100" dirty="0">
                        <a:latin typeface="Calibri" charset="0"/>
                        <a:ea typeface="Calibri" charset="0"/>
                        <a:cs typeface="Calibri" charset="0"/>
                      </a:endParaRPr>
                    </a:p>
                  </a:txBody>
                  <a:tcPr marL="54864" marR="54864" marT="54864" marB="54864"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tcPr>
                </a:tc>
                <a:extLst>
                  <a:ext uri="{0D108BD9-81ED-4DB2-BD59-A6C34878D82A}">
                    <a16:rowId xmlns:a16="http://schemas.microsoft.com/office/drawing/2014/main" val="10003"/>
                  </a:ext>
                </a:extLst>
              </a:tr>
              <a:tr h="338328">
                <a:tc>
                  <a:txBody>
                    <a:bodyPr/>
                    <a:lstStyle/>
                    <a:p>
                      <a:pPr marL="0" indent="0">
                        <a:buNone/>
                      </a:pPr>
                      <a:r>
                        <a:rPr lang="en-US" sz="1100" b="1" dirty="0">
                          <a:solidFill>
                            <a:srgbClr val="1F4E9A"/>
                          </a:solidFill>
                          <a:latin typeface="Courier New" pitchFamily="34" charset="0"/>
                          <a:ea typeface="Courier New" pitchFamily="34" charset="-122"/>
                          <a:cs typeface="Courier New" pitchFamily="34" charset="-120"/>
                        </a:rPr>
                        <a:t>PU_A4</a:t>
                      </a:r>
                      <a:endParaRPr lang="en-US" sz="1100" dirty="0">
                        <a:latin typeface="Courier New" charset="0"/>
                        <a:ea typeface="Courier New" charset="0"/>
                        <a:cs typeface="Courier New" charset="0"/>
                      </a:endParaRPr>
                    </a:p>
                  </a:txBody>
                  <a:tcPr marL="54864" marR="54864" marT="54864" marB="54864"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tcPr>
                </a:tc>
                <a:tc>
                  <a:txBody>
                    <a:bodyPr/>
                    <a:lstStyle/>
                    <a:p>
                      <a:pPr marL="0" indent="0">
                        <a:buNone/>
                      </a:pPr>
                      <a:r>
                        <a:rPr lang="en-US" sz="1100" dirty="0">
                          <a:solidFill>
                            <a:srgbClr val="1E2533"/>
                          </a:solidFill>
                          <a:latin typeface="Calibri" pitchFamily="34" charset="0"/>
                          <a:ea typeface="Calibri" pitchFamily="34" charset="-122"/>
                          <a:cs typeface="Calibri" pitchFamily="34" charset="-120"/>
                        </a:rPr>
                        <a:t>Tay thủ &amp; thăng bằng</a:t>
                      </a:r>
                      <a:endParaRPr lang="en-US" sz="1100" dirty="0">
                        <a:latin typeface="Calibri" charset="0"/>
                        <a:ea typeface="Calibri" charset="0"/>
                        <a:cs typeface="Calibri" charset="0"/>
                      </a:endParaRPr>
                    </a:p>
                  </a:txBody>
                  <a:tcPr marL="54864" marR="54864" marT="54864" marB="54864"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tcPr>
                </a:tc>
                <a:tc>
                  <a:txBody>
                    <a:bodyPr/>
                    <a:lstStyle/>
                    <a:p>
                      <a:pPr marL="0" indent="0" algn="ctr">
                        <a:buNone/>
                      </a:pPr>
                      <a:r>
                        <a:rPr lang="en-US" sz="1100" b="1" dirty="0">
                          <a:solidFill>
                            <a:srgbClr val="1E2533"/>
                          </a:solidFill>
                          <a:latin typeface="Calibri" pitchFamily="34" charset="0"/>
                          <a:ea typeface="Calibri" pitchFamily="34" charset="-122"/>
                          <a:cs typeface="Calibri" pitchFamily="34" charset="-120"/>
                        </a:rPr>
                        <a:t>0,4</a:t>
                      </a:r>
                      <a:endParaRPr lang="en-US" sz="1100" dirty="0">
                        <a:latin typeface="Calibri" charset="0"/>
                        <a:ea typeface="Calibri" charset="0"/>
                        <a:cs typeface="Calibri" charset="0"/>
                      </a:endParaRPr>
                    </a:p>
                  </a:txBody>
                  <a:tcPr marL="54864" marR="54864" marT="54864" marB="54864"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tcPr>
                </a:tc>
                <a:tc>
                  <a:txBody>
                    <a:bodyPr/>
                    <a:lstStyle/>
                    <a:p>
                      <a:pPr marL="0" indent="0">
                        <a:buNone/>
                      </a:pPr>
                      <a:r>
                        <a:rPr lang="en-US" sz="1100" dirty="0">
                          <a:solidFill>
                            <a:srgbClr val="1E2533"/>
                          </a:solidFill>
                          <a:latin typeface="Calibri" pitchFamily="34" charset="0"/>
                          <a:ea typeface="Calibri" pitchFamily="34" charset="-122"/>
                          <a:cs typeface="Calibri" pitchFamily="34" charset="-120"/>
                        </a:rPr>
                        <a:t>Tay còn lại sát cằm, thân nghiêng ≤ 15°, hông ít lắc</a:t>
                      </a:r>
                      <a:endParaRPr lang="en-US" sz="1100" dirty="0">
                        <a:latin typeface="Calibri" charset="0"/>
                        <a:ea typeface="Calibri" charset="0"/>
                        <a:cs typeface="Calibri" charset="0"/>
                      </a:endParaRPr>
                    </a:p>
                  </a:txBody>
                  <a:tcPr marL="54864" marR="54864" marT="54864" marB="54864"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tcPr>
                </a:tc>
                <a:extLst>
                  <a:ext uri="{0D108BD9-81ED-4DB2-BD59-A6C34878D82A}">
                    <a16:rowId xmlns:a16="http://schemas.microsoft.com/office/drawing/2014/main" val="10004"/>
                  </a:ext>
                </a:extLst>
              </a:tr>
              <a:tr h="338328">
                <a:tc>
                  <a:txBody>
                    <a:bodyPr/>
                    <a:lstStyle/>
                    <a:p>
                      <a:pPr marL="0" indent="0">
                        <a:buNone/>
                      </a:pPr>
                      <a:r>
                        <a:rPr lang="en-US" sz="1100" b="1" dirty="0">
                          <a:solidFill>
                            <a:srgbClr val="2E7D32"/>
                          </a:solidFill>
                          <a:latin typeface="Courier New" pitchFamily="34" charset="0"/>
                          <a:ea typeface="Courier New" pitchFamily="34" charset="-122"/>
                          <a:cs typeface="Courier New" pitchFamily="34" charset="-120"/>
                        </a:rPr>
                        <a:t>PX_E1</a:t>
                      </a:r>
                      <a:endParaRPr lang="en-US" sz="1100" dirty="0">
                        <a:latin typeface="Courier New" charset="0"/>
                        <a:ea typeface="Courier New" charset="0"/>
                        <a:cs typeface="Courier New" charset="0"/>
                      </a:endParaRPr>
                    </a:p>
                  </a:txBody>
                  <a:tcPr marL="54864" marR="54864" marT="54864" marB="54864"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tcPr>
                </a:tc>
                <a:tc>
                  <a:txBody>
                    <a:bodyPr/>
                    <a:lstStyle/>
                    <a:p>
                      <a:pPr marL="0" indent="0">
                        <a:buNone/>
                      </a:pPr>
                      <a:r>
                        <a:rPr lang="en-US" sz="1100" dirty="0">
                          <a:solidFill>
                            <a:srgbClr val="1E2533"/>
                          </a:solidFill>
                          <a:latin typeface="Calibri" pitchFamily="34" charset="0"/>
                          <a:ea typeface="Calibri" pitchFamily="34" charset="-122"/>
                          <a:cs typeface="Calibri" pitchFamily="34" charset="-120"/>
                        </a:rPr>
                        <a:t>Tốc độ</a:t>
                      </a:r>
                      <a:endParaRPr lang="en-US" sz="1100" dirty="0">
                        <a:latin typeface="Calibri" charset="0"/>
                        <a:ea typeface="Calibri" charset="0"/>
                        <a:cs typeface="Calibri" charset="0"/>
                      </a:endParaRPr>
                    </a:p>
                  </a:txBody>
                  <a:tcPr marL="54864" marR="54864" marT="54864" marB="54864"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tcPr>
                </a:tc>
                <a:tc>
                  <a:txBody>
                    <a:bodyPr/>
                    <a:lstStyle/>
                    <a:p>
                      <a:pPr marL="0" indent="0" algn="ctr">
                        <a:buNone/>
                      </a:pPr>
                      <a:r>
                        <a:rPr lang="en-US" sz="1100" b="1" dirty="0">
                          <a:solidFill>
                            <a:srgbClr val="1E2533"/>
                          </a:solidFill>
                          <a:latin typeface="Calibri" pitchFamily="34" charset="0"/>
                          <a:ea typeface="Calibri" pitchFamily="34" charset="-122"/>
                          <a:cs typeface="Calibri" pitchFamily="34" charset="-120"/>
                        </a:rPr>
                        <a:t>2,0</a:t>
                      </a:r>
                      <a:endParaRPr lang="en-US" sz="1100" dirty="0">
                        <a:latin typeface="Calibri" charset="0"/>
                        <a:ea typeface="Calibri" charset="0"/>
                        <a:cs typeface="Calibri" charset="0"/>
                      </a:endParaRPr>
                    </a:p>
                  </a:txBody>
                  <a:tcPr marL="54864" marR="54864" marT="54864" marB="54864"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tcPr>
                </a:tc>
                <a:tc>
                  <a:txBody>
                    <a:bodyPr/>
                    <a:lstStyle/>
                    <a:p>
                      <a:pPr marL="0" indent="0">
                        <a:buNone/>
                      </a:pPr>
                      <a:r>
                        <a:rPr lang="en-US" sz="1100" dirty="0">
                          <a:solidFill>
                            <a:srgbClr val="1E2533"/>
                          </a:solidFill>
                          <a:latin typeface="Calibri" pitchFamily="34" charset="0"/>
                          <a:ea typeface="Calibri" pitchFamily="34" charset="-122"/>
                          <a:cs typeface="Calibri" pitchFamily="34" charset="-120"/>
                        </a:rPr>
                        <a:t>Tốc độ cổ tay ≥ 8 chiều dài thân / giây</a:t>
                      </a:r>
                      <a:endParaRPr lang="en-US" sz="1100" dirty="0">
                        <a:latin typeface="Calibri" charset="0"/>
                        <a:ea typeface="Calibri" charset="0"/>
                        <a:cs typeface="Calibri" charset="0"/>
                      </a:endParaRPr>
                    </a:p>
                  </a:txBody>
                  <a:tcPr marL="54864" marR="54864" marT="54864" marB="54864"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tcPr>
                </a:tc>
                <a:extLst>
                  <a:ext uri="{0D108BD9-81ED-4DB2-BD59-A6C34878D82A}">
                    <a16:rowId xmlns:a16="http://schemas.microsoft.com/office/drawing/2014/main" val="10005"/>
                  </a:ext>
                </a:extLst>
              </a:tr>
              <a:tr h="338328">
                <a:tc>
                  <a:txBody>
                    <a:bodyPr/>
                    <a:lstStyle/>
                    <a:p>
                      <a:pPr marL="0" indent="0">
                        <a:buNone/>
                      </a:pPr>
                      <a:r>
                        <a:rPr lang="en-US" sz="1100" b="1" dirty="0">
                          <a:solidFill>
                            <a:srgbClr val="2E7D32"/>
                          </a:solidFill>
                          <a:latin typeface="Courier New" pitchFamily="34" charset="0"/>
                          <a:ea typeface="Courier New" pitchFamily="34" charset="-122"/>
                          <a:cs typeface="Courier New" pitchFamily="34" charset="-120"/>
                        </a:rPr>
                        <a:t>PX_E2</a:t>
                      </a:r>
                      <a:endParaRPr lang="en-US" sz="1100" dirty="0">
                        <a:latin typeface="Courier New" charset="0"/>
                        <a:ea typeface="Courier New" charset="0"/>
                        <a:cs typeface="Courier New" charset="0"/>
                      </a:endParaRPr>
                    </a:p>
                  </a:txBody>
                  <a:tcPr marL="54864" marR="54864" marT="54864" marB="54864"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tcPr>
                </a:tc>
                <a:tc>
                  <a:txBody>
                    <a:bodyPr/>
                    <a:lstStyle/>
                    <a:p>
                      <a:pPr marL="0" indent="0">
                        <a:buNone/>
                      </a:pPr>
                      <a:r>
                        <a:rPr lang="en-US" sz="1100" dirty="0">
                          <a:solidFill>
                            <a:srgbClr val="1E2533"/>
                          </a:solidFill>
                          <a:latin typeface="Calibri" pitchFamily="34" charset="0"/>
                          <a:ea typeface="Calibri" pitchFamily="34" charset="-122"/>
                          <a:cs typeface="Calibri" pitchFamily="34" charset="-120"/>
                        </a:rPr>
                        <a:t>Lực (xoay thân truyền lực)</a:t>
                      </a:r>
                      <a:endParaRPr lang="en-US" sz="1100" dirty="0">
                        <a:latin typeface="Calibri" charset="0"/>
                        <a:ea typeface="Calibri" charset="0"/>
                        <a:cs typeface="Calibri" charset="0"/>
                      </a:endParaRPr>
                    </a:p>
                  </a:txBody>
                  <a:tcPr marL="54864" marR="54864" marT="54864" marB="54864"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tcPr>
                </a:tc>
                <a:tc>
                  <a:txBody>
                    <a:bodyPr/>
                    <a:lstStyle/>
                    <a:p>
                      <a:pPr marL="0" indent="0" algn="ctr">
                        <a:buNone/>
                      </a:pPr>
                      <a:r>
                        <a:rPr lang="en-US" sz="1100" b="1" dirty="0">
                          <a:solidFill>
                            <a:srgbClr val="1E2533"/>
                          </a:solidFill>
                          <a:latin typeface="Calibri" pitchFamily="34" charset="0"/>
                          <a:ea typeface="Calibri" pitchFamily="34" charset="-122"/>
                          <a:cs typeface="Calibri" pitchFamily="34" charset="-120"/>
                        </a:rPr>
                        <a:t>1,6</a:t>
                      </a:r>
                      <a:endParaRPr lang="en-US" sz="1100" dirty="0">
                        <a:latin typeface="Calibri" charset="0"/>
                        <a:ea typeface="Calibri" charset="0"/>
                        <a:cs typeface="Calibri" charset="0"/>
                      </a:endParaRPr>
                    </a:p>
                  </a:txBody>
                  <a:tcPr marL="54864" marR="54864" marT="54864" marB="54864"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tcPr>
                </a:tc>
                <a:tc>
                  <a:txBody>
                    <a:bodyPr/>
                    <a:lstStyle/>
                    <a:p>
                      <a:pPr marL="0" indent="0">
                        <a:buNone/>
                      </a:pPr>
                      <a:r>
                        <a:rPr lang="en-US" sz="1100" dirty="0">
                          <a:solidFill>
                            <a:srgbClr val="1E2533"/>
                          </a:solidFill>
                          <a:latin typeface="Calibri" pitchFamily="34" charset="0"/>
                          <a:ea typeface="Calibri" pitchFamily="34" charset="-122"/>
                          <a:cs typeface="Calibri" pitchFamily="34" charset="-120"/>
                        </a:rPr>
                        <a:t>Tốc độ xoay vai ≥ 300 °/s</a:t>
                      </a:r>
                      <a:endParaRPr lang="en-US" sz="1100" dirty="0">
                        <a:latin typeface="Calibri" charset="0"/>
                        <a:ea typeface="Calibri" charset="0"/>
                        <a:cs typeface="Calibri" charset="0"/>
                      </a:endParaRPr>
                    </a:p>
                  </a:txBody>
                  <a:tcPr marL="54864" marR="54864" marT="54864" marB="54864"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tcPr>
                </a:tc>
                <a:extLst>
                  <a:ext uri="{0D108BD9-81ED-4DB2-BD59-A6C34878D82A}">
                    <a16:rowId xmlns:a16="http://schemas.microsoft.com/office/drawing/2014/main" val="10006"/>
                  </a:ext>
                </a:extLst>
              </a:tr>
              <a:tr h="338328">
                <a:tc>
                  <a:txBody>
                    <a:bodyPr/>
                    <a:lstStyle/>
                    <a:p>
                      <a:pPr marL="0" indent="0">
                        <a:buNone/>
                      </a:pPr>
                      <a:r>
                        <a:rPr lang="en-US" sz="1100" b="1" dirty="0">
                          <a:solidFill>
                            <a:srgbClr val="2E7D32"/>
                          </a:solidFill>
                          <a:latin typeface="Courier New" pitchFamily="34" charset="0"/>
                          <a:ea typeface="Courier New" pitchFamily="34" charset="-122"/>
                          <a:cs typeface="Courier New" pitchFamily="34" charset="-120"/>
                        </a:rPr>
                        <a:t>PX_E3</a:t>
                      </a:r>
                      <a:endParaRPr lang="en-US" sz="1100" dirty="0">
                        <a:latin typeface="Courier New" charset="0"/>
                        <a:ea typeface="Courier New" charset="0"/>
                        <a:cs typeface="Courier New" charset="0"/>
                      </a:endParaRPr>
                    </a:p>
                  </a:txBody>
                  <a:tcPr marL="54864" marR="54864" marT="54864" marB="54864"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tcPr>
                </a:tc>
                <a:tc>
                  <a:txBody>
                    <a:bodyPr/>
                    <a:lstStyle/>
                    <a:p>
                      <a:pPr marL="0" indent="0">
                        <a:buNone/>
                      </a:pPr>
                      <a:r>
                        <a:rPr lang="en-US" sz="1100" dirty="0">
                          <a:solidFill>
                            <a:srgbClr val="1E2533"/>
                          </a:solidFill>
                          <a:latin typeface="Calibri" pitchFamily="34" charset="0"/>
                          <a:ea typeface="Calibri" pitchFamily="34" charset="-122"/>
                          <a:cs typeface="Calibri" pitchFamily="34" charset="-120"/>
                        </a:rPr>
                        <a:t>Dứt khoát</a:t>
                      </a:r>
                      <a:endParaRPr lang="en-US" sz="1100" dirty="0">
                        <a:latin typeface="Calibri" charset="0"/>
                        <a:ea typeface="Calibri" charset="0"/>
                        <a:cs typeface="Calibri" charset="0"/>
                      </a:endParaRPr>
                    </a:p>
                  </a:txBody>
                  <a:tcPr marL="54864" marR="54864" marT="54864" marB="54864"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tcPr>
                </a:tc>
                <a:tc>
                  <a:txBody>
                    <a:bodyPr/>
                    <a:lstStyle/>
                    <a:p>
                      <a:pPr marL="0" indent="0" algn="ctr">
                        <a:buNone/>
                      </a:pPr>
                      <a:r>
                        <a:rPr lang="en-US" sz="1100" b="1" dirty="0">
                          <a:solidFill>
                            <a:srgbClr val="1E2533"/>
                          </a:solidFill>
                          <a:latin typeface="Calibri" pitchFamily="34" charset="0"/>
                          <a:ea typeface="Calibri" pitchFamily="34" charset="-122"/>
                          <a:cs typeface="Calibri" pitchFamily="34" charset="-120"/>
                        </a:rPr>
                        <a:t>1,4</a:t>
                      </a:r>
                      <a:endParaRPr lang="en-US" sz="1100" dirty="0">
                        <a:latin typeface="Calibri" charset="0"/>
                        <a:ea typeface="Calibri" charset="0"/>
                        <a:cs typeface="Calibri" charset="0"/>
                      </a:endParaRPr>
                    </a:p>
                  </a:txBody>
                  <a:tcPr marL="54864" marR="54864" marT="54864" marB="54864"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tcPr>
                </a:tc>
                <a:tc>
                  <a:txBody>
                    <a:bodyPr/>
                    <a:lstStyle/>
                    <a:p>
                      <a:pPr marL="0" indent="0">
                        <a:buNone/>
                      </a:pPr>
                      <a:r>
                        <a:rPr lang="en-US" sz="1100" dirty="0">
                          <a:solidFill>
                            <a:srgbClr val="1E2533"/>
                          </a:solidFill>
                          <a:latin typeface="Calibri" pitchFamily="34" charset="0"/>
                          <a:ea typeface="Calibri" pitchFamily="34" charset="-122"/>
                          <a:cs typeface="Calibri" pitchFamily="34" charset="-120"/>
                        </a:rPr>
                        <a:t>Thời gian ra đòn ≤ 0,35 s</a:t>
                      </a:r>
                      <a:endParaRPr lang="en-US" sz="1100" dirty="0">
                        <a:latin typeface="Calibri" charset="0"/>
                        <a:ea typeface="Calibri" charset="0"/>
                        <a:cs typeface="Calibri" charset="0"/>
                      </a:endParaRPr>
                    </a:p>
                  </a:txBody>
                  <a:tcPr marL="54864" marR="54864" marT="54864" marB="54864"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tcPr>
                </a:tc>
                <a:extLst>
                  <a:ext uri="{0D108BD9-81ED-4DB2-BD59-A6C34878D82A}">
                    <a16:rowId xmlns:a16="http://schemas.microsoft.com/office/drawing/2014/main" val="10007"/>
                  </a:ext>
                </a:extLst>
              </a:tr>
              <a:tr h="338328">
                <a:tc>
                  <a:txBody>
                    <a:bodyPr/>
                    <a:lstStyle/>
                    <a:p>
                      <a:pPr marL="0" indent="0">
                        <a:buNone/>
                      </a:pPr>
                      <a:r>
                        <a:rPr lang="en-US" sz="1100" b="1" dirty="0">
                          <a:solidFill>
                            <a:srgbClr val="2E7D32"/>
                          </a:solidFill>
                          <a:latin typeface="Courier New" pitchFamily="34" charset="0"/>
                          <a:ea typeface="Courier New" pitchFamily="34" charset="-122"/>
                          <a:cs typeface="Courier New" pitchFamily="34" charset="-120"/>
                        </a:rPr>
                        <a:t>PX_E4</a:t>
                      </a:r>
                      <a:endParaRPr lang="en-US" sz="1100" dirty="0">
                        <a:latin typeface="Courier New" charset="0"/>
                        <a:ea typeface="Courier New" charset="0"/>
                        <a:cs typeface="Courier New" charset="0"/>
                      </a:endParaRPr>
                    </a:p>
                  </a:txBody>
                  <a:tcPr marL="54864" marR="54864" marT="54864" marB="54864"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tcPr>
                </a:tc>
                <a:tc>
                  <a:txBody>
                    <a:bodyPr/>
                    <a:lstStyle/>
                    <a:p>
                      <a:pPr marL="0" indent="0">
                        <a:buNone/>
                      </a:pPr>
                      <a:r>
                        <a:rPr lang="en-US" sz="1100" dirty="0">
                          <a:solidFill>
                            <a:srgbClr val="1E2533"/>
                          </a:solidFill>
                          <a:latin typeface="Calibri" pitchFamily="34" charset="0"/>
                          <a:ea typeface="Calibri" pitchFamily="34" charset="-122"/>
                          <a:cs typeface="Calibri" pitchFamily="34" charset="-120"/>
                        </a:rPr>
                        <a:t>Độ mượt</a:t>
                      </a:r>
                      <a:endParaRPr lang="en-US" sz="1100" dirty="0">
                        <a:latin typeface="Calibri" charset="0"/>
                        <a:ea typeface="Calibri" charset="0"/>
                        <a:cs typeface="Calibri" charset="0"/>
                      </a:endParaRPr>
                    </a:p>
                  </a:txBody>
                  <a:tcPr marL="54864" marR="54864" marT="54864" marB="54864"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tcPr>
                </a:tc>
                <a:tc>
                  <a:txBody>
                    <a:bodyPr/>
                    <a:lstStyle/>
                    <a:p>
                      <a:pPr marL="0" indent="0" algn="ctr">
                        <a:buNone/>
                      </a:pPr>
                      <a:r>
                        <a:rPr lang="en-US" sz="1100" b="1" dirty="0">
                          <a:solidFill>
                            <a:srgbClr val="1E2533"/>
                          </a:solidFill>
                          <a:latin typeface="Calibri" pitchFamily="34" charset="0"/>
                          <a:ea typeface="Calibri" pitchFamily="34" charset="-122"/>
                          <a:cs typeface="Calibri" pitchFamily="34" charset="-120"/>
                        </a:rPr>
                        <a:t>1,0</a:t>
                      </a:r>
                      <a:endParaRPr lang="en-US" sz="1100" dirty="0">
                        <a:latin typeface="Calibri" charset="0"/>
                        <a:ea typeface="Calibri" charset="0"/>
                        <a:cs typeface="Calibri" charset="0"/>
                      </a:endParaRPr>
                    </a:p>
                  </a:txBody>
                  <a:tcPr marL="54864" marR="54864" marT="54864" marB="54864"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tcPr>
                </a:tc>
                <a:tc>
                  <a:txBody>
                    <a:bodyPr/>
                    <a:lstStyle/>
                    <a:p>
                      <a:pPr marL="0" indent="0">
                        <a:buNone/>
                      </a:pPr>
                      <a:r>
                        <a:rPr lang="en-US" sz="1100" dirty="0">
                          <a:solidFill>
                            <a:srgbClr val="1E2533"/>
                          </a:solidFill>
                          <a:latin typeface="Calibri" pitchFamily="34" charset="0"/>
                          <a:ea typeface="Calibri" pitchFamily="34" charset="-122"/>
                          <a:cs typeface="Calibri" pitchFamily="34" charset="-120"/>
                        </a:rPr>
                        <a:t>Một nhịp tăng – giảm tốc liền mạch</a:t>
                      </a:r>
                      <a:endParaRPr lang="en-US" sz="1100" dirty="0">
                        <a:latin typeface="Calibri" charset="0"/>
                        <a:ea typeface="Calibri" charset="0"/>
                        <a:cs typeface="Calibri" charset="0"/>
                      </a:endParaRPr>
                    </a:p>
                  </a:txBody>
                  <a:tcPr marL="54864" marR="54864" marT="54864" marB="54864"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tcPr>
                </a:tc>
                <a:extLst>
                  <a:ext uri="{0D108BD9-81ED-4DB2-BD59-A6C34878D82A}">
                    <a16:rowId xmlns:a16="http://schemas.microsoft.com/office/drawing/2014/main" val="10008"/>
                  </a:ext>
                </a:extLst>
              </a:tr>
            </a:tbl>
          </a:graphicData>
        </a:graphic>
      </p:graphicFrame>
      <p:sp>
        <p:nvSpPr>
          <p:cNvPr id="6" name="Text 3"/>
          <p:cNvSpPr txBox="1"/>
          <p:nvPr/>
        </p:nvSpPr>
        <p:spPr>
          <a:xfrm>
            <a:off x="457200" y="4343400"/>
            <a:ext cx="8229600" cy="411480"/>
          </a:xfrm>
          <a:prstGeom prst="rect">
            <a:avLst/>
          </a:prstGeom>
          <a:noFill/>
          <a:ln/>
        </p:spPr>
        <p:txBody>
          <a:bodyPr wrap="square" lIns="0" tIns="0" rIns="0" bIns="0" rtlCol="0" anchor="t"/>
          <a:lstStyle/>
          <a:p>
            <a:pPr marL="0" indent="0">
              <a:buNone/>
            </a:pPr>
            <a:r>
              <a:rPr lang="en-US" sz="1050" b="1" dirty="0">
                <a:solidFill>
                  <a:srgbClr val="1F4E9A"/>
                </a:solidFill>
                <a:latin typeface="Calibri" pitchFamily="34" charset="0"/>
                <a:ea typeface="Calibri" pitchFamily="34" charset="-122"/>
                <a:cs typeface="Calibri" pitchFamily="34" charset="-120"/>
              </a:rPr>
              <a:t>Mã xanh dương</a:t>
            </a:r>
            <a:r>
              <a:rPr lang="en-US" sz="1050" dirty="0">
                <a:solidFill>
                  <a:srgbClr val="1E2533"/>
                </a:solidFill>
                <a:latin typeface="Calibri" pitchFamily="34" charset="0"/>
                <a:ea typeface="Calibri" pitchFamily="34" charset="-122"/>
                <a:cs typeface="Calibri" pitchFamily="34" charset="-120"/>
              </a:rPr>
              <a:t> = Chính xác (4 điểm) · </a:t>
            </a:r>
            <a:r>
              <a:rPr lang="en-US" sz="1050" b="1" dirty="0">
                <a:solidFill>
                  <a:srgbClr val="2E7D32"/>
                </a:solidFill>
                <a:latin typeface="Calibri" pitchFamily="34" charset="0"/>
                <a:ea typeface="Calibri" pitchFamily="34" charset="-122"/>
                <a:cs typeface="Calibri" pitchFamily="34" charset="-120"/>
              </a:rPr>
              <a:t>mã xanh lá</a:t>
            </a:r>
            <a:r>
              <a:rPr lang="en-US" sz="1050" dirty="0">
                <a:solidFill>
                  <a:srgbClr val="1E2533"/>
                </a:solidFill>
                <a:latin typeface="Calibri" pitchFamily="34" charset="0"/>
                <a:ea typeface="Calibri" pitchFamily="34" charset="-122"/>
                <a:cs typeface="Calibri" pitchFamily="34" charset="-120"/>
              </a:rPr>
              <a:t> = Biểu hiện (6 điểm). </a:t>
            </a:r>
            <a:r>
              <a:rPr lang="en-US" sz="1050" dirty="0">
                <a:solidFill>
                  <a:srgbClr val="5B6475"/>
                </a:solidFill>
                <a:latin typeface="Calibri" pitchFamily="34" charset="0"/>
                <a:ea typeface="Calibri" pitchFamily="34" charset="-122"/>
                <a:cs typeface="Calibri" pitchFamily="34" charset="-120"/>
              </a:rPr>
              <a:t>Đấm thẳng thay HK_A1/A2 bằng ST_A1 (duỗi tay, đường thẳng) và ST_A2 (xoay vai, tầm đấm) — chưa kiểm thử trên video thật.</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56032"/>
            <a:ext cx="8229600" cy="237744"/>
          </a:xfrm>
          <a:prstGeom prst="rect">
            <a:avLst/>
          </a:prstGeom>
          <a:noFill/>
          <a:ln/>
        </p:spPr>
        <p:txBody>
          <a:bodyPr wrap="square" lIns="0" tIns="0" rIns="0" bIns="0" rtlCol="0" anchor="t"/>
          <a:lstStyle/>
          <a:p>
            <a:pPr marL="0" indent="0">
              <a:buNone/>
            </a:pPr>
            <a:r>
              <a:rPr lang="en-US" sz="1100" b="1" kern="0" spc="200" dirty="0">
                <a:solidFill>
                  <a:srgbClr val="C8102E"/>
                </a:solidFill>
                <a:latin typeface="Calibri" pitchFamily="34" charset="0"/>
                <a:ea typeface="Calibri" pitchFamily="34" charset="-122"/>
                <a:cs typeface="Calibri" pitchFamily="34" charset="-120"/>
              </a:rPr>
              <a:t>OUTPUT</a:t>
            </a:r>
            <a:endParaRPr lang="en-US" sz="1100" dirty="0"/>
          </a:p>
        </p:txBody>
      </p:sp>
      <p:sp>
        <p:nvSpPr>
          <p:cNvPr id="3" name="Text 1"/>
          <p:cNvSpPr txBox="1"/>
          <p:nvPr/>
        </p:nvSpPr>
        <p:spPr>
          <a:xfrm>
            <a:off x="457200" y="502920"/>
            <a:ext cx="8229600" cy="548640"/>
          </a:xfrm>
          <a:prstGeom prst="rect">
            <a:avLst/>
          </a:prstGeom>
          <a:noFill/>
          <a:ln/>
        </p:spPr>
        <p:txBody>
          <a:bodyPr wrap="square" lIns="0" tIns="0" rIns="0" bIns="0" rtlCol="0" anchor="ctr"/>
          <a:lstStyle/>
          <a:p>
            <a:pPr marL="0" indent="0">
              <a:buNone/>
            </a:pPr>
            <a:r>
              <a:rPr lang="en-US" sz="2800" b="1" dirty="0">
                <a:solidFill>
                  <a:srgbClr val="15203B"/>
                </a:solidFill>
                <a:latin typeface="Cambria" pitchFamily="34" charset="0"/>
                <a:ea typeface="Cambria" pitchFamily="34" charset="-122"/>
                <a:cs typeface="Cambria" pitchFamily="34" charset="-120"/>
              </a:rPr>
              <a:t>Đầu ra: các kiểu kết quả</a:t>
            </a:r>
            <a:endParaRPr lang="en-US" sz="2800" dirty="0"/>
          </a:p>
        </p:txBody>
      </p:sp>
      <p:sp>
        <p:nvSpPr>
          <p:cNvPr id="4" name="Text 2"/>
          <p:cNvSpPr txBox="1"/>
          <p:nvPr/>
        </p:nvSpPr>
        <p:spPr>
          <a:xfrm>
            <a:off x="8229600" y="4800600"/>
            <a:ext cx="457200" cy="201168"/>
          </a:xfrm>
          <a:prstGeom prst="rect">
            <a:avLst/>
          </a:prstGeom>
          <a:noFill/>
          <a:ln/>
        </p:spPr>
        <p:txBody>
          <a:bodyPr wrap="square" lIns="0" tIns="0" rIns="0" bIns="0" rtlCol="0" anchor="t"/>
          <a:lstStyle/>
          <a:p>
            <a:pPr marL="0" indent="0" algn="r">
              <a:buNone/>
            </a:pPr>
            <a:r>
              <a:rPr lang="en-US" sz="900" dirty="0">
                <a:solidFill>
                  <a:srgbClr val="5B6475"/>
                </a:solidFill>
                <a:latin typeface="Calibri" pitchFamily="34" charset="0"/>
                <a:ea typeface="Calibri" pitchFamily="34" charset="-122"/>
                <a:cs typeface="Calibri" pitchFamily="34" charset="-120"/>
              </a:rPr>
              <a:t>13</a:t>
            </a:r>
            <a:endParaRPr lang="en-US" sz="900" dirty="0"/>
          </a:p>
        </p:txBody>
      </p:sp>
      <p:sp>
        <p:nvSpPr>
          <p:cNvPr id="5" name="Shape 3"/>
          <p:cNvSpPr/>
          <p:nvPr/>
        </p:nvSpPr>
        <p:spPr>
          <a:xfrm>
            <a:off x="457200" y="1188720"/>
            <a:ext cx="2606040" cy="1600200"/>
          </a:xfrm>
          <a:prstGeom prst="roundRect">
            <a:avLst>
              <a:gd name="adj" fmla="val 4571"/>
            </a:avLst>
          </a:prstGeom>
          <a:solidFill>
            <a:srgbClr val="EEF2F8"/>
          </a:solidFill>
          <a:ln w="12700">
            <a:solidFill>
              <a:srgbClr val="EEF2F8"/>
            </a:solidFill>
            <a:prstDash val="solid"/>
          </a:ln>
        </p:spPr>
        <p:txBody>
          <a:bodyPr/>
          <a:lstStyle/>
          <a:p>
            <a:endParaRPr lang="en-US"/>
          </a:p>
        </p:txBody>
      </p:sp>
      <p:sp>
        <p:nvSpPr>
          <p:cNvPr id="6" name="Shape 4"/>
          <p:cNvSpPr/>
          <p:nvPr/>
        </p:nvSpPr>
        <p:spPr>
          <a:xfrm>
            <a:off x="640080" y="1371600"/>
            <a:ext cx="502920" cy="502920"/>
          </a:xfrm>
          <a:prstGeom prst="ellipse">
            <a:avLst/>
          </a:prstGeom>
          <a:solidFill>
            <a:srgbClr val="C8102E"/>
          </a:solidFill>
          <a:ln w="12700">
            <a:solidFill>
              <a:srgbClr val="C8102E"/>
            </a:solidFill>
            <a:prstDash val="solid"/>
          </a:ln>
        </p:spPr>
        <p:txBody>
          <a:bodyPr/>
          <a:lstStyle/>
          <a:p>
            <a:endParaRPr lang="en-US"/>
          </a:p>
        </p:txBody>
      </p:sp>
      <p:pic>
        <p:nvPicPr>
          <p:cNvPr id="7" name="Image 0" descr="preencoded.png"/>
          <p:cNvPicPr>
            <a:picLocks noChangeAspect="1"/>
          </p:cNvPicPr>
          <p:nvPr/>
        </p:nvPicPr>
        <p:blipFill>
          <a:blip r:embed="rId3"/>
          <a:stretch>
            <a:fillRect/>
          </a:stretch>
        </p:blipFill>
        <p:spPr>
          <a:xfrm>
            <a:off x="750722" y="1482242"/>
            <a:ext cx="281635" cy="281635"/>
          </a:xfrm>
          <a:prstGeom prst="rect">
            <a:avLst/>
          </a:prstGeom>
        </p:spPr>
      </p:pic>
      <p:sp>
        <p:nvSpPr>
          <p:cNvPr id="8" name="Text 5"/>
          <p:cNvSpPr txBox="1"/>
          <p:nvPr/>
        </p:nvSpPr>
        <p:spPr>
          <a:xfrm>
            <a:off x="640080" y="1965960"/>
            <a:ext cx="2286000" cy="292608"/>
          </a:xfrm>
          <a:prstGeom prst="rect">
            <a:avLst/>
          </a:prstGeom>
          <a:noFill/>
          <a:ln/>
        </p:spPr>
        <p:txBody>
          <a:bodyPr wrap="square" lIns="0" tIns="0" rIns="0" bIns="0" rtlCol="0" anchor="t"/>
          <a:lstStyle/>
          <a:p>
            <a:pPr marL="0" indent="0">
              <a:buNone/>
            </a:pPr>
            <a:r>
              <a:rPr lang="en-US" sz="1300" b="1" dirty="0">
                <a:solidFill>
                  <a:srgbClr val="15203B"/>
                </a:solidFill>
                <a:latin typeface="Calibri" pitchFamily="34" charset="0"/>
                <a:ea typeface="Calibri" pitchFamily="34" charset="-122"/>
                <a:cs typeface="Calibri" pitchFamily="34" charset="-120"/>
              </a:rPr>
              <a:t>Kết quả trên PowerShell</a:t>
            </a:r>
            <a:endParaRPr lang="en-US" sz="1300" dirty="0"/>
          </a:p>
        </p:txBody>
      </p:sp>
      <p:sp>
        <p:nvSpPr>
          <p:cNvPr id="9" name="Text 6"/>
          <p:cNvSpPr txBox="1"/>
          <p:nvPr/>
        </p:nvSpPr>
        <p:spPr>
          <a:xfrm>
            <a:off x="640080" y="2258568"/>
            <a:ext cx="2286000" cy="475488"/>
          </a:xfrm>
          <a:prstGeom prst="rect">
            <a:avLst/>
          </a:prstGeom>
          <a:noFill/>
          <a:ln/>
        </p:spPr>
        <p:txBody>
          <a:bodyPr wrap="square" lIns="0" tIns="0" rIns="0" bIns="0" rtlCol="0" anchor="t"/>
          <a:lstStyle/>
          <a:p>
            <a:pPr marL="0" indent="0">
              <a:buNone/>
            </a:pPr>
            <a:r>
              <a:rPr lang="en-US" sz="1050" dirty="0">
                <a:solidFill>
                  <a:srgbClr val="5B6475"/>
                </a:solidFill>
                <a:latin typeface="Calibri" pitchFamily="34" charset="0"/>
                <a:ea typeface="Calibri" pitchFamily="34" charset="-122"/>
                <a:cs typeface="Calibri" pitchFamily="34" charset="-120"/>
              </a:rPr>
              <a:t>Điểm /10, điểm từng mục, các pha, lỗi chính &amp; gợi ý, cảnh báo</a:t>
            </a:r>
            <a:endParaRPr lang="en-US" sz="1050" dirty="0"/>
          </a:p>
        </p:txBody>
      </p:sp>
      <p:sp>
        <p:nvSpPr>
          <p:cNvPr id="10" name="Shape 7"/>
          <p:cNvSpPr/>
          <p:nvPr/>
        </p:nvSpPr>
        <p:spPr>
          <a:xfrm>
            <a:off x="3268980" y="1188720"/>
            <a:ext cx="2606040" cy="1600200"/>
          </a:xfrm>
          <a:prstGeom prst="roundRect">
            <a:avLst>
              <a:gd name="adj" fmla="val 4571"/>
            </a:avLst>
          </a:prstGeom>
          <a:solidFill>
            <a:srgbClr val="EEF2F8"/>
          </a:solidFill>
          <a:ln w="12700">
            <a:solidFill>
              <a:srgbClr val="EEF2F8"/>
            </a:solidFill>
            <a:prstDash val="solid"/>
          </a:ln>
        </p:spPr>
        <p:txBody>
          <a:bodyPr/>
          <a:lstStyle/>
          <a:p>
            <a:endParaRPr lang="en-US"/>
          </a:p>
        </p:txBody>
      </p:sp>
      <p:sp>
        <p:nvSpPr>
          <p:cNvPr id="11" name="Shape 8"/>
          <p:cNvSpPr/>
          <p:nvPr/>
        </p:nvSpPr>
        <p:spPr>
          <a:xfrm>
            <a:off x="3451860" y="1371600"/>
            <a:ext cx="502920" cy="502920"/>
          </a:xfrm>
          <a:prstGeom prst="ellipse">
            <a:avLst/>
          </a:prstGeom>
          <a:solidFill>
            <a:srgbClr val="C8102E"/>
          </a:solidFill>
          <a:ln w="12700">
            <a:solidFill>
              <a:srgbClr val="C8102E"/>
            </a:solidFill>
            <a:prstDash val="solid"/>
          </a:ln>
        </p:spPr>
        <p:txBody>
          <a:bodyPr/>
          <a:lstStyle/>
          <a:p>
            <a:endParaRPr lang="en-US"/>
          </a:p>
        </p:txBody>
      </p:sp>
      <p:pic>
        <p:nvPicPr>
          <p:cNvPr id="12" name="Image 1" descr="preencoded.png"/>
          <p:cNvPicPr>
            <a:picLocks noChangeAspect="1"/>
          </p:cNvPicPr>
          <p:nvPr/>
        </p:nvPicPr>
        <p:blipFill>
          <a:blip r:embed="rId4"/>
          <a:stretch>
            <a:fillRect/>
          </a:stretch>
        </p:blipFill>
        <p:spPr>
          <a:xfrm>
            <a:off x="3562502" y="1482242"/>
            <a:ext cx="281635" cy="281635"/>
          </a:xfrm>
          <a:prstGeom prst="rect">
            <a:avLst/>
          </a:prstGeom>
        </p:spPr>
      </p:pic>
      <p:sp>
        <p:nvSpPr>
          <p:cNvPr id="13" name="Text 9"/>
          <p:cNvSpPr txBox="1"/>
          <p:nvPr/>
        </p:nvSpPr>
        <p:spPr>
          <a:xfrm>
            <a:off x="3451860" y="1965960"/>
            <a:ext cx="2286000" cy="292608"/>
          </a:xfrm>
          <a:prstGeom prst="rect">
            <a:avLst/>
          </a:prstGeom>
          <a:noFill/>
          <a:ln/>
        </p:spPr>
        <p:txBody>
          <a:bodyPr wrap="square" lIns="0" tIns="0" rIns="0" bIns="0" rtlCol="0" anchor="t"/>
          <a:lstStyle/>
          <a:p>
            <a:pPr marL="0" indent="0">
              <a:buNone/>
            </a:pPr>
            <a:r>
              <a:rPr lang="en-US" sz="1300" b="1" dirty="0">
                <a:solidFill>
                  <a:srgbClr val="15203B"/>
                </a:solidFill>
                <a:latin typeface="Calibri" pitchFamily="34" charset="0"/>
                <a:ea typeface="Calibri" pitchFamily="34" charset="-122"/>
                <a:cs typeface="Calibri" pitchFamily="34" charset="-120"/>
              </a:rPr>
              <a:t>Cửa sổ pipeline</a:t>
            </a:r>
            <a:endParaRPr lang="en-US" sz="1300" dirty="0"/>
          </a:p>
        </p:txBody>
      </p:sp>
      <p:sp>
        <p:nvSpPr>
          <p:cNvPr id="14" name="Text 10"/>
          <p:cNvSpPr txBox="1"/>
          <p:nvPr/>
        </p:nvSpPr>
        <p:spPr>
          <a:xfrm>
            <a:off x="3451860" y="2258568"/>
            <a:ext cx="2286000" cy="475488"/>
          </a:xfrm>
          <a:prstGeom prst="rect">
            <a:avLst/>
          </a:prstGeom>
          <a:noFill/>
          <a:ln/>
        </p:spPr>
        <p:txBody>
          <a:bodyPr wrap="square" lIns="0" tIns="0" rIns="0" bIns="0" rtlCol="0" anchor="t"/>
          <a:lstStyle/>
          <a:p>
            <a:pPr marL="0" indent="0">
              <a:buNone/>
            </a:pPr>
            <a:r>
              <a:rPr lang="en-US" sz="1050" dirty="0">
                <a:solidFill>
                  <a:srgbClr val="5B6475"/>
                </a:solidFill>
                <a:latin typeface="Calibri" pitchFamily="34" charset="0"/>
                <a:ea typeface="Calibri" pitchFamily="34" charset="-122"/>
                <a:cs typeface="Calibri" pitchFamily="34" charset="-120"/>
              </a:rPr>
              <a:t>5 bước chạy trực tiếp, video + khung xương, biểu đồ chia pha, bảng điểm</a:t>
            </a:r>
            <a:endParaRPr lang="en-US" sz="1050" dirty="0"/>
          </a:p>
        </p:txBody>
      </p:sp>
      <p:sp>
        <p:nvSpPr>
          <p:cNvPr id="15" name="Shape 11"/>
          <p:cNvSpPr/>
          <p:nvPr/>
        </p:nvSpPr>
        <p:spPr>
          <a:xfrm>
            <a:off x="6080760" y="1188720"/>
            <a:ext cx="2606040" cy="1600200"/>
          </a:xfrm>
          <a:prstGeom prst="roundRect">
            <a:avLst>
              <a:gd name="adj" fmla="val 4571"/>
            </a:avLst>
          </a:prstGeom>
          <a:solidFill>
            <a:srgbClr val="EEF2F8"/>
          </a:solidFill>
          <a:ln w="12700">
            <a:solidFill>
              <a:srgbClr val="EEF2F8"/>
            </a:solidFill>
            <a:prstDash val="solid"/>
          </a:ln>
        </p:spPr>
        <p:txBody>
          <a:bodyPr/>
          <a:lstStyle/>
          <a:p>
            <a:endParaRPr lang="en-US"/>
          </a:p>
        </p:txBody>
      </p:sp>
      <p:sp>
        <p:nvSpPr>
          <p:cNvPr id="16" name="Shape 12"/>
          <p:cNvSpPr/>
          <p:nvPr/>
        </p:nvSpPr>
        <p:spPr>
          <a:xfrm>
            <a:off x="6263640" y="1371600"/>
            <a:ext cx="502920" cy="502920"/>
          </a:xfrm>
          <a:prstGeom prst="ellipse">
            <a:avLst/>
          </a:prstGeom>
          <a:solidFill>
            <a:srgbClr val="15203B"/>
          </a:solidFill>
          <a:ln w="12700">
            <a:solidFill>
              <a:srgbClr val="15203B"/>
            </a:solidFill>
            <a:prstDash val="solid"/>
          </a:ln>
        </p:spPr>
        <p:txBody>
          <a:bodyPr/>
          <a:lstStyle/>
          <a:p>
            <a:endParaRPr lang="en-US"/>
          </a:p>
        </p:txBody>
      </p:sp>
      <p:pic>
        <p:nvPicPr>
          <p:cNvPr id="17" name="Image 2" descr="preencoded.png"/>
          <p:cNvPicPr>
            <a:picLocks noChangeAspect="1"/>
          </p:cNvPicPr>
          <p:nvPr/>
        </p:nvPicPr>
        <p:blipFill>
          <a:blip r:embed="rId5"/>
          <a:stretch>
            <a:fillRect/>
          </a:stretch>
        </p:blipFill>
        <p:spPr>
          <a:xfrm>
            <a:off x="6374282" y="1482242"/>
            <a:ext cx="281635" cy="281635"/>
          </a:xfrm>
          <a:prstGeom prst="rect">
            <a:avLst/>
          </a:prstGeom>
        </p:spPr>
      </p:pic>
      <p:sp>
        <p:nvSpPr>
          <p:cNvPr id="18" name="Text 13"/>
          <p:cNvSpPr txBox="1"/>
          <p:nvPr/>
        </p:nvSpPr>
        <p:spPr>
          <a:xfrm>
            <a:off x="6263640" y="1965960"/>
            <a:ext cx="2286000" cy="292608"/>
          </a:xfrm>
          <a:prstGeom prst="rect">
            <a:avLst/>
          </a:prstGeom>
          <a:noFill/>
          <a:ln/>
        </p:spPr>
        <p:txBody>
          <a:bodyPr wrap="square" lIns="0" tIns="0" rIns="0" bIns="0" rtlCol="0" anchor="t"/>
          <a:lstStyle/>
          <a:p>
            <a:pPr marL="0" indent="0">
              <a:buNone/>
            </a:pPr>
            <a:r>
              <a:rPr lang="en-US" sz="1300" b="1" dirty="0">
                <a:solidFill>
                  <a:srgbClr val="15203B"/>
                </a:solidFill>
                <a:latin typeface="Calibri" pitchFamily="34" charset="0"/>
                <a:ea typeface="Calibri" pitchFamily="34" charset="-122"/>
                <a:cs typeface="Calibri" pitchFamily="34" charset="-120"/>
              </a:rPr>
              <a:t>JSON</a:t>
            </a:r>
            <a:endParaRPr lang="en-US" sz="1300" dirty="0"/>
          </a:p>
        </p:txBody>
      </p:sp>
      <p:sp>
        <p:nvSpPr>
          <p:cNvPr id="19" name="Text 14"/>
          <p:cNvSpPr txBox="1"/>
          <p:nvPr/>
        </p:nvSpPr>
        <p:spPr>
          <a:xfrm>
            <a:off x="6263640" y="2258568"/>
            <a:ext cx="2286000" cy="475488"/>
          </a:xfrm>
          <a:prstGeom prst="rect">
            <a:avLst/>
          </a:prstGeom>
          <a:noFill/>
          <a:ln/>
        </p:spPr>
        <p:txBody>
          <a:bodyPr wrap="square" lIns="0" tIns="0" rIns="0" bIns="0" rtlCol="0" anchor="t"/>
          <a:lstStyle/>
          <a:p>
            <a:pPr marL="0" indent="0">
              <a:buNone/>
            </a:pPr>
            <a:r>
              <a:rPr lang="en-US" sz="1050" dirty="0">
                <a:solidFill>
                  <a:srgbClr val="5B6475"/>
                </a:solidFill>
                <a:latin typeface="Calibri" pitchFamily="34" charset="0"/>
                <a:ea typeface="Calibri" pitchFamily="34" charset="-122"/>
                <a:cs typeface="Calibri" pitchFamily="34" charset="-120"/>
              </a:rPr>
              <a:t>--out: toàn bộ kết quả và chỉ số thô của một video</a:t>
            </a:r>
            <a:endParaRPr lang="en-US" sz="1050" dirty="0"/>
          </a:p>
        </p:txBody>
      </p:sp>
      <p:sp>
        <p:nvSpPr>
          <p:cNvPr id="20" name="Shape 15"/>
          <p:cNvSpPr/>
          <p:nvPr/>
        </p:nvSpPr>
        <p:spPr>
          <a:xfrm>
            <a:off x="457200" y="2971800"/>
            <a:ext cx="2606040" cy="1600200"/>
          </a:xfrm>
          <a:prstGeom prst="roundRect">
            <a:avLst>
              <a:gd name="adj" fmla="val 4571"/>
            </a:avLst>
          </a:prstGeom>
          <a:solidFill>
            <a:srgbClr val="EEF2F8"/>
          </a:solidFill>
          <a:ln w="12700">
            <a:solidFill>
              <a:srgbClr val="EEF2F8"/>
            </a:solidFill>
            <a:prstDash val="solid"/>
          </a:ln>
        </p:spPr>
        <p:txBody>
          <a:bodyPr/>
          <a:lstStyle/>
          <a:p>
            <a:endParaRPr lang="en-US"/>
          </a:p>
        </p:txBody>
      </p:sp>
      <p:sp>
        <p:nvSpPr>
          <p:cNvPr id="21" name="Shape 16"/>
          <p:cNvSpPr/>
          <p:nvPr/>
        </p:nvSpPr>
        <p:spPr>
          <a:xfrm>
            <a:off x="640080" y="3154680"/>
            <a:ext cx="502920" cy="502920"/>
          </a:xfrm>
          <a:prstGeom prst="ellipse">
            <a:avLst/>
          </a:prstGeom>
          <a:solidFill>
            <a:srgbClr val="15203B"/>
          </a:solidFill>
          <a:ln w="12700">
            <a:solidFill>
              <a:srgbClr val="15203B"/>
            </a:solidFill>
            <a:prstDash val="solid"/>
          </a:ln>
        </p:spPr>
        <p:txBody>
          <a:bodyPr/>
          <a:lstStyle/>
          <a:p>
            <a:endParaRPr lang="en-US"/>
          </a:p>
        </p:txBody>
      </p:sp>
      <p:pic>
        <p:nvPicPr>
          <p:cNvPr id="22" name="Image 3" descr="preencoded.png"/>
          <p:cNvPicPr>
            <a:picLocks noChangeAspect="1"/>
          </p:cNvPicPr>
          <p:nvPr/>
        </p:nvPicPr>
        <p:blipFill>
          <a:blip r:embed="rId6"/>
          <a:stretch>
            <a:fillRect/>
          </a:stretch>
        </p:blipFill>
        <p:spPr>
          <a:xfrm>
            <a:off x="750722" y="3265322"/>
            <a:ext cx="281635" cy="281635"/>
          </a:xfrm>
          <a:prstGeom prst="rect">
            <a:avLst/>
          </a:prstGeom>
        </p:spPr>
      </p:pic>
      <p:sp>
        <p:nvSpPr>
          <p:cNvPr id="23" name="Text 17"/>
          <p:cNvSpPr txBox="1"/>
          <p:nvPr/>
        </p:nvSpPr>
        <p:spPr>
          <a:xfrm>
            <a:off x="640080" y="3749040"/>
            <a:ext cx="2286000" cy="292608"/>
          </a:xfrm>
          <a:prstGeom prst="rect">
            <a:avLst/>
          </a:prstGeom>
          <a:noFill/>
          <a:ln/>
        </p:spPr>
        <p:txBody>
          <a:bodyPr wrap="square" lIns="0" tIns="0" rIns="0" bIns="0" rtlCol="0" anchor="t"/>
          <a:lstStyle/>
          <a:p>
            <a:pPr marL="0" indent="0">
              <a:buNone/>
            </a:pPr>
            <a:r>
              <a:rPr lang="en-US" sz="1300" b="1" dirty="0">
                <a:solidFill>
                  <a:srgbClr val="15203B"/>
                </a:solidFill>
                <a:latin typeface="Calibri" pitchFamily="34" charset="0"/>
                <a:ea typeface="Calibri" pitchFamily="34" charset="-122"/>
                <a:cs typeface="Calibri" pitchFamily="34" charset="-120"/>
              </a:rPr>
              <a:t>CSV</a:t>
            </a:r>
            <a:endParaRPr lang="en-US" sz="1300" dirty="0"/>
          </a:p>
        </p:txBody>
      </p:sp>
      <p:sp>
        <p:nvSpPr>
          <p:cNvPr id="24" name="Text 18"/>
          <p:cNvSpPr txBox="1"/>
          <p:nvPr/>
        </p:nvSpPr>
        <p:spPr>
          <a:xfrm>
            <a:off x="640080" y="4041648"/>
            <a:ext cx="2286000" cy="475488"/>
          </a:xfrm>
          <a:prstGeom prst="rect">
            <a:avLst/>
          </a:prstGeom>
          <a:noFill/>
          <a:ln/>
        </p:spPr>
        <p:txBody>
          <a:bodyPr wrap="square" lIns="0" tIns="0" rIns="0" bIns="0" rtlCol="0" anchor="t"/>
          <a:lstStyle/>
          <a:p>
            <a:pPr marL="0" indent="0">
              <a:buNone/>
            </a:pPr>
            <a:r>
              <a:rPr lang="en-US" sz="1050" dirty="0">
                <a:solidFill>
                  <a:srgbClr val="5B6475"/>
                </a:solidFill>
                <a:latin typeface="Calibri" pitchFamily="34" charset="0"/>
                <a:ea typeface="Calibri" pitchFamily="34" charset="-122"/>
                <a:cs typeface="Calibri" pitchFamily="34" charset="-120"/>
              </a:rPr>
              <a:t>--csv: bảng điểm của nhiều video, mở bằng Excel</a:t>
            </a:r>
            <a:endParaRPr lang="en-US" sz="1050" dirty="0"/>
          </a:p>
        </p:txBody>
      </p:sp>
      <p:sp>
        <p:nvSpPr>
          <p:cNvPr id="25" name="Shape 19"/>
          <p:cNvSpPr/>
          <p:nvPr/>
        </p:nvSpPr>
        <p:spPr>
          <a:xfrm>
            <a:off x="3268980" y="2971800"/>
            <a:ext cx="2606040" cy="1600200"/>
          </a:xfrm>
          <a:prstGeom prst="roundRect">
            <a:avLst>
              <a:gd name="adj" fmla="val 4571"/>
            </a:avLst>
          </a:prstGeom>
          <a:solidFill>
            <a:srgbClr val="EEF2F8"/>
          </a:solidFill>
          <a:ln w="12700">
            <a:solidFill>
              <a:srgbClr val="EEF2F8"/>
            </a:solidFill>
            <a:prstDash val="solid"/>
          </a:ln>
        </p:spPr>
        <p:txBody>
          <a:bodyPr/>
          <a:lstStyle/>
          <a:p>
            <a:endParaRPr lang="en-US"/>
          </a:p>
        </p:txBody>
      </p:sp>
      <p:sp>
        <p:nvSpPr>
          <p:cNvPr id="26" name="Shape 20"/>
          <p:cNvSpPr/>
          <p:nvPr/>
        </p:nvSpPr>
        <p:spPr>
          <a:xfrm>
            <a:off x="3451860" y="3154680"/>
            <a:ext cx="502920" cy="502920"/>
          </a:xfrm>
          <a:prstGeom prst="ellipse">
            <a:avLst/>
          </a:prstGeom>
          <a:solidFill>
            <a:srgbClr val="15203B"/>
          </a:solidFill>
          <a:ln w="12700">
            <a:solidFill>
              <a:srgbClr val="15203B"/>
            </a:solidFill>
            <a:prstDash val="solid"/>
          </a:ln>
        </p:spPr>
        <p:txBody>
          <a:bodyPr/>
          <a:lstStyle/>
          <a:p>
            <a:endParaRPr lang="en-US"/>
          </a:p>
        </p:txBody>
      </p:sp>
      <p:pic>
        <p:nvPicPr>
          <p:cNvPr id="27" name="Image 4" descr="preencoded.png"/>
          <p:cNvPicPr>
            <a:picLocks noChangeAspect="1"/>
          </p:cNvPicPr>
          <p:nvPr/>
        </p:nvPicPr>
        <p:blipFill>
          <a:blip r:embed="rId7"/>
          <a:stretch>
            <a:fillRect/>
          </a:stretch>
        </p:blipFill>
        <p:spPr>
          <a:xfrm>
            <a:off x="3562502" y="3265322"/>
            <a:ext cx="281635" cy="281635"/>
          </a:xfrm>
          <a:prstGeom prst="rect">
            <a:avLst/>
          </a:prstGeom>
        </p:spPr>
      </p:pic>
      <p:sp>
        <p:nvSpPr>
          <p:cNvPr id="28" name="Text 21"/>
          <p:cNvSpPr txBox="1"/>
          <p:nvPr/>
        </p:nvSpPr>
        <p:spPr>
          <a:xfrm>
            <a:off x="3451860" y="3749040"/>
            <a:ext cx="2286000" cy="292608"/>
          </a:xfrm>
          <a:prstGeom prst="rect">
            <a:avLst/>
          </a:prstGeom>
          <a:noFill/>
          <a:ln/>
        </p:spPr>
        <p:txBody>
          <a:bodyPr wrap="square" lIns="0" tIns="0" rIns="0" bIns="0" rtlCol="0" anchor="t"/>
          <a:lstStyle/>
          <a:p>
            <a:pPr marL="0" indent="0">
              <a:buNone/>
            </a:pPr>
            <a:r>
              <a:rPr lang="en-US" sz="1300" b="1" dirty="0">
                <a:solidFill>
                  <a:srgbClr val="15203B"/>
                </a:solidFill>
                <a:latin typeface="Calibri" pitchFamily="34" charset="0"/>
                <a:ea typeface="Calibri" pitchFamily="34" charset="-122"/>
                <a:cs typeface="Calibri" pitchFamily="34" charset="-120"/>
              </a:rPr>
              <a:t>Ảnh khung mốc</a:t>
            </a:r>
            <a:endParaRPr lang="en-US" sz="1300" dirty="0"/>
          </a:p>
        </p:txBody>
      </p:sp>
      <p:sp>
        <p:nvSpPr>
          <p:cNvPr id="29" name="Text 22"/>
          <p:cNvSpPr txBox="1"/>
          <p:nvPr/>
        </p:nvSpPr>
        <p:spPr>
          <a:xfrm>
            <a:off x="3451860" y="4041648"/>
            <a:ext cx="2286000" cy="475488"/>
          </a:xfrm>
          <a:prstGeom prst="rect">
            <a:avLst/>
          </a:prstGeom>
          <a:noFill/>
          <a:ln/>
        </p:spPr>
        <p:txBody>
          <a:bodyPr wrap="square" lIns="0" tIns="0" rIns="0" bIns="0" rtlCol="0" anchor="t"/>
          <a:lstStyle/>
          <a:p>
            <a:pPr marL="0" indent="0">
              <a:buNone/>
            </a:pPr>
            <a:r>
              <a:rPr lang="en-US" sz="1050" dirty="0">
                <a:solidFill>
                  <a:srgbClr val="5B6475"/>
                </a:solidFill>
                <a:latin typeface="Calibri" pitchFamily="34" charset="0"/>
                <a:ea typeface="Calibri" pitchFamily="34" charset="-122"/>
                <a:cs typeface="Calibri" pitchFamily="34" charset="-120"/>
              </a:rPr>
              <a:t>--keyframes: 3 khung bắt đầu / đỉnh / thu về, có khung xương</a:t>
            </a:r>
            <a:endParaRPr lang="en-US" sz="1050" dirty="0"/>
          </a:p>
        </p:txBody>
      </p:sp>
      <p:sp>
        <p:nvSpPr>
          <p:cNvPr id="30" name="Shape 23"/>
          <p:cNvSpPr/>
          <p:nvPr/>
        </p:nvSpPr>
        <p:spPr>
          <a:xfrm>
            <a:off x="6080760" y="2971800"/>
            <a:ext cx="2606040" cy="1600200"/>
          </a:xfrm>
          <a:prstGeom prst="roundRect">
            <a:avLst>
              <a:gd name="adj" fmla="val 4571"/>
            </a:avLst>
          </a:prstGeom>
          <a:solidFill>
            <a:srgbClr val="EEF2F8"/>
          </a:solidFill>
          <a:ln w="12700">
            <a:solidFill>
              <a:srgbClr val="EEF2F8"/>
            </a:solidFill>
            <a:prstDash val="solid"/>
          </a:ln>
        </p:spPr>
        <p:txBody>
          <a:bodyPr/>
          <a:lstStyle/>
          <a:p>
            <a:endParaRPr lang="en-US"/>
          </a:p>
        </p:txBody>
      </p:sp>
      <p:sp>
        <p:nvSpPr>
          <p:cNvPr id="31" name="Shape 24"/>
          <p:cNvSpPr/>
          <p:nvPr/>
        </p:nvSpPr>
        <p:spPr>
          <a:xfrm>
            <a:off x="6263640" y="3154680"/>
            <a:ext cx="502920" cy="502920"/>
          </a:xfrm>
          <a:prstGeom prst="ellipse">
            <a:avLst/>
          </a:prstGeom>
          <a:solidFill>
            <a:srgbClr val="15203B"/>
          </a:solidFill>
          <a:ln w="12700">
            <a:solidFill>
              <a:srgbClr val="15203B"/>
            </a:solidFill>
            <a:prstDash val="solid"/>
          </a:ln>
        </p:spPr>
        <p:txBody>
          <a:bodyPr/>
          <a:lstStyle/>
          <a:p>
            <a:endParaRPr lang="en-US"/>
          </a:p>
        </p:txBody>
      </p:sp>
      <p:pic>
        <p:nvPicPr>
          <p:cNvPr id="32" name="Image 5" descr="preencoded.png"/>
          <p:cNvPicPr>
            <a:picLocks noChangeAspect="1"/>
          </p:cNvPicPr>
          <p:nvPr/>
        </p:nvPicPr>
        <p:blipFill>
          <a:blip r:embed="rId8"/>
          <a:stretch>
            <a:fillRect/>
          </a:stretch>
        </p:blipFill>
        <p:spPr>
          <a:xfrm>
            <a:off x="6374282" y="3265322"/>
            <a:ext cx="281635" cy="281635"/>
          </a:xfrm>
          <a:prstGeom prst="rect">
            <a:avLst/>
          </a:prstGeom>
        </p:spPr>
      </p:pic>
      <p:sp>
        <p:nvSpPr>
          <p:cNvPr id="33" name="Text 25"/>
          <p:cNvSpPr txBox="1"/>
          <p:nvPr/>
        </p:nvSpPr>
        <p:spPr>
          <a:xfrm>
            <a:off x="6263640" y="3749040"/>
            <a:ext cx="2286000" cy="292608"/>
          </a:xfrm>
          <a:prstGeom prst="rect">
            <a:avLst/>
          </a:prstGeom>
          <a:noFill/>
          <a:ln/>
        </p:spPr>
        <p:txBody>
          <a:bodyPr wrap="square" lIns="0" tIns="0" rIns="0" bIns="0" rtlCol="0" anchor="t"/>
          <a:lstStyle/>
          <a:p>
            <a:pPr marL="0" indent="0">
              <a:buNone/>
            </a:pPr>
            <a:r>
              <a:rPr lang="en-US" sz="1300" b="1" dirty="0">
                <a:solidFill>
                  <a:srgbClr val="15203B"/>
                </a:solidFill>
                <a:latin typeface="Calibri" pitchFamily="34" charset="0"/>
                <a:ea typeface="Calibri" pitchFamily="34" charset="-122"/>
                <a:cs typeface="Calibri" pitchFamily="34" charset="-120"/>
              </a:rPr>
              <a:t>Ảnh dashboard</a:t>
            </a:r>
            <a:endParaRPr lang="en-US" sz="1300" dirty="0"/>
          </a:p>
        </p:txBody>
      </p:sp>
      <p:sp>
        <p:nvSpPr>
          <p:cNvPr id="34" name="Text 26"/>
          <p:cNvSpPr txBox="1"/>
          <p:nvPr/>
        </p:nvSpPr>
        <p:spPr>
          <a:xfrm>
            <a:off x="6263640" y="4041648"/>
            <a:ext cx="2286000" cy="475488"/>
          </a:xfrm>
          <a:prstGeom prst="rect">
            <a:avLst/>
          </a:prstGeom>
          <a:noFill/>
          <a:ln/>
        </p:spPr>
        <p:txBody>
          <a:bodyPr wrap="square" lIns="0" tIns="0" rIns="0" bIns="0" rtlCol="0" anchor="t"/>
          <a:lstStyle/>
          <a:p>
            <a:pPr marL="0" indent="0">
              <a:buNone/>
            </a:pPr>
            <a:r>
              <a:rPr lang="en-US" sz="1050" dirty="0">
                <a:solidFill>
                  <a:srgbClr val="5B6475"/>
                </a:solidFill>
                <a:latin typeface="Calibri" pitchFamily="34" charset="0"/>
                <a:ea typeface="Calibri" pitchFamily="34" charset="-122"/>
                <a:cs typeface="Calibri" pitchFamily="34" charset="-120"/>
              </a:rPr>
              <a:t>--save_dashboard: ảnh PNG của cửa sổ pipeline</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56032"/>
            <a:ext cx="8229600" cy="237744"/>
          </a:xfrm>
          <a:prstGeom prst="rect">
            <a:avLst/>
          </a:prstGeom>
          <a:noFill/>
          <a:ln/>
        </p:spPr>
        <p:txBody>
          <a:bodyPr wrap="square" lIns="0" tIns="0" rIns="0" bIns="0" rtlCol="0" anchor="t"/>
          <a:lstStyle/>
          <a:p>
            <a:pPr marL="0" indent="0">
              <a:buNone/>
            </a:pPr>
            <a:r>
              <a:rPr lang="en-US" sz="1100" b="1" kern="0" spc="200" dirty="0">
                <a:solidFill>
                  <a:srgbClr val="C8102E"/>
                </a:solidFill>
                <a:latin typeface="Calibri" pitchFamily="34" charset="0"/>
                <a:ea typeface="Calibri" pitchFamily="34" charset="-122"/>
                <a:cs typeface="Calibri" pitchFamily="34" charset="-120"/>
              </a:rPr>
              <a:t>OUTPUT MINH HỌA</a:t>
            </a:r>
            <a:endParaRPr lang="en-US" sz="1100" dirty="0"/>
          </a:p>
        </p:txBody>
      </p:sp>
      <p:sp>
        <p:nvSpPr>
          <p:cNvPr id="3" name="Text 1"/>
          <p:cNvSpPr txBox="1"/>
          <p:nvPr/>
        </p:nvSpPr>
        <p:spPr>
          <a:xfrm>
            <a:off x="457200" y="502920"/>
            <a:ext cx="8229600" cy="548640"/>
          </a:xfrm>
          <a:prstGeom prst="rect">
            <a:avLst/>
          </a:prstGeom>
          <a:noFill/>
          <a:ln/>
        </p:spPr>
        <p:txBody>
          <a:bodyPr wrap="square" lIns="0" tIns="0" rIns="0" bIns="0" rtlCol="0" anchor="ctr"/>
          <a:lstStyle/>
          <a:p>
            <a:pPr marL="0" indent="0">
              <a:buNone/>
            </a:pPr>
            <a:r>
              <a:rPr lang="en-US" sz="2800" b="1" dirty="0">
                <a:solidFill>
                  <a:srgbClr val="15203B"/>
                </a:solidFill>
                <a:latin typeface="Cambria" pitchFamily="34" charset="0"/>
                <a:ea typeface="Cambria" pitchFamily="34" charset="-122"/>
                <a:cs typeface="Cambria" pitchFamily="34" charset="-120"/>
              </a:rPr>
              <a:t>Cửa sổ pipeline &amp; cấu trúc kết quả</a:t>
            </a:r>
            <a:endParaRPr lang="en-US" sz="2800" dirty="0"/>
          </a:p>
        </p:txBody>
      </p:sp>
      <p:sp>
        <p:nvSpPr>
          <p:cNvPr id="4" name="Text 2"/>
          <p:cNvSpPr txBox="1"/>
          <p:nvPr/>
        </p:nvSpPr>
        <p:spPr>
          <a:xfrm>
            <a:off x="8229600" y="4800600"/>
            <a:ext cx="457200" cy="201168"/>
          </a:xfrm>
          <a:prstGeom prst="rect">
            <a:avLst/>
          </a:prstGeom>
          <a:noFill/>
          <a:ln/>
        </p:spPr>
        <p:txBody>
          <a:bodyPr wrap="square" lIns="0" tIns="0" rIns="0" bIns="0" rtlCol="0" anchor="t"/>
          <a:lstStyle/>
          <a:p>
            <a:pPr marL="0" indent="0" algn="r">
              <a:buNone/>
            </a:pPr>
            <a:r>
              <a:rPr lang="en-US" sz="900" dirty="0">
                <a:solidFill>
                  <a:srgbClr val="5B6475"/>
                </a:solidFill>
                <a:latin typeface="Calibri" pitchFamily="34" charset="0"/>
                <a:ea typeface="Calibri" pitchFamily="34" charset="-122"/>
                <a:cs typeface="Calibri" pitchFamily="34" charset="-120"/>
              </a:rPr>
              <a:t>14</a:t>
            </a:r>
            <a:endParaRPr lang="en-US" sz="900" dirty="0"/>
          </a:p>
        </p:txBody>
      </p:sp>
      <p:pic>
        <p:nvPicPr>
          <p:cNvPr id="5" name="Image 0" descr="C:\Users\quang\AppData\Local\Temp\claude\e--martial-arts-tkd\94fcbd63-896f-4b46-8c88-ba3faf2c631e\scratchpad\deck\dashboard.png"/>
          <p:cNvPicPr>
            <a:picLocks noChangeAspect="1"/>
          </p:cNvPicPr>
          <p:nvPr/>
        </p:nvPicPr>
        <p:blipFill>
          <a:blip r:embed="rId3"/>
          <a:stretch>
            <a:fillRect/>
          </a:stretch>
        </p:blipFill>
        <p:spPr>
          <a:xfrm>
            <a:off x="457200" y="1188720"/>
            <a:ext cx="5394960" cy="3062945"/>
          </a:xfrm>
          <a:prstGeom prst="rect">
            <a:avLst/>
          </a:prstGeom>
        </p:spPr>
      </p:pic>
      <p:sp>
        <p:nvSpPr>
          <p:cNvPr id="6" name="Text 3"/>
          <p:cNvSpPr txBox="1"/>
          <p:nvPr/>
        </p:nvSpPr>
        <p:spPr>
          <a:xfrm>
            <a:off x="457200" y="4315968"/>
            <a:ext cx="5394960" cy="274320"/>
          </a:xfrm>
          <a:prstGeom prst="rect">
            <a:avLst/>
          </a:prstGeom>
          <a:noFill/>
          <a:ln/>
        </p:spPr>
        <p:txBody>
          <a:bodyPr wrap="square" lIns="0" tIns="0" rIns="0" bIns="0" rtlCol="0" anchor="t"/>
          <a:lstStyle/>
          <a:p>
            <a:pPr marL="0" indent="0">
              <a:buNone/>
            </a:pPr>
            <a:r>
              <a:rPr lang="en-US" sz="1100" i="1" dirty="0">
                <a:solidFill>
                  <a:srgbClr val="5B6475"/>
                </a:solidFill>
                <a:latin typeface="Calibri" pitchFamily="34" charset="0"/>
                <a:ea typeface="Calibri" pitchFamily="34" charset="-122"/>
                <a:cs typeface="Calibri" pitchFamily="34" charset="-120"/>
              </a:rPr>
              <a:t>Clip 17 — đấm móc phải: 8,72 / 10</a:t>
            </a:r>
            <a:endParaRPr lang="en-US" sz="1100" dirty="0"/>
          </a:p>
        </p:txBody>
      </p:sp>
      <p:sp>
        <p:nvSpPr>
          <p:cNvPr id="7" name="Shape 4"/>
          <p:cNvSpPr/>
          <p:nvPr/>
        </p:nvSpPr>
        <p:spPr>
          <a:xfrm>
            <a:off x="6080760" y="1188720"/>
            <a:ext cx="2606040" cy="3520440"/>
          </a:xfrm>
          <a:prstGeom prst="roundRect">
            <a:avLst>
              <a:gd name="adj" fmla="val 2807"/>
            </a:avLst>
          </a:prstGeom>
          <a:solidFill>
            <a:srgbClr val="EEF2F8"/>
          </a:solidFill>
          <a:ln w="12700">
            <a:solidFill>
              <a:srgbClr val="EEF2F8"/>
            </a:solidFill>
            <a:prstDash val="solid"/>
          </a:ln>
        </p:spPr>
        <p:txBody>
          <a:bodyPr/>
          <a:lstStyle/>
          <a:p>
            <a:endParaRPr lang="en-US"/>
          </a:p>
        </p:txBody>
      </p:sp>
      <p:sp>
        <p:nvSpPr>
          <p:cNvPr id="8" name="Text 5"/>
          <p:cNvSpPr txBox="1"/>
          <p:nvPr/>
        </p:nvSpPr>
        <p:spPr>
          <a:xfrm>
            <a:off x="6217920" y="1298448"/>
            <a:ext cx="2377440" cy="3337560"/>
          </a:xfrm>
          <a:prstGeom prst="rect">
            <a:avLst/>
          </a:prstGeom>
          <a:noFill/>
          <a:ln/>
        </p:spPr>
        <p:txBody>
          <a:bodyPr wrap="square" lIns="0" tIns="0" rIns="0" bIns="0" rtlCol="0" anchor="t"/>
          <a:lstStyle/>
          <a:p>
            <a:pPr marL="0" indent="0">
              <a:buNone/>
            </a:pPr>
            <a:r>
              <a:rPr lang="en-US" sz="900" dirty="0">
                <a:solidFill>
                  <a:srgbClr val="1E2533"/>
                </a:solidFill>
                <a:latin typeface="Courier New" pitchFamily="34" charset="0"/>
                <a:ea typeface="Courier New" pitchFamily="34" charset="-122"/>
                <a:cs typeface="Courier New" pitchFamily="34" charset="-120"/>
              </a:rPr>
              <a:t>{</a:t>
            </a:r>
            <a:endParaRPr lang="en-US" sz="900" dirty="0"/>
          </a:p>
          <a:p>
            <a:pPr marL="0" indent="0">
              <a:buNone/>
            </a:pPr>
            <a:r>
              <a:rPr lang="en-US" sz="900" dirty="0">
                <a:solidFill>
                  <a:srgbClr val="1E2533"/>
                </a:solidFill>
                <a:latin typeface="Courier New" pitchFamily="34" charset="0"/>
                <a:ea typeface="Courier New" pitchFamily="34" charset="-122"/>
                <a:cs typeface="Courier New" pitchFamily="34" charset="-120"/>
              </a:rPr>
              <a:t>  "action": "hook",</a:t>
            </a:r>
            <a:endParaRPr lang="en-US" sz="900" dirty="0"/>
          </a:p>
          <a:p>
            <a:pPr marL="0" indent="0">
              <a:buNone/>
            </a:pPr>
            <a:r>
              <a:rPr lang="en-US" sz="900" dirty="0">
                <a:solidFill>
                  <a:srgbClr val="1E2533"/>
                </a:solidFill>
                <a:latin typeface="Courier New" pitchFamily="34" charset="0"/>
                <a:ea typeface="Courier New" pitchFamily="34" charset="-122"/>
                <a:cs typeface="Courier New" pitchFamily="34" charset="-120"/>
              </a:rPr>
              <a:t>  "result": {</a:t>
            </a:r>
            <a:endParaRPr lang="en-US" sz="900" dirty="0"/>
          </a:p>
          <a:p>
            <a:pPr marL="0" indent="0">
              <a:buNone/>
            </a:pPr>
            <a:r>
              <a:rPr lang="en-US" sz="900" dirty="0">
                <a:solidFill>
                  <a:srgbClr val="1E2533"/>
                </a:solidFill>
                <a:latin typeface="Courier New" pitchFamily="34" charset="0"/>
                <a:ea typeface="Courier New" pitchFamily="34" charset="-122"/>
                <a:cs typeface="Courier New" pitchFamily="34" charset="-120"/>
              </a:rPr>
              <a:t>    "valid": true,</a:t>
            </a:r>
            <a:endParaRPr lang="en-US" sz="900" dirty="0"/>
          </a:p>
          <a:p>
            <a:pPr marL="0" indent="0">
              <a:buNone/>
            </a:pPr>
            <a:r>
              <a:rPr lang="en-US" sz="900" dirty="0">
                <a:solidFill>
                  <a:srgbClr val="1E2533"/>
                </a:solidFill>
                <a:latin typeface="Courier New" pitchFamily="34" charset="0"/>
                <a:ea typeface="Courier New" pitchFamily="34" charset="-122"/>
                <a:cs typeface="Courier New" pitchFamily="34" charset="-120"/>
              </a:rPr>
              <a:t>    "total": 8.72,</a:t>
            </a:r>
            <a:endParaRPr lang="en-US" sz="900" dirty="0"/>
          </a:p>
          <a:p>
            <a:pPr marL="0" indent="0">
              <a:buNone/>
            </a:pPr>
            <a:r>
              <a:rPr lang="en-US" sz="900" dirty="0">
                <a:solidFill>
                  <a:srgbClr val="1E2533"/>
                </a:solidFill>
                <a:latin typeface="Courier New" pitchFamily="34" charset="0"/>
                <a:ea typeface="Courier New" pitchFamily="34" charset="-122"/>
                <a:cs typeface="Courier New" pitchFamily="34" charset="-120"/>
              </a:rPr>
              <a:t>    "acc": 4.00,</a:t>
            </a:r>
            <a:endParaRPr lang="en-US" sz="900" dirty="0"/>
          </a:p>
          <a:p>
            <a:pPr marL="0" indent="0">
              <a:buNone/>
            </a:pPr>
            <a:r>
              <a:rPr lang="en-US" sz="900" dirty="0">
                <a:solidFill>
                  <a:srgbClr val="1E2533"/>
                </a:solidFill>
                <a:latin typeface="Courier New" pitchFamily="34" charset="0"/>
                <a:ea typeface="Courier New" pitchFamily="34" charset="-122"/>
                <a:cs typeface="Courier New" pitchFamily="34" charset="-120"/>
              </a:rPr>
              <a:t>    "expr": 4.72,</a:t>
            </a:r>
            <a:endParaRPr lang="en-US" sz="900" dirty="0"/>
          </a:p>
          <a:p>
            <a:pPr marL="0" indent="0">
              <a:buNone/>
            </a:pPr>
            <a:r>
              <a:rPr lang="en-US" sz="900" dirty="0">
                <a:solidFill>
                  <a:srgbClr val="1E2533"/>
                </a:solidFill>
                <a:latin typeface="Courier New" pitchFamily="34" charset="0"/>
                <a:ea typeface="Courier New" pitchFamily="34" charset="-122"/>
                <a:cs typeface="Courier New" pitchFamily="34" charset="-120"/>
              </a:rPr>
              <a:t>    "acc_items": [{</a:t>
            </a:r>
            <a:endParaRPr lang="en-US" sz="900" dirty="0"/>
          </a:p>
          <a:p>
            <a:pPr marL="0" indent="0">
              <a:buNone/>
            </a:pPr>
            <a:r>
              <a:rPr lang="en-US" sz="900" dirty="0">
                <a:solidFill>
                  <a:srgbClr val="1E2533"/>
                </a:solidFill>
                <a:latin typeface="Courier New" pitchFamily="34" charset="0"/>
                <a:ea typeface="Courier New" pitchFamily="34" charset="-122"/>
                <a:cs typeface="Courier New" pitchFamily="34" charset="-120"/>
              </a:rPr>
              <a:t>      "code": "HK_A1",</a:t>
            </a:r>
            <a:endParaRPr lang="en-US" sz="900" dirty="0"/>
          </a:p>
          <a:p>
            <a:pPr marL="0" indent="0">
              <a:buNone/>
            </a:pPr>
            <a:r>
              <a:rPr lang="en-US" sz="900" dirty="0">
                <a:solidFill>
                  <a:srgbClr val="1E2533"/>
                </a:solidFill>
                <a:latin typeface="Courier New" pitchFamily="34" charset="0"/>
                <a:ea typeface="Courier New" pitchFamily="34" charset="-122"/>
                <a:cs typeface="Courier New" pitchFamily="34" charset="-120"/>
              </a:rPr>
              <a:t>      "maxi": 1.6, "got": 1.6,</a:t>
            </a:r>
            <a:endParaRPr lang="en-US" sz="900" dirty="0"/>
          </a:p>
          <a:p>
            <a:pPr marL="0" indent="0">
              <a:buNone/>
            </a:pPr>
            <a:r>
              <a:rPr lang="en-US" sz="900" dirty="0">
                <a:solidFill>
                  <a:srgbClr val="1E2533"/>
                </a:solidFill>
                <a:latin typeface="Courier New" pitchFamily="34" charset="0"/>
                <a:ea typeface="Courier New" pitchFamily="34" charset="-122"/>
                <a:cs typeface="Courier New" pitchFamily="34" charset="-120"/>
              </a:rPr>
              <a:t>      "reason": "...",</a:t>
            </a:r>
            <a:endParaRPr lang="en-US" sz="900" dirty="0"/>
          </a:p>
          <a:p>
            <a:pPr marL="0" indent="0">
              <a:buNone/>
            </a:pPr>
            <a:r>
              <a:rPr lang="en-US" sz="900" dirty="0">
                <a:solidFill>
                  <a:srgbClr val="1E2533"/>
                </a:solidFill>
                <a:latin typeface="Courier New" pitchFamily="34" charset="0"/>
                <a:ea typeface="Courier New" pitchFamily="34" charset="-122"/>
                <a:cs typeface="Courier New" pitchFamily="34" charset="-120"/>
              </a:rPr>
              <a:t>      "tip": "..." }, ...],</a:t>
            </a:r>
            <a:endParaRPr lang="en-US" sz="900" dirty="0"/>
          </a:p>
          <a:p>
            <a:pPr marL="0" indent="0">
              <a:buNone/>
            </a:pPr>
            <a:r>
              <a:rPr lang="en-US" sz="900" dirty="0">
                <a:solidFill>
                  <a:srgbClr val="1E2533"/>
                </a:solidFill>
                <a:latin typeface="Courier New" pitchFamily="34" charset="0"/>
                <a:ea typeface="Courier New" pitchFamily="34" charset="-122"/>
                <a:cs typeface="Courier New" pitchFamily="34" charset="-120"/>
              </a:rPr>
              <a:t>    "phases": {"t0": 9,</a:t>
            </a:r>
            <a:endParaRPr lang="en-US" sz="900" dirty="0"/>
          </a:p>
          <a:p>
            <a:pPr marL="0" indent="0">
              <a:buNone/>
            </a:pPr>
            <a:r>
              <a:rPr lang="en-US" sz="900" dirty="0">
                <a:solidFill>
                  <a:srgbClr val="1E2533"/>
                </a:solidFill>
                <a:latin typeface="Courier New" pitchFamily="34" charset="0"/>
                <a:ea typeface="Courier New" pitchFamily="34" charset="-122"/>
                <a:cs typeface="Courier New" pitchFamily="34" charset="-120"/>
              </a:rPr>
              <a:t>      "t_peak": 15, "t_end": 40},</a:t>
            </a:r>
            <a:endParaRPr lang="en-US" sz="900" dirty="0"/>
          </a:p>
          <a:p>
            <a:pPr marL="0" indent="0">
              <a:buNone/>
            </a:pPr>
            <a:r>
              <a:rPr lang="en-US" sz="900" dirty="0">
                <a:solidFill>
                  <a:srgbClr val="1E2533"/>
                </a:solidFill>
                <a:latin typeface="Courier New" pitchFamily="34" charset="0"/>
                <a:ea typeface="Courier New" pitchFamily="34" charset="-122"/>
                <a:cs typeface="Courier New" pitchFamily="34" charset="-120"/>
              </a:rPr>
              <a:t>    "warnings": []</a:t>
            </a:r>
            <a:endParaRPr lang="en-US" sz="900" dirty="0"/>
          </a:p>
          <a:p>
            <a:pPr marL="0" indent="0">
              <a:buNone/>
            </a:pPr>
            <a:r>
              <a:rPr lang="en-US" sz="900" dirty="0">
                <a:solidFill>
                  <a:srgbClr val="1E2533"/>
                </a:solidFill>
                <a:latin typeface="Courier New" pitchFamily="34" charset="0"/>
                <a:ea typeface="Courier New" pitchFamily="34" charset="-122"/>
                <a:cs typeface="Courier New" pitchFamily="34" charset="-120"/>
              </a:rPr>
              <a:t>  }</a:t>
            </a:r>
            <a:endParaRPr lang="en-US" sz="900" dirty="0"/>
          </a:p>
          <a:p>
            <a:pPr marL="0" indent="0">
              <a:buNone/>
            </a:pPr>
            <a:r>
              <a:rPr lang="en-US" sz="900" dirty="0">
                <a:solidFill>
                  <a:srgbClr val="1E2533"/>
                </a:solidFill>
                <a:latin typeface="Courier New" pitchFamily="34" charset="0"/>
                <a:ea typeface="Courier New" pitchFamily="34" charset="-122"/>
                <a:cs typeface="Courier New" pitchFamily="34" charset="-120"/>
              </a:rPr>
              <a:t>}</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56032"/>
            <a:ext cx="8229600" cy="237744"/>
          </a:xfrm>
          <a:prstGeom prst="rect">
            <a:avLst/>
          </a:prstGeom>
          <a:noFill/>
          <a:ln/>
        </p:spPr>
        <p:txBody>
          <a:bodyPr wrap="square" lIns="0" tIns="0" rIns="0" bIns="0" rtlCol="0" anchor="t"/>
          <a:lstStyle/>
          <a:p>
            <a:pPr marL="0" indent="0">
              <a:buNone/>
            </a:pPr>
            <a:r>
              <a:rPr lang="en-US" sz="1100" b="1" kern="0" spc="200" dirty="0">
                <a:solidFill>
                  <a:srgbClr val="C8102E"/>
                </a:solidFill>
                <a:latin typeface="Calibri" pitchFamily="34" charset="0"/>
                <a:ea typeface="Calibri" pitchFamily="34" charset="-122"/>
                <a:cs typeface="Calibri" pitchFamily="34" charset="-120"/>
              </a:rPr>
              <a:t>KẾT QUẢ</a:t>
            </a:r>
            <a:endParaRPr lang="en-US" sz="1100" dirty="0"/>
          </a:p>
        </p:txBody>
      </p:sp>
      <p:sp>
        <p:nvSpPr>
          <p:cNvPr id="3" name="Text 1"/>
          <p:cNvSpPr txBox="1"/>
          <p:nvPr/>
        </p:nvSpPr>
        <p:spPr>
          <a:xfrm>
            <a:off x="457200" y="502920"/>
            <a:ext cx="8229600" cy="548640"/>
          </a:xfrm>
          <a:prstGeom prst="rect">
            <a:avLst/>
          </a:prstGeom>
          <a:noFill/>
          <a:ln/>
        </p:spPr>
        <p:txBody>
          <a:bodyPr wrap="square" lIns="0" tIns="0" rIns="0" bIns="0" rtlCol="0" anchor="ctr"/>
          <a:lstStyle/>
          <a:p>
            <a:pPr marL="0" indent="0">
              <a:buNone/>
            </a:pPr>
            <a:r>
              <a:rPr lang="en-US" sz="2800" b="1" dirty="0">
                <a:solidFill>
                  <a:srgbClr val="15203B"/>
                </a:solidFill>
                <a:latin typeface="Cambria" pitchFamily="34" charset="0"/>
                <a:ea typeface="Cambria" pitchFamily="34" charset="-122"/>
                <a:cs typeface="Cambria" pitchFamily="34" charset="-120"/>
              </a:rPr>
              <a:t>Kết quả thử nghiệm</a:t>
            </a:r>
            <a:endParaRPr lang="en-US" sz="2800" dirty="0"/>
          </a:p>
        </p:txBody>
      </p:sp>
      <p:sp>
        <p:nvSpPr>
          <p:cNvPr id="4" name="Text 2"/>
          <p:cNvSpPr txBox="1"/>
          <p:nvPr/>
        </p:nvSpPr>
        <p:spPr>
          <a:xfrm>
            <a:off x="8229600" y="4800600"/>
            <a:ext cx="457200" cy="201168"/>
          </a:xfrm>
          <a:prstGeom prst="rect">
            <a:avLst/>
          </a:prstGeom>
          <a:noFill/>
          <a:ln/>
        </p:spPr>
        <p:txBody>
          <a:bodyPr wrap="square" lIns="0" tIns="0" rIns="0" bIns="0" rtlCol="0" anchor="t"/>
          <a:lstStyle/>
          <a:p>
            <a:pPr marL="0" indent="0" algn="r">
              <a:buNone/>
            </a:pPr>
            <a:r>
              <a:rPr lang="en-US" sz="900" dirty="0">
                <a:solidFill>
                  <a:srgbClr val="5B6475"/>
                </a:solidFill>
                <a:latin typeface="Calibri" pitchFamily="34" charset="0"/>
                <a:ea typeface="Calibri" pitchFamily="34" charset="-122"/>
                <a:cs typeface="Calibri" pitchFamily="34" charset="-120"/>
              </a:rPr>
              <a:t>15</a:t>
            </a:r>
            <a:endParaRPr lang="en-US" sz="900" dirty="0"/>
          </a:p>
        </p:txBody>
      </p:sp>
      <p:graphicFrame>
        <p:nvGraphicFramePr>
          <p:cNvPr id="5" name="Chart 0"/>
          <p:cNvGraphicFramePr/>
          <p:nvPr/>
        </p:nvGraphicFramePr>
        <p:xfrm>
          <a:off x="457200" y="1143000"/>
          <a:ext cx="4572000" cy="3154680"/>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 3"/>
          <p:cNvSpPr txBox="1"/>
          <p:nvPr/>
        </p:nvSpPr>
        <p:spPr>
          <a:xfrm>
            <a:off x="457200" y="4370832"/>
            <a:ext cx="4572000" cy="320040"/>
          </a:xfrm>
          <a:prstGeom prst="rect">
            <a:avLst/>
          </a:prstGeom>
          <a:noFill/>
          <a:ln/>
        </p:spPr>
        <p:txBody>
          <a:bodyPr wrap="square" lIns="0" tIns="0" rIns="0" bIns="0" rtlCol="0" anchor="t"/>
          <a:lstStyle/>
          <a:p>
            <a:pPr marL="0" indent="0">
              <a:buNone/>
            </a:pPr>
            <a:r>
              <a:rPr lang="en-US" sz="1050" i="1" dirty="0">
                <a:solidFill>
                  <a:srgbClr val="5B6475"/>
                </a:solidFill>
                <a:latin typeface="Calibri" pitchFamily="34" charset="0"/>
                <a:ea typeface="Calibri" pitchFamily="34" charset="-122"/>
                <a:cs typeface="Calibri" pitchFamily="34" charset="-120"/>
              </a:rPr>
              <a:t>Ngưỡng luật đấm đặt từ dữ liệu của 1 người, chưa đối chiếu với trọng tài.</a:t>
            </a:r>
            <a:endParaRPr lang="en-US" sz="1050" dirty="0"/>
          </a:p>
        </p:txBody>
      </p:sp>
      <p:sp>
        <p:nvSpPr>
          <p:cNvPr id="7" name="Shape 4"/>
          <p:cNvSpPr/>
          <p:nvPr/>
        </p:nvSpPr>
        <p:spPr>
          <a:xfrm>
            <a:off x="5349240" y="1188720"/>
            <a:ext cx="3337560" cy="1024128"/>
          </a:xfrm>
          <a:prstGeom prst="roundRect">
            <a:avLst>
              <a:gd name="adj" fmla="val 7143"/>
            </a:avLst>
          </a:prstGeom>
          <a:solidFill>
            <a:srgbClr val="EEF2F8"/>
          </a:solidFill>
          <a:ln w="12700">
            <a:solidFill>
              <a:srgbClr val="EEF2F8"/>
            </a:solidFill>
            <a:prstDash val="solid"/>
          </a:ln>
        </p:spPr>
        <p:txBody>
          <a:bodyPr/>
          <a:lstStyle/>
          <a:p>
            <a:endParaRPr lang="en-US"/>
          </a:p>
        </p:txBody>
      </p:sp>
      <p:sp>
        <p:nvSpPr>
          <p:cNvPr id="8" name="Text 5"/>
          <p:cNvSpPr txBox="1"/>
          <p:nvPr/>
        </p:nvSpPr>
        <p:spPr>
          <a:xfrm>
            <a:off x="5532120" y="1261872"/>
            <a:ext cx="3017520" cy="502920"/>
          </a:xfrm>
          <a:prstGeom prst="rect">
            <a:avLst/>
          </a:prstGeom>
          <a:noFill/>
          <a:ln/>
        </p:spPr>
        <p:txBody>
          <a:bodyPr wrap="square" lIns="0" tIns="0" rIns="0" bIns="0" rtlCol="0" anchor="ctr"/>
          <a:lstStyle/>
          <a:p>
            <a:pPr marL="0" indent="0">
              <a:buNone/>
            </a:pPr>
            <a:r>
              <a:rPr lang="en-US" sz="2800" b="1" dirty="0">
                <a:solidFill>
                  <a:srgbClr val="C8102E"/>
                </a:solidFill>
                <a:latin typeface="Cambria" pitchFamily="34" charset="0"/>
                <a:ea typeface="Cambria" pitchFamily="34" charset="-122"/>
                <a:cs typeface="Cambria" pitchFamily="34" charset="-120"/>
              </a:rPr>
              <a:t>24/24</a:t>
            </a:r>
            <a:endParaRPr lang="en-US" sz="2800" dirty="0"/>
          </a:p>
        </p:txBody>
      </p:sp>
      <p:sp>
        <p:nvSpPr>
          <p:cNvPr id="9" name="Text 6"/>
          <p:cNvSpPr txBox="1"/>
          <p:nvPr/>
        </p:nvSpPr>
        <p:spPr>
          <a:xfrm>
            <a:off x="5532120" y="1783080"/>
            <a:ext cx="3017520" cy="365760"/>
          </a:xfrm>
          <a:prstGeom prst="rect">
            <a:avLst/>
          </a:prstGeom>
          <a:noFill/>
          <a:ln/>
        </p:spPr>
        <p:txBody>
          <a:bodyPr wrap="square" lIns="0" tIns="0" rIns="0" bIns="0" rtlCol="0" anchor="t"/>
          <a:lstStyle/>
          <a:p>
            <a:pPr marL="0" indent="0">
              <a:buNone/>
            </a:pPr>
            <a:r>
              <a:rPr lang="en-US" sz="1100" dirty="0">
                <a:solidFill>
                  <a:srgbClr val="1E2533"/>
                </a:solidFill>
                <a:latin typeface="Calibri" pitchFamily="34" charset="0"/>
                <a:ea typeface="Calibri" pitchFamily="34" charset="-122"/>
                <a:cs typeface="Calibri" pitchFamily="34" charset="-120"/>
              </a:rPr>
              <a:t>clip đấm móc chấm được · trung vị 8,57 điểm</a:t>
            </a:r>
            <a:endParaRPr lang="en-US" sz="1100" dirty="0"/>
          </a:p>
        </p:txBody>
      </p:sp>
      <p:sp>
        <p:nvSpPr>
          <p:cNvPr id="10" name="Shape 7"/>
          <p:cNvSpPr/>
          <p:nvPr/>
        </p:nvSpPr>
        <p:spPr>
          <a:xfrm>
            <a:off x="5349240" y="2377440"/>
            <a:ext cx="3337560" cy="1024128"/>
          </a:xfrm>
          <a:prstGeom prst="roundRect">
            <a:avLst>
              <a:gd name="adj" fmla="val 7143"/>
            </a:avLst>
          </a:prstGeom>
          <a:solidFill>
            <a:srgbClr val="EEF2F8"/>
          </a:solidFill>
          <a:ln w="12700">
            <a:solidFill>
              <a:srgbClr val="EEF2F8"/>
            </a:solidFill>
            <a:prstDash val="solid"/>
          </a:ln>
        </p:spPr>
        <p:txBody>
          <a:bodyPr/>
          <a:lstStyle/>
          <a:p>
            <a:endParaRPr lang="en-US"/>
          </a:p>
        </p:txBody>
      </p:sp>
      <p:sp>
        <p:nvSpPr>
          <p:cNvPr id="11" name="Text 8"/>
          <p:cNvSpPr txBox="1"/>
          <p:nvPr/>
        </p:nvSpPr>
        <p:spPr>
          <a:xfrm>
            <a:off x="5532120" y="2450592"/>
            <a:ext cx="3017520" cy="502920"/>
          </a:xfrm>
          <a:prstGeom prst="rect">
            <a:avLst/>
          </a:prstGeom>
          <a:noFill/>
          <a:ln/>
        </p:spPr>
        <p:txBody>
          <a:bodyPr wrap="square" lIns="0" tIns="0" rIns="0" bIns="0" rtlCol="0" anchor="ctr"/>
          <a:lstStyle/>
          <a:p>
            <a:pPr marL="0" indent="0">
              <a:buNone/>
            </a:pPr>
            <a:r>
              <a:rPr lang="en-US" sz="2800" b="1" dirty="0">
                <a:solidFill>
                  <a:srgbClr val="15203B"/>
                </a:solidFill>
                <a:latin typeface="Cambria" pitchFamily="34" charset="0"/>
                <a:ea typeface="Cambria" pitchFamily="34" charset="-122"/>
                <a:cs typeface="Cambria" pitchFamily="34" charset="-120"/>
              </a:rPr>
              <a:t>75,3%</a:t>
            </a:r>
            <a:endParaRPr lang="en-US" sz="2800" dirty="0"/>
          </a:p>
        </p:txBody>
      </p:sp>
      <p:sp>
        <p:nvSpPr>
          <p:cNvPr id="12" name="Text 9"/>
          <p:cNvSpPr txBox="1"/>
          <p:nvPr/>
        </p:nvSpPr>
        <p:spPr>
          <a:xfrm>
            <a:off x="5532120" y="2971800"/>
            <a:ext cx="3017520" cy="365760"/>
          </a:xfrm>
          <a:prstGeom prst="rect">
            <a:avLst/>
          </a:prstGeom>
          <a:noFill/>
          <a:ln/>
        </p:spPr>
        <p:txBody>
          <a:bodyPr wrap="square" lIns="0" tIns="0" rIns="0" bIns="0" rtlCol="0" anchor="t"/>
          <a:lstStyle/>
          <a:p>
            <a:pPr marL="0" indent="0">
              <a:buNone/>
            </a:pPr>
            <a:r>
              <a:rPr lang="en-US" sz="1100" dirty="0">
                <a:solidFill>
                  <a:srgbClr val="1E2533"/>
                </a:solidFill>
                <a:latin typeface="Calibri" pitchFamily="34" charset="0"/>
                <a:ea typeface="Calibri" pitchFamily="34" charset="-122"/>
                <a:cs typeface="Calibri" pitchFamily="34" charset="-120"/>
              </a:rPr>
              <a:t>nhận dạng 3 đòn đá (LSTM, tập val, 3 seed)</a:t>
            </a:r>
            <a:endParaRPr lang="en-US" sz="1100" dirty="0"/>
          </a:p>
        </p:txBody>
      </p:sp>
      <p:sp>
        <p:nvSpPr>
          <p:cNvPr id="13" name="Shape 10"/>
          <p:cNvSpPr/>
          <p:nvPr/>
        </p:nvSpPr>
        <p:spPr>
          <a:xfrm>
            <a:off x="5349240" y="3566160"/>
            <a:ext cx="3337560" cy="1024128"/>
          </a:xfrm>
          <a:prstGeom prst="roundRect">
            <a:avLst>
              <a:gd name="adj" fmla="val 7143"/>
            </a:avLst>
          </a:prstGeom>
          <a:solidFill>
            <a:srgbClr val="EEF2F8"/>
          </a:solidFill>
          <a:ln w="12700">
            <a:solidFill>
              <a:srgbClr val="EEF2F8"/>
            </a:solidFill>
            <a:prstDash val="solid"/>
          </a:ln>
        </p:spPr>
        <p:txBody>
          <a:bodyPr/>
          <a:lstStyle/>
          <a:p>
            <a:endParaRPr lang="en-US"/>
          </a:p>
        </p:txBody>
      </p:sp>
      <p:sp>
        <p:nvSpPr>
          <p:cNvPr id="14" name="Text 11"/>
          <p:cNvSpPr txBox="1"/>
          <p:nvPr/>
        </p:nvSpPr>
        <p:spPr>
          <a:xfrm>
            <a:off x="5532120" y="3639312"/>
            <a:ext cx="3017520" cy="502920"/>
          </a:xfrm>
          <a:prstGeom prst="rect">
            <a:avLst/>
          </a:prstGeom>
          <a:noFill/>
          <a:ln/>
        </p:spPr>
        <p:txBody>
          <a:bodyPr wrap="square" lIns="0" tIns="0" rIns="0" bIns="0" rtlCol="0" anchor="ctr"/>
          <a:lstStyle/>
          <a:p>
            <a:pPr marL="0" indent="0">
              <a:buNone/>
            </a:pPr>
            <a:r>
              <a:rPr lang="en-US" sz="2800" b="1" dirty="0">
                <a:solidFill>
                  <a:srgbClr val="15203B"/>
                </a:solidFill>
                <a:latin typeface="Cambria" pitchFamily="34" charset="0"/>
                <a:ea typeface="Cambria" pitchFamily="34" charset="-122"/>
                <a:cs typeface="Cambria" pitchFamily="34" charset="-120"/>
              </a:rPr>
              <a:t>MAE 0,60</a:t>
            </a:r>
            <a:endParaRPr lang="en-US" sz="2800" dirty="0"/>
          </a:p>
        </p:txBody>
      </p:sp>
      <p:sp>
        <p:nvSpPr>
          <p:cNvPr id="15" name="Text 12"/>
          <p:cNvSpPr txBox="1"/>
          <p:nvPr/>
        </p:nvSpPr>
        <p:spPr>
          <a:xfrm>
            <a:off x="5532120" y="4160520"/>
            <a:ext cx="3017520" cy="365760"/>
          </a:xfrm>
          <a:prstGeom prst="rect">
            <a:avLst/>
          </a:prstGeom>
          <a:noFill/>
          <a:ln/>
        </p:spPr>
        <p:txBody>
          <a:bodyPr wrap="square" lIns="0" tIns="0" rIns="0" bIns="0" rtlCol="0" anchor="t"/>
          <a:lstStyle/>
          <a:p>
            <a:pPr marL="0" indent="0">
              <a:buNone/>
            </a:pPr>
            <a:r>
              <a:rPr lang="en-US" sz="1100" dirty="0">
                <a:solidFill>
                  <a:srgbClr val="1E2533"/>
                </a:solidFill>
                <a:latin typeface="Calibri" pitchFamily="34" charset="0"/>
                <a:ea typeface="Calibri" pitchFamily="34" charset="-122"/>
                <a:cs typeface="Calibri" pitchFamily="34" charset="-120"/>
              </a:rPr>
              <a:t>luật đá so với chuyên gia (30 video, r = 0,61)</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5203B"/>
        </a:solidFill>
        <a:effectLst/>
      </p:bgPr>
    </p:bg>
    <p:spTree>
      <p:nvGrpSpPr>
        <p:cNvPr id="1" name=""/>
        <p:cNvGrpSpPr/>
        <p:nvPr/>
      </p:nvGrpSpPr>
      <p:grpSpPr>
        <a:xfrm>
          <a:off x="0" y="0"/>
          <a:ext cx="0" cy="0"/>
          <a:chOff x="0" y="0"/>
          <a:chExt cx="0" cy="0"/>
        </a:xfrm>
      </p:grpSpPr>
      <p:sp>
        <p:nvSpPr>
          <p:cNvPr id="2" name="Text 0"/>
          <p:cNvSpPr txBox="1"/>
          <p:nvPr/>
        </p:nvSpPr>
        <p:spPr>
          <a:xfrm>
            <a:off x="457200" y="411480"/>
            <a:ext cx="8229600" cy="64008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Hạn chế &amp; hướng phát triển</a:t>
            </a:r>
            <a:endParaRPr lang="en-US" sz="3000" dirty="0"/>
          </a:p>
        </p:txBody>
      </p:sp>
      <p:sp>
        <p:nvSpPr>
          <p:cNvPr id="3" name="Shape 1"/>
          <p:cNvSpPr/>
          <p:nvPr/>
        </p:nvSpPr>
        <p:spPr>
          <a:xfrm>
            <a:off x="457200" y="1325880"/>
            <a:ext cx="4023360" cy="3383280"/>
          </a:xfrm>
          <a:prstGeom prst="roundRect">
            <a:avLst>
              <a:gd name="adj" fmla="val 2162"/>
            </a:avLst>
          </a:prstGeom>
          <a:solidFill>
            <a:srgbClr val="22305A"/>
          </a:solidFill>
          <a:ln w="12700">
            <a:solidFill>
              <a:srgbClr val="22305A"/>
            </a:solidFill>
            <a:prstDash val="solid"/>
          </a:ln>
        </p:spPr>
        <p:txBody>
          <a:bodyPr/>
          <a:lstStyle/>
          <a:p>
            <a:endParaRPr lang="en-US"/>
          </a:p>
        </p:txBody>
      </p:sp>
      <p:sp>
        <p:nvSpPr>
          <p:cNvPr id="4" name="Shape 2"/>
          <p:cNvSpPr/>
          <p:nvPr/>
        </p:nvSpPr>
        <p:spPr>
          <a:xfrm>
            <a:off x="685800" y="1508760"/>
            <a:ext cx="548640" cy="548640"/>
          </a:xfrm>
          <a:prstGeom prst="ellipse">
            <a:avLst/>
          </a:prstGeom>
          <a:solidFill>
            <a:srgbClr val="C8102E"/>
          </a:solidFill>
          <a:ln w="12700">
            <a:solidFill>
              <a:srgbClr val="C8102E"/>
            </a:solidFill>
            <a:prstDash val="solid"/>
          </a:ln>
        </p:spPr>
        <p:txBody>
          <a:bodyPr/>
          <a:lstStyle/>
          <a:p>
            <a:endParaRPr lang="en-US"/>
          </a:p>
        </p:txBody>
      </p:sp>
      <p:pic>
        <p:nvPicPr>
          <p:cNvPr id="5" name="Image 0" descr="preencoded.png"/>
          <p:cNvPicPr>
            <a:picLocks noChangeAspect="1"/>
          </p:cNvPicPr>
          <p:nvPr/>
        </p:nvPicPr>
        <p:blipFill>
          <a:blip r:embed="rId3"/>
          <a:stretch>
            <a:fillRect/>
          </a:stretch>
        </p:blipFill>
        <p:spPr>
          <a:xfrm>
            <a:off x="806501" y="1629461"/>
            <a:ext cx="307238" cy="307238"/>
          </a:xfrm>
          <a:prstGeom prst="rect">
            <a:avLst/>
          </a:prstGeom>
        </p:spPr>
      </p:pic>
      <p:sp>
        <p:nvSpPr>
          <p:cNvPr id="6" name="Text 3"/>
          <p:cNvSpPr txBox="1"/>
          <p:nvPr/>
        </p:nvSpPr>
        <p:spPr>
          <a:xfrm>
            <a:off x="1371600" y="1508760"/>
            <a:ext cx="2926080" cy="548640"/>
          </a:xfrm>
          <a:prstGeom prst="rect">
            <a:avLst/>
          </a:prstGeom>
          <a:noFill/>
          <a:ln/>
        </p:spPr>
        <p:txBody>
          <a:bodyPr wrap="square" lIns="0" tIns="0" rIns="0" bIns="0" rtlCol="0" anchor="ctr"/>
          <a:lstStyle/>
          <a:p>
            <a:pPr marL="0" indent="0">
              <a:buNone/>
            </a:pPr>
            <a:r>
              <a:rPr lang="en-US" sz="1800" b="1" dirty="0">
                <a:solidFill>
                  <a:srgbClr val="FFFFFF"/>
                </a:solidFill>
                <a:latin typeface="Cambria" pitchFamily="34" charset="0"/>
                <a:ea typeface="Cambria" pitchFamily="34" charset="-122"/>
                <a:cs typeface="Cambria" pitchFamily="34" charset="-120"/>
              </a:rPr>
              <a:t>Hạn chế</a:t>
            </a:r>
            <a:endParaRPr lang="en-US" sz="1800" dirty="0"/>
          </a:p>
        </p:txBody>
      </p:sp>
      <p:sp>
        <p:nvSpPr>
          <p:cNvPr id="7" name="Text 4"/>
          <p:cNvSpPr txBox="1"/>
          <p:nvPr/>
        </p:nvSpPr>
        <p:spPr>
          <a:xfrm>
            <a:off x="731520" y="2240280"/>
            <a:ext cx="3566160" cy="2377440"/>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rgbClr val="FFFFFF"/>
                </a:solidFill>
                <a:latin typeface="Calibri" pitchFamily="34" charset="0"/>
                <a:ea typeface="Calibri" pitchFamily="34" charset="-122"/>
                <a:cs typeface="Calibri" pitchFamily="34" charset="-120"/>
              </a:rPr>
              <a:t>Ngưỡng luật đấm đặt từ 1 người, chưa đối chiếu trọng tài</a:t>
            </a:r>
            <a:endParaRPr lang="en-US" sz="1250" dirty="0"/>
          </a:p>
          <a:p>
            <a:pPr marL="342900" indent="-342900">
              <a:spcAft>
                <a:spcPts val="600"/>
              </a:spcAft>
              <a:buSzPct val="100000"/>
              <a:buChar char="•"/>
            </a:pPr>
            <a:r>
              <a:rPr lang="en-US" sz="1250" dirty="0">
                <a:solidFill>
                  <a:srgbClr val="FFFFFF"/>
                </a:solidFill>
                <a:latin typeface="Calibri" pitchFamily="34" charset="0"/>
                <a:ea typeface="Calibri" pitchFamily="34" charset="-122"/>
                <a:cs typeface="Calibri" pitchFamily="34" charset="-120"/>
              </a:rPr>
              <a:t>Đấm thẳng chưa kiểm thử trên video thật</a:t>
            </a:r>
            <a:endParaRPr lang="en-US" sz="1250" dirty="0"/>
          </a:p>
          <a:p>
            <a:pPr marL="342900" indent="-342900">
              <a:spcAft>
                <a:spcPts val="600"/>
              </a:spcAft>
              <a:buSzPct val="100000"/>
              <a:buChar char="•"/>
            </a:pPr>
            <a:r>
              <a:rPr lang="en-US" sz="1250" dirty="0">
                <a:solidFill>
                  <a:srgbClr val="FFFFFF"/>
                </a:solidFill>
                <a:latin typeface="Calibri" pitchFamily="34" charset="0"/>
                <a:ea typeface="Calibri" pitchFamily="34" charset="-122"/>
                <a:cs typeface="Calibri" pitchFamily="34" charset="-120"/>
              </a:rPr>
              <a:t>Model đá chưa đánh giá tách theo người</a:t>
            </a:r>
            <a:endParaRPr lang="en-US" sz="1250" dirty="0"/>
          </a:p>
          <a:p>
            <a:pPr marL="342900" indent="-342900">
              <a:spcAft>
                <a:spcPts val="600"/>
              </a:spcAft>
              <a:buSzPct val="100000"/>
              <a:buChar char="•"/>
            </a:pPr>
            <a:r>
              <a:rPr lang="en-US" sz="1250" dirty="0">
                <a:solidFill>
                  <a:srgbClr val="FFFFFF"/>
                </a:solidFill>
                <a:latin typeface="Calibri" pitchFamily="34" charset="0"/>
                <a:ea typeface="Calibri" pitchFamily="34" charset="-122"/>
                <a:cs typeface="Calibri" pitchFamily="34" charset="-120"/>
              </a:rPr>
              <a:t>3D từ 1 camera: nhạy với góc nghiêng, quay lưng</a:t>
            </a:r>
            <a:endParaRPr lang="en-US" sz="1250" dirty="0"/>
          </a:p>
          <a:p>
            <a:pPr marL="342900" indent="-342900">
              <a:spcAft>
                <a:spcPts val="600"/>
              </a:spcAft>
              <a:buSzPct val="100000"/>
              <a:buChar char="•"/>
            </a:pPr>
            <a:r>
              <a:rPr lang="en-US" sz="1250" dirty="0">
                <a:solidFill>
                  <a:srgbClr val="FFFFFF"/>
                </a:solidFill>
                <a:latin typeface="Calibri" pitchFamily="34" charset="0"/>
                <a:ea typeface="Calibri" pitchFamily="34" charset="-122"/>
                <a:cs typeface="Calibri" pitchFamily="34" charset="-120"/>
              </a:rPr>
              <a:t>"Lực" chỉ là chỉ số động học, không phải lực đo được</a:t>
            </a:r>
            <a:endParaRPr lang="en-US" sz="1250" dirty="0"/>
          </a:p>
        </p:txBody>
      </p:sp>
      <p:sp>
        <p:nvSpPr>
          <p:cNvPr id="8" name="Shape 5"/>
          <p:cNvSpPr/>
          <p:nvPr/>
        </p:nvSpPr>
        <p:spPr>
          <a:xfrm>
            <a:off x="4663440" y="1325880"/>
            <a:ext cx="4023360" cy="3383280"/>
          </a:xfrm>
          <a:prstGeom prst="roundRect">
            <a:avLst>
              <a:gd name="adj" fmla="val 2162"/>
            </a:avLst>
          </a:prstGeom>
          <a:solidFill>
            <a:srgbClr val="22305A"/>
          </a:solidFill>
          <a:ln w="12700">
            <a:solidFill>
              <a:srgbClr val="22305A"/>
            </a:solidFill>
            <a:prstDash val="solid"/>
          </a:ln>
        </p:spPr>
        <p:txBody>
          <a:bodyPr/>
          <a:lstStyle/>
          <a:p>
            <a:endParaRPr lang="en-US"/>
          </a:p>
        </p:txBody>
      </p:sp>
      <p:sp>
        <p:nvSpPr>
          <p:cNvPr id="9" name="Shape 6"/>
          <p:cNvSpPr/>
          <p:nvPr/>
        </p:nvSpPr>
        <p:spPr>
          <a:xfrm>
            <a:off x="4892040" y="1508760"/>
            <a:ext cx="548640" cy="548640"/>
          </a:xfrm>
          <a:prstGeom prst="ellipse">
            <a:avLst/>
          </a:prstGeom>
          <a:solidFill>
            <a:srgbClr val="1F4E9A"/>
          </a:solidFill>
          <a:ln w="12700">
            <a:solidFill>
              <a:srgbClr val="1F4E9A"/>
            </a:solidFill>
            <a:prstDash val="solid"/>
          </a:ln>
        </p:spPr>
        <p:txBody>
          <a:bodyPr/>
          <a:lstStyle/>
          <a:p>
            <a:endParaRPr lang="en-US"/>
          </a:p>
        </p:txBody>
      </p:sp>
      <p:pic>
        <p:nvPicPr>
          <p:cNvPr id="10" name="Image 1" descr="preencoded.png"/>
          <p:cNvPicPr>
            <a:picLocks noChangeAspect="1"/>
          </p:cNvPicPr>
          <p:nvPr/>
        </p:nvPicPr>
        <p:blipFill>
          <a:blip r:embed="rId4"/>
          <a:stretch>
            <a:fillRect/>
          </a:stretch>
        </p:blipFill>
        <p:spPr>
          <a:xfrm>
            <a:off x="5012741" y="1629461"/>
            <a:ext cx="307238" cy="307238"/>
          </a:xfrm>
          <a:prstGeom prst="rect">
            <a:avLst/>
          </a:prstGeom>
        </p:spPr>
      </p:pic>
      <p:sp>
        <p:nvSpPr>
          <p:cNvPr id="11" name="Text 7"/>
          <p:cNvSpPr txBox="1"/>
          <p:nvPr/>
        </p:nvSpPr>
        <p:spPr>
          <a:xfrm>
            <a:off x="5577840" y="1508760"/>
            <a:ext cx="2926080" cy="548640"/>
          </a:xfrm>
          <a:prstGeom prst="rect">
            <a:avLst/>
          </a:prstGeom>
          <a:noFill/>
          <a:ln/>
        </p:spPr>
        <p:txBody>
          <a:bodyPr wrap="square" lIns="0" tIns="0" rIns="0" bIns="0" rtlCol="0" anchor="ctr"/>
          <a:lstStyle/>
          <a:p>
            <a:pPr marL="0" indent="0">
              <a:buNone/>
            </a:pPr>
            <a:r>
              <a:rPr lang="en-US" sz="1800" b="1" dirty="0">
                <a:solidFill>
                  <a:srgbClr val="FFFFFF"/>
                </a:solidFill>
                <a:latin typeface="Cambria" pitchFamily="34" charset="0"/>
                <a:ea typeface="Cambria" pitchFamily="34" charset="-122"/>
                <a:cs typeface="Cambria" pitchFamily="34" charset="-120"/>
              </a:rPr>
              <a:t>Hướng phát triển</a:t>
            </a:r>
            <a:endParaRPr lang="en-US" sz="1800" dirty="0"/>
          </a:p>
        </p:txBody>
      </p:sp>
      <p:sp>
        <p:nvSpPr>
          <p:cNvPr id="12" name="Text 8"/>
          <p:cNvSpPr txBox="1"/>
          <p:nvPr/>
        </p:nvSpPr>
        <p:spPr>
          <a:xfrm>
            <a:off x="4937760" y="2240280"/>
            <a:ext cx="3566160" cy="2377440"/>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rgbClr val="FFFFFF"/>
                </a:solidFill>
                <a:latin typeface="Calibri" pitchFamily="34" charset="0"/>
                <a:ea typeface="Calibri" pitchFamily="34" charset="-122"/>
                <a:cs typeface="Calibri" pitchFamily="34" charset="-120"/>
              </a:rPr>
              <a:t>Thu video nhiều người, nhiều trình độ</a:t>
            </a:r>
            <a:endParaRPr lang="en-US" sz="1250" dirty="0"/>
          </a:p>
          <a:p>
            <a:pPr marL="342900" indent="-342900">
              <a:spcAft>
                <a:spcPts val="600"/>
              </a:spcAft>
              <a:buSzPct val="100000"/>
              <a:buChar char="•"/>
            </a:pPr>
            <a:r>
              <a:rPr lang="en-US" sz="1250" dirty="0">
                <a:solidFill>
                  <a:srgbClr val="FFFFFF"/>
                </a:solidFill>
                <a:latin typeface="Calibri" pitchFamily="34" charset="0"/>
                <a:ea typeface="Calibri" pitchFamily="34" charset="-122"/>
                <a:cs typeface="Calibri" pitchFamily="34" charset="-120"/>
              </a:rPr>
              <a:t>Nhờ ≥ 2 chuyên gia chấm để hiệu chỉnh ngưỡng (MAE, tương quan)</a:t>
            </a:r>
            <a:endParaRPr lang="en-US" sz="1250" dirty="0"/>
          </a:p>
          <a:p>
            <a:pPr marL="342900" indent="-342900">
              <a:spcAft>
                <a:spcPts val="600"/>
              </a:spcAft>
              <a:buSzPct val="100000"/>
              <a:buChar char="•"/>
            </a:pPr>
            <a:r>
              <a:rPr lang="en-US" sz="1250" dirty="0">
                <a:solidFill>
                  <a:srgbClr val="FFFFFF"/>
                </a:solidFill>
                <a:latin typeface="Calibri" pitchFamily="34" charset="0"/>
                <a:ea typeface="Calibri" pitchFamily="34" charset="-122"/>
                <a:cs typeface="Calibri" pitchFamily="34" charset="-120"/>
              </a:rPr>
              <a:t>Thêm động tác mới bằng train_actions.py + plugin luật chấm</a:t>
            </a:r>
            <a:endParaRPr lang="en-US" sz="1250" dirty="0"/>
          </a:p>
          <a:p>
            <a:pPr marL="342900" indent="-342900">
              <a:spcAft>
                <a:spcPts val="600"/>
              </a:spcAft>
              <a:buSzPct val="100000"/>
              <a:buChar char="•"/>
            </a:pPr>
            <a:r>
              <a:rPr lang="en-US" sz="1250" dirty="0">
                <a:solidFill>
                  <a:srgbClr val="FFFFFF"/>
                </a:solidFill>
                <a:latin typeface="Calibri" pitchFamily="34" charset="0"/>
                <a:ea typeface="Calibri" pitchFamily="34" charset="-122"/>
                <a:cs typeface="Calibri" pitchFamily="34" charset="-120"/>
              </a:rPr>
              <a:t>Kiểm thử đấm thẳng, đá ngang trên video thật</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15</TotalTime>
  <Words>2263</Words>
  <Application>Microsoft Office PowerPoint</Application>
  <PresentationFormat>On-screen Show (16:9)</PresentationFormat>
  <Paragraphs>343</Paragraphs>
  <Slides>16</Slides>
  <Notes>16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Arial</vt:lpstr>
      <vt:lpstr>Calibri</vt:lpstr>
      <vt:lpstr>Cambria</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Hệ thống chấm điểm kỹ thuật Taekwondo từ video</dc:title>
  <dc:subject>PptxGenJS Presentation</dc:subject>
  <dc:creator>PptxGenJS</dc:creator>
  <cp:lastModifiedBy>Le Minh Quang D24CE05</cp:lastModifiedBy>
  <cp:revision>2</cp:revision>
  <dcterms:created xsi:type="dcterms:W3CDTF">2026-10-01T08:57:42Z</dcterms:created>
  <dcterms:modified xsi:type="dcterms:W3CDTF">2026-10-01T09:14:21Z</dcterms:modified>
</cp:coreProperties>
</file>
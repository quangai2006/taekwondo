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533"/>
                </a:solidFill>
                <a:latin typeface="Calibri"/>
              </a:rPr>
              <a:t>Recognition accuracy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203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GCN</c:v>
                </c:pt>
                <c:pt idx="1">
                  <c:v>Transformer</c:v>
                </c:pt>
                <c:pt idx="2">
                  <c:v>LSTM (phase)</c:v>
                </c:pt>
                <c:pt idx="3">
                  <c:v>LSTM (uniform) 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</c:v>
                </c:pt>
                <c:pt idx="1">
                  <c:v>67.3</c:v>
                </c:pt>
                <c:pt idx="2">
                  <c:v>71.2</c:v>
                </c:pt>
                <c:pt idx="3">
                  <c:v>75.3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A-4A49-89EE-7D55D38B6A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533"/>
                </a:solidFill>
                <a:latin typeface="Calibri"/>
              </a:rPr>
              <a:t>Clip 17 — right hook (per frame)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Elbow elevation (°)</c:v>
                </c:pt>
              </c:strCache>
            </c:strRef>
          </c:tx>
          <c:spPr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0</c:v>
                </c:pt>
                <c:pt idx="5">
                  <c:v>5</c:v>
                </c:pt>
                <c:pt idx="10">
                  <c:v>10</c:v>
                </c:pt>
                <c:pt idx="15">
                  <c:v>15</c:v>
                </c:pt>
                <c:pt idx="20">
                  <c:v>20</c:v>
                </c:pt>
                <c:pt idx="25">
                  <c:v>25</c:v>
                </c:pt>
                <c:pt idx="30">
                  <c:v>30</c:v>
                </c:pt>
                <c:pt idx="35">
                  <c:v>35</c:v>
                </c:pt>
                <c:pt idx="40">
                  <c:v>40</c:v>
                </c:pt>
                <c:pt idx="45">
                  <c:v>45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53.4</c:v>
                </c:pt>
                <c:pt idx="1">
                  <c:v>54.9</c:v>
                </c:pt>
                <c:pt idx="2">
                  <c:v>51</c:v>
                </c:pt>
                <c:pt idx="3">
                  <c:v>43.7</c:v>
                </c:pt>
                <c:pt idx="4">
                  <c:v>37.6</c:v>
                </c:pt>
                <c:pt idx="5">
                  <c:v>27.6</c:v>
                </c:pt>
                <c:pt idx="6">
                  <c:v>18.899999999999999</c:v>
                </c:pt>
                <c:pt idx="7">
                  <c:v>14.8</c:v>
                </c:pt>
                <c:pt idx="8">
                  <c:v>16.3</c:v>
                </c:pt>
                <c:pt idx="9">
                  <c:v>17.7</c:v>
                </c:pt>
                <c:pt idx="10">
                  <c:v>24.8</c:v>
                </c:pt>
                <c:pt idx="11">
                  <c:v>36.299999999999997</c:v>
                </c:pt>
                <c:pt idx="12">
                  <c:v>51.8</c:v>
                </c:pt>
                <c:pt idx="13">
                  <c:v>69</c:v>
                </c:pt>
                <c:pt idx="14">
                  <c:v>90.3</c:v>
                </c:pt>
                <c:pt idx="15">
                  <c:v>105.2</c:v>
                </c:pt>
                <c:pt idx="16">
                  <c:v>105.2</c:v>
                </c:pt>
                <c:pt idx="17">
                  <c:v>104.5</c:v>
                </c:pt>
                <c:pt idx="18">
                  <c:v>98.2</c:v>
                </c:pt>
                <c:pt idx="19">
                  <c:v>91.4</c:v>
                </c:pt>
                <c:pt idx="20">
                  <c:v>83.4</c:v>
                </c:pt>
                <c:pt idx="21">
                  <c:v>78.3</c:v>
                </c:pt>
                <c:pt idx="22">
                  <c:v>73.2</c:v>
                </c:pt>
                <c:pt idx="23">
                  <c:v>72.099999999999994</c:v>
                </c:pt>
                <c:pt idx="24">
                  <c:v>71.599999999999994</c:v>
                </c:pt>
                <c:pt idx="25">
                  <c:v>71.2</c:v>
                </c:pt>
                <c:pt idx="26">
                  <c:v>72.400000000000006</c:v>
                </c:pt>
                <c:pt idx="27">
                  <c:v>73.3</c:v>
                </c:pt>
                <c:pt idx="28">
                  <c:v>73.5</c:v>
                </c:pt>
                <c:pt idx="29">
                  <c:v>73.8</c:v>
                </c:pt>
                <c:pt idx="30">
                  <c:v>73.900000000000006</c:v>
                </c:pt>
                <c:pt idx="31">
                  <c:v>72.5</c:v>
                </c:pt>
                <c:pt idx="32">
                  <c:v>71.099999999999994</c:v>
                </c:pt>
                <c:pt idx="33">
                  <c:v>69.5</c:v>
                </c:pt>
                <c:pt idx="34">
                  <c:v>68.8</c:v>
                </c:pt>
                <c:pt idx="35">
                  <c:v>67.099999999999994</c:v>
                </c:pt>
                <c:pt idx="36">
                  <c:v>66.5</c:v>
                </c:pt>
                <c:pt idx="37">
                  <c:v>64.599999999999994</c:v>
                </c:pt>
                <c:pt idx="38">
                  <c:v>62.9</c:v>
                </c:pt>
                <c:pt idx="39">
                  <c:v>58.6</c:v>
                </c:pt>
                <c:pt idx="40">
                  <c:v>53.2</c:v>
                </c:pt>
                <c:pt idx="41">
                  <c:v>48.4</c:v>
                </c:pt>
                <c:pt idx="42">
                  <c:v>40.4</c:v>
                </c:pt>
                <c:pt idx="43">
                  <c:v>32.799999999999997</c:v>
                </c:pt>
                <c:pt idx="44">
                  <c:v>33.9</c:v>
                </c:pt>
                <c:pt idx="45">
                  <c:v>35.5</c:v>
                </c:pt>
                <c:pt idx="46">
                  <c:v>36.6</c:v>
                </c:pt>
                <c:pt idx="47">
                  <c:v>42.3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B9-4212-B4B3-0B932BD9AF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Wrist speed × 10 (torso/s)</c:v>
                </c:pt>
              </c:strCache>
            </c:strRef>
          </c:tx>
          <c:spPr>
            <a:ln w="25400" cap="flat">
              <a:solidFill>
                <a:srgbClr val="1F4E9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0</c:v>
                </c:pt>
                <c:pt idx="5">
                  <c:v>5</c:v>
                </c:pt>
                <c:pt idx="10">
                  <c:v>10</c:v>
                </c:pt>
                <c:pt idx="15">
                  <c:v>15</c:v>
                </c:pt>
                <c:pt idx="20">
                  <c:v>20</c:v>
                </c:pt>
                <c:pt idx="25">
                  <c:v>25</c:v>
                </c:pt>
                <c:pt idx="30">
                  <c:v>30</c:v>
                </c:pt>
                <c:pt idx="35">
                  <c:v>35</c:v>
                </c:pt>
                <c:pt idx="40">
                  <c:v>40</c:v>
                </c:pt>
                <c:pt idx="45">
                  <c:v>45</c:v>
                </c:pt>
              </c:strCache>
            </c: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15.5</c:v>
                </c:pt>
                <c:pt idx="1">
                  <c:v>15.5</c:v>
                </c:pt>
                <c:pt idx="2">
                  <c:v>28.9</c:v>
                </c:pt>
                <c:pt idx="3">
                  <c:v>39.5</c:v>
                </c:pt>
                <c:pt idx="4">
                  <c:v>36.799999999999997</c:v>
                </c:pt>
                <c:pt idx="5">
                  <c:v>45.7</c:v>
                </c:pt>
                <c:pt idx="6">
                  <c:v>40.799999999999997</c:v>
                </c:pt>
                <c:pt idx="7">
                  <c:v>26.2</c:v>
                </c:pt>
                <c:pt idx="8">
                  <c:v>10.1</c:v>
                </c:pt>
                <c:pt idx="9">
                  <c:v>9.3000000000000007</c:v>
                </c:pt>
                <c:pt idx="10">
                  <c:v>56.1</c:v>
                </c:pt>
                <c:pt idx="11">
                  <c:v>63.3</c:v>
                </c:pt>
                <c:pt idx="12">
                  <c:v>63.8</c:v>
                </c:pt>
                <c:pt idx="13">
                  <c:v>57</c:v>
                </c:pt>
                <c:pt idx="14">
                  <c:v>57.4</c:v>
                </c:pt>
                <c:pt idx="15">
                  <c:v>39.200000000000003</c:v>
                </c:pt>
                <c:pt idx="16">
                  <c:v>10.3</c:v>
                </c:pt>
                <c:pt idx="17">
                  <c:v>13.8</c:v>
                </c:pt>
                <c:pt idx="18">
                  <c:v>16.3</c:v>
                </c:pt>
                <c:pt idx="19">
                  <c:v>16.100000000000001</c:v>
                </c:pt>
                <c:pt idx="20">
                  <c:v>15.8</c:v>
                </c:pt>
                <c:pt idx="21">
                  <c:v>9.1</c:v>
                </c:pt>
                <c:pt idx="22">
                  <c:v>10.5</c:v>
                </c:pt>
                <c:pt idx="23">
                  <c:v>8</c:v>
                </c:pt>
                <c:pt idx="24">
                  <c:v>2.5</c:v>
                </c:pt>
                <c:pt idx="25">
                  <c:v>3.1</c:v>
                </c:pt>
                <c:pt idx="26">
                  <c:v>6.1</c:v>
                </c:pt>
                <c:pt idx="27">
                  <c:v>8.5</c:v>
                </c:pt>
                <c:pt idx="28">
                  <c:v>7.5</c:v>
                </c:pt>
                <c:pt idx="29">
                  <c:v>4.5</c:v>
                </c:pt>
                <c:pt idx="30">
                  <c:v>5</c:v>
                </c:pt>
                <c:pt idx="31">
                  <c:v>7.1</c:v>
                </c:pt>
                <c:pt idx="32">
                  <c:v>7.7</c:v>
                </c:pt>
                <c:pt idx="33">
                  <c:v>7.8</c:v>
                </c:pt>
                <c:pt idx="34">
                  <c:v>15.3</c:v>
                </c:pt>
                <c:pt idx="35">
                  <c:v>12.6</c:v>
                </c:pt>
                <c:pt idx="36">
                  <c:v>9.6</c:v>
                </c:pt>
                <c:pt idx="37">
                  <c:v>10.3</c:v>
                </c:pt>
                <c:pt idx="38">
                  <c:v>10.199999999999999</c:v>
                </c:pt>
                <c:pt idx="39">
                  <c:v>16.100000000000001</c:v>
                </c:pt>
                <c:pt idx="40">
                  <c:v>29.7</c:v>
                </c:pt>
                <c:pt idx="41">
                  <c:v>26.1</c:v>
                </c:pt>
                <c:pt idx="42">
                  <c:v>50.6</c:v>
                </c:pt>
                <c:pt idx="43">
                  <c:v>53.1</c:v>
                </c:pt>
                <c:pt idx="44">
                  <c:v>5.2</c:v>
                </c:pt>
                <c:pt idx="45">
                  <c:v>20.2</c:v>
                </c:pt>
                <c:pt idx="46">
                  <c:v>18.5</c:v>
                </c:pt>
                <c:pt idx="47">
                  <c:v>42.8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B9-4212-B4B3-0B932BD9AF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5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533"/>
                </a:solidFill>
                <a:latin typeface="Calibri"/>
              </a:rPr>
              <a:t>Hook punch scores of 24 clips (black-belt practitioner)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Clips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5–6</c:v>
                </c:pt>
                <c:pt idx="1">
                  <c:v>6–7</c:v>
                </c:pt>
                <c:pt idx="2">
                  <c:v>7–8</c:v>
                </c:pt>
                <c:pt idx="3">
                  <c:v>8–9</c:v>
                </c:pt>
                <c:pt idx="4">
                  <c:v>9–10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60-4891-A863-DF43E8BBB1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5"/>
                    </a:solidFill>
                    <a:latin typeface="Arial"/>
                  </a:rPr>
                  <a:t>Score range (/10)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5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summary of the technologies, algorithms and input/output formats of the Taekwondo technique scoring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(LSTM recognition) is used for kicks only, to pick the right rule set. For punches, the user gives the punch type with --punch.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Taekwondo Technique Scoring from Video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· Algorithms · Input &amp; Output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0" y="1143000"/>
            <a:ext cx="2468880" cy="24688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4" y="1686154"/>
            <a:ext cx="1382573" cy="1382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system do?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provides a video of a technique. The system extracts the skeleton in every frame, recognizes the kick type, finds the phases of the movement and scores it with explainable rules: per-item points, main faults and correction tips.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tracked in every frame (2D + 3D)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75.3%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108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the LSTM model on 3 kick types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55080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+ 6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108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 points: Accuracy 4 + Expression 6, borrowed from Poomsae scoring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61104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0584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Kicks: </a:t>
            </a: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chagi · dollyo chagi · naeryo chagi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26110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2064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Punches: </a:t>
            </a: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· straight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video to score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58952" y="1325880"/>
            <a:ext cx="768096" cy="768096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33" y="1494861"/>
            <a:ext cx="430134" cy="4301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18488" y="1709928"/>
            <a:ext cx="42062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02920" y="2212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video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the frames, fps and size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30552" y="1325880"/>
            <a:ext cx="768096" cy="768096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533" y="1494861"/>
            <a:ext cx="430134" cy="4301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90088" y="1709928"/>
            <a:ext cx="42062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1874520" y="2212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MediaPipe Pose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points per frame → 13 joints, 2D + 3D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502152" y="1325880"/>
            <a:ext cx="768096" cy="768096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133" y="1494861"/>
            <a:ext cx="430134" cy="43013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361688" y="1709928"/>
            <a:ext cx="42062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3246120" y="2212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person &amp; crop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24612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people, pick the performer, crop the motion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73752" y="1325880"/>
            <a:ext cx="768096" cy="768096"/>
          </a:xfrm>
          <a:prstGeom prst="ellipse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733" y="1494861"/>
            <a:ext cx="430134" cy="43013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733288" y="1709928"/>
            <a:ext cx="42062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4617720" y="2212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Recognition (LSTM)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61772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only: ap / dollyo / naeryo chagi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245352" y="1325880"/>
            <a:ext cx="768096" cy="768096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333" y="1494861"/>
            <a:ext cx="430134" cy="43013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104888" y="1709928"/>
            <a:ext cx="42062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5989320" y="2212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Phases &amp; metrics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98932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peak → recovery; angles, speed, rotation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616952" y="1325880"/>
            <a:ext cx="768096" cy="7680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5933" y="1494861"/>
            <a:ext cx="430134" cy="43013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60920" y="2212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Scoring 4 + 6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736092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points, main faults, correction tips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7200" y="397764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 txBox="1"/>
          <p:nvPr/>
        </p:nvSpPr>
        <p:spPr>
          <a:xfrm>
            <a:off x="68580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</a:t>
            </a: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video, 1–3 s + command options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4709160" y="397764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493776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3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 · pipeline window · JSON · CSV · images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4822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585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language, runs in a .venv virtual environment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3842" y="14822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0.10.14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2585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PoseLandmarker (BlazePose full): 33 points 2D + 3D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962" y="148224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2585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reading, skeleton drawing, image export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949440" y="137160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0082" y="148224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4944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949440" y="22585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GCN recognition models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" y="326532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40080" y="3749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40416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series, signals, joint angles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56032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274320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3842" y="3265322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743200" y="3749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(TkAgg)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2743200" y="40416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window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66344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962" y="3265322"/>
            <a:ext cx="281635" cy="28163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846320" y="3749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TKD-Kick3 (Zenodo)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4846320" y="40416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765 kick pose sequences, checkpoints, original rules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694944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0082" y="3265322"/>
            <a:ext cx="281635" cy="28163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949440" y="3749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/ CLI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6949440" y="40416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commands, export JSON / CSV / images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Input: video and command options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492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video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031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.mp4 .mov .avi .mkv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full body visible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view or ~45° angle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repetition per video, 1–3 s long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~0.3 s of guard before and ~0.5 s after the movement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188720"/>
          <a:ext cx="4663440" cy="914400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infer_video.py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Kick: model recognizes the kick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infer_video.py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--kick front / roundhouse / axe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Kick: choose the kick to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infer_punch_video.py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--punch hook / straight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Punch: punch type (required)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infer_punch_video.py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--guard chin / waist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Guard: at the chin / at the 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--window off · --out · --csv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window, save JSON / 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--keyframes · --save_dashboard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keyframes / dashboard 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13-joint skeleton representation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65960" y="1515161"/>
            <a:ext cx="419710" cy="504749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546250" y="1515161"/>
            <a:ext cx="419710" cy="504749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46250" y="2019910"/>
            <a:ext cx="839419" cy="0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85670" y="2019910"/>
            <a:ext cx="320954" cy="504749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06624" y="2524658"/>
            <a:ext cx="172822" cy="504749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1225296" y="2019910"/>
            <a:ext cx="320954" cy="504749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052474" y="2524658"/>
            <a:ext cx="172822" cy="504749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V="1">
            <a:off x="2212848" y="2019910"/>
            <a:ext cx="172822" cy="1009498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46250" y="2019910"/>
            <a:ext cx="172822" cy="1009498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19072" y="3029407"/>
            <a:ext cx="493776" cy="0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12848" y="3029407"/>
            <a:ext cx="74066" cy="694030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914" y="3723437"/>
            <a:ext cx="49378" cy="630936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645006" y="3029407"/>
            <a:ext cx="74066" cy="694030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1595628" y="3723437"/>
            <a:ext cx="49378" cy="630936"/>
          </a:xfrm>
          <a:prstGeom prst="line">
            <a:avLst/>
          </a:prstGeom>
          <a:noFill/>
          <a:ln w="38100">
            <a:solidFill>
              <a:srgbClr val="8A96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1378001"/>
            <a:ext cx="274320" cy="2743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828800" y="13780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8510" y="1882750"/>
            <a:ext cx="274320" cy="27432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2248510" y="18827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09090" y="1882750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409090" y="18827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9464" y="2387498"/>
            <a:ext cx="274320" cy="27432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569464" y="23874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88136" y="2387498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88136" y="23874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2286" y="2892247"/>
            <a:ext cx="274320" cy="27432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2742286" y="28922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5314" y="2892247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15314" y="28922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75688" y="2892247"/>
            <a:ext cx="274320" cy="27432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2075688" y="28922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81912" y="2892247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581912" y="28922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49754" y="3586277"/>
            <a:ext cx="274320" cy="27432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2149754" y="35862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507846" y="3586277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1507846" y="35862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99132" y="4217213"/>
            <a:ext cx="274320" cy="27432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2199132" y="42172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458468" y="4217213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458468" y="42172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188720"/>
          <a:ext cx="484632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kpts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(T, 13, 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coordinates (pixels)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(T, 13)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0–1 (below 0.2 = missing)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world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(T, 13, 3)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coordinates (metres), origin at the hips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fps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per second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3840480" y="3291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index: </a:t>
            </a: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nose · 1/2 shoulders · 3/4 elbows · 5/6 wrists · 7/8 hips · 9/10 knees · 11/12 ankles (odd = left, blue; even = right, red)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number of frames. The 13 joints are reduced from MediaPipe's 33 landmarks.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3840480" y="41148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3977640" y="41148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3D: filmed from the front, the 2D elbow angle swings 20–150° within one punch; 3D coordinates are far more stable.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 extraction &amp; performer selection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16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BlazePose (MediaPipe)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→ 33 2D points (x, y, visibility) and 33 3D points (metres).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848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33 → 13 joints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Nose, shoulders, elbows, wrists, hips, knees, ankles — enough for kicks and punches.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953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tracking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246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people across frames by the nearest hip centre (greedy matching).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8221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performer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114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whose wrists / ankles move most × fraction of frames present; a near-tie raises a warning.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118872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0760" y="137160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402" y="1482242"/>
            <a:ext cx="281635" cy="28163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72084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20574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pose_landmarker_full.task (float16)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mode, up to 4 people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/ presence / tracking threshold: 0.5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matching: distance ≤ 15% of frame size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moving average (punch rules)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window cropping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411480" cy="41148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signal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speed relative to the hip centre (the more active leg)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22576" y="2121408"/>
            <a:ext cx="22860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87752" y="123444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70632" y="1389888"/>
            <a:ext cx="411480" cy="41148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770632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2194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7-frame moving average, then find the speed peak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53128" y="2121408"/>
            <a:ext cx="22860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18304" y="123444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01184" y="1389888"/>
            <a:ext cx="411480" cy="41148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90118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thresholds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2194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max(85th percentile, 2 px); low = 0.55 × high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121408"/>
            <a:ext cx="22860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48856" y="123444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31736" y="1389888"/>
            <a:ext cx="411480" cy="41148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03173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from peak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31736" y="2194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run ≥ low threshold, clamp length to 0.6–2.0 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kick recognition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7216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authors' own _compute_rel_speed_window function, so the LSTM sees data shaped like its training data; walking and phone handling are dropped.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2918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89204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rules: no cropping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37216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video is kept to see the guard before the punch and the recovery; phases come from a dedicated signal (algorithm 5).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recognition with LSTM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480560" cy="493776"/>
          </a:xfrm>
          <a:prstGeom prst="roundRect">
            <a:avLst>
              <a:gd name="adj" fmla="val 148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266444"/>
            <a:ext cx="338328" cy="338328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66928" y="126644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188720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hidden joints (visibility &lt; 0.5) with the last known value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4480560" cy="493776"/>
          </a:xfrm>
          <a:prstGeom prst="roundRect">
            <a:avLst>
              <a:gd name="adj" fmla="val 148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1869948"/>
            <a:ext cx="338328" cy="338328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66928" y="18699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792224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subtract the hip centre, divide by max(shoulder width, hip width)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4480560" cy="493776"/>
          </a:xfrm>
          <a:prstGeom prst="roundRect">
            <a:avLst>
              <a:gd name="adj" fmla="val 148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2473452"/>
            <a:ext cx="338328" cy="338328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24734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39572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uniformly to T = 96 frames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4480560" cy="493776"/>
          </a:xfrm>
          <a:prstGeom prst="roundRect">
            <a:avLst>
              <a:gd name="adj" fmla="val 148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" y="3076956"/>
            <a:ext cx="338328" cy="338328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66928" y="30769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999232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features per frame = 26 positions + 26 velocities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4480560" cy="493776"/>
          </a:xfrm>
          <a:prstGeom prst="roundRect">
            <a:avLst>
              <a:gd name="adj" fmla="val 14815"/>
            </a:avLst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3680460"/>
            <a:ext cx="338328" cy="3383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66928" y="36804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602736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2 layers × 128 → temporal mean → Linear → Softmax (3 classes)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3-seed ensemble: average the probabilities of 3 models → the kick with the highest probability.</a:t>
            </a:r>
            <a:endParaRPr lang="en-US" sz="11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212080" y="1143000"/>
          <a:ext cx="3474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212080" y="4297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Authors' results on the validation set, mean of 3 seeds; random sample split, not person-independent.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scoring rules (authors')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from the ankle–hip distance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383280" cy="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746504"/>
            <a:ext cx="256032" cy="256032"/>
          </a:xfrm>
          <a:prstGeom prst="ellipse">
            <a:avLst/>
          </a:prstGeom>
          <a:solidFill>
            <a:srgbClr val="1520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8288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95144" y="1746504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87452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t_peak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peak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86784" y="1746504"/>
            <a:ext cx="256032" cy="256032"/>
          </a:xfrm>
          <a:prstGeom prst="ellipse">
            <a:avLst/>
          </a:prstGeom>
          <a:solidFill>
            <a:srgbClr val="1520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661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12% of the range → start; farthest from the hip → peak; back below 10% → end.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straightness, smoothness (acceleration variation)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(hip sway), leg retraction ratio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knee angle, ankle height above the hip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downward speed (axe kick)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2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— 4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Kick-specific technique (chamber, swing plane, lift height)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Height &amp; knee extension / downward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Leg retraction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Balance &amp; guard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2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 — 6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Power (kinematic index)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 Smoothness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score = max points × map(metric, lower bound, upper bound)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Punch phase detection (extended rules)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48463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f9  →  Impact f15  →  Back to guard f40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1887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5778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108192" y="11704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08192" y="144475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highest elbow elevation (3D). Straight: maximum arm reach.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05740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5778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08192" y="20391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08192" y="231343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back from the speed peak until speed &lt; 20% of the peak.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292608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5778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08192" y="29077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08192" y="31821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returns near guard level (≤ 30% of the range) within 1.2 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77840" y="379476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5778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108192" y="37764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108192" y="405079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cut early → that item is "not assessed" and the score is rescaled.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5 (CONT.)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punch scoring table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by (full marks)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4E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HK_A1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shape at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Elbow angle 80–130°, elbow raised 75–135°, fist at head height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4E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HK_A2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&amp; shoulder rotation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 rotation 40–90°, hip rotation 30–90° (3D)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4E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PU_A3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to guard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to guard level ≥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4E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PU_A4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hand &amp;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hand near the chin, trunk lean ≤ 15°, little hip sway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PX_E1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speed ≥ 8 torso lengths /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PX_E2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(trunk rotation)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 rotation speed ≥ 300 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PX_E3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 ≤ 0.35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PX_E4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continuous speed-up / slow-down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codes</a:t>
            </a:r>
            <a:r>
              <a:rPr lang="en-US" sz="10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Accuracy (4 points) · </a:t>
            </a: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codes</a:t>
            </a:r>
            <a:r>
              <a:rPr lang="en-US" sz="105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Expression (6 points). </a:t>
            </a: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straight punch replaces HK_A1/A2 with ST_A1 (arm extension, straight path) and ST_A2 (shoulder rotation, target height) — not yet tested on real video.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types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4822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/10, per-item points, phases, main faults &amp; tips, warnings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898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137160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502" y="14822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5186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window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45186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 steps, video + skeleton, phase chart, score table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282" y="148224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--out: full result and raw metrics for one video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" y="326532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008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0416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--csv: score table for many videos, opens in Excel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68980" y="2971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5186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502" y="326532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45186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 image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3451860" y="40416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--keyframes: start / peak / recovery frames with skeleton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80760" y="2971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15203B"/>
          </a:solidFill>
          <a:ln w="12700">
            <a:solidFill>
              <a:srgbClr val="1520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282" y="3265322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26364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image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263640" y="40416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--save_dashboard: PNG of the pipeline window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window &amp; result structure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5" name="Image 0" descr="C:\Users\quang\AppData\Local\Temp\claude\e--martial-arts-tkd\94fcbd63-896f-4b46-8c88-ba3faf2c631e\scratchpad\deck\dashboard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94960" cy="30629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15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17 — right hook: 8.72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80760" y="11887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217920" y="1298448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"hook",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"valid":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"total": 8.72,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"acc": 4.00,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"expr": 4.72,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"acc_items": [{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"code": "HK_A1",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"maxi": 1.6, "got": 1.6,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"reason": "...",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"tip": "..." }, ...],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"phases": {"t0": 9,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"t_peak": 15, "t_end": 40},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"warnings": 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4572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Punch-rule thresholds were set from one person's data and have not been compared with judges.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49240" y="118872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53212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24/24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clips scored · median 8.57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9240" y="237744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53212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75.3%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3-kick recognition (LSTM, val set, 3 seeds)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49240" y="356616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532120" y="36393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0.60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rules vs. experts (30 videos, r = 0.61)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thresholds set from one person, not checked against judges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punch not yet tested on real video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model not evaluated person-independently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from a single camera: sensitive to side-on or back views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"Power" is a kinematic index, not measured force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40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videos from more people and skill levels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≥ 2 experts score videos to calibrate thresholds (MAE, correlation)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actions with train_actions.py + scoring-rule plugins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straight punch and side kick on real video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1923</Words>
  <Application>Microsoft Office PowerPoint</Application>
  <PresentationFormat>On-screen Show (16:9)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Taekwondo Technique Scoring from Video</dc:title>
  <dc:subject>PptxGenJS Presentation</dc:subject>
  <dc:creator>PptxGenJS</dc:creator>
  <cp:lastModifiedBy>Le Minh Quang D24CE05</cp:lastModifiedBy>
  <cp:revision>2</cp:revision>
  <dcterms:created xsi:type="dcterms:W3CDTF">2026-10-01T09:40:29Z</dcterms:created>
  <dcterms:modified xsi:type="dcterms:W3CDTF">2026-10-01T09:45:16Z</dcterms:modified>
</cp:coreProperties>
</file>